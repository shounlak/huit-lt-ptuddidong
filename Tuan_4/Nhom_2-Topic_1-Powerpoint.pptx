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8288000" cy="10287000"/>
  <p:notesSz cx="6858000" cy="9144000"/>
  <p:embeddedFontLst>
    <p:embeddedFont>
      <p:font typeface="Arial Bold" panose="020B0604020202020204" charset="0"/>
      <p:regular r:id="rId45"/>
      <p:bold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53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914400"/>
            <a:chOff x="0" y="0"/>
            <a:chExt cx="24384000" cy="1219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219200"/>
            </a:xfrm>
            <a:custGeom>
              <a:avLst/>
              <a:gdLst/>
              <a:ahLst/>
              <a:cxnLst/>
              <a:rect l="l" t="t" r="r" b="b"/>
              <a:pathLst>
                <a:path w="24384000" h="121920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F5F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082205" y="152400"/>
            <a:ext cx="609600" cy="609600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711200" y="0"/>
                  </a:lnTo>
                  <a:cubicBezTo>
                    <a:pt x="767334" y="0"/>
                    <a:pt x="812800" y="45466"/>
                    <a:pt x="812800" y="101600"/>
                  </a:cubicBezTo>
                  <a:lnTo>
                    <a:pt x="812800" y="711200"/>
                  </a:lnTo>
                  <a:cubicBezTo>
                    <a:pt x="812800" y="767334"/>
                    <a:pt x="767334" y="812800"/>
                    <a:pt x="711200" y="812800"/>
                  </a:cubicBezTo>
                  <a:lnTo>
                    <a:pt x="101600" y="812800"/>
                  </a:lnTo>
                  <a:cubicBezTo>
                    <a:pt x="45466" y="812800"/>
                    <a:pt x="0" y="767334"/>
                    <a:pt x="0" y="7112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082205" y="152400"/>
            <a:ext cx="609600" cy="609600"/>
            <a:chOff x="0" y="0"/>
            <a:chExt cx="812800" cy="8128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907709" y="330203"/>
            <a:ext cx="10204875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BỘ CÔNG THƯƠNG · TRƯỜNG ĐẠI HỌC CÔNG THƯƠNG THÀNH PHỐ HỒ CHÍ MINH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180640" y="3086795"/>
            <a:ext cx="3926719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spc="252">
                <a:solidFill>
                  <a:srgbClr val="1F5FA0"/>
                </a:solidFill>
                <a:latin typeface="Arial Bold"/>
                <a:ea typeface="Arial Bold"/>
                <a:cs typeface="Arial Bold"/>
                <a:sym typeface="Arial Bold"/>
              </a:rPr>
              <a:t>CHƯƠNG 3 · MỤC 3.2.3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89692" y="3791645"/>
            <a:ext cx="9508607" cy="636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81"/>
              </a:lnSpc>
            </a:pPr>
            <a:r>
              <a:rPr lang="en-US" sz="5400" b="1">
                <a:solidFill>
                  <a:srgbClr val="123A63"/>
                </a:solidFill>
                <a:latin typeface="Arial Bold"/>
                <a:ea typeface="Arial Bold"/>
                <a:cs typeface="Arial Bold"/>
                <a:sym typeface="Arial Bold"/>
              </a:rPr>
              <a:t>Các loại Widget trong Flutter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983470" y="4717351"/>
            <a:ext cx="8321050" cy="368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Container · Stack · Dialog · Date Picker &amp; Time Picker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0" y="7229475"/>
            <a:ext cx="18288000" cy="2476500"/>
            <a:chOff x="0" y="0"/>
            <a:chExt cx="24384000" cy="3302000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24384000" cy="3302000"/>
            </a:xfrm>
            <a:custGeom>
              <a:avLst/>
              <a:gdLst/>
              <a:ahLst/>
              <a:cxnLst/>
              <a:rect l="l" t="t" r="r" b="b"/>
              <a:pathLst>
                <a:path w="24384000" h="3302000">
                  <a:moveTo>
                    <a:pt x="0" y="0"/>
                  </a:moveTo>
                  <a:lnTo>
                    <a:pt x="24384000" y="0"/>
                  </a:lnTo>
                  <a:lnTo>
                    <a:pt x="2438400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7602" b="-1760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0" y="9705975"/>
            <a:ext cx="18288000" cy="9525"/>
            <a:chOff x="0" y="0"/>
            <a:chExt cx="24384000" cy="127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384000" cy="12700"/>
            </a:xfrm>
            <a:custGeom>
              <a:avLst/>
              <a:gdLst/>
              <a:ahLst/>
              <a:cxnLst/>
              <a:rect l="l" t="t" r="r" b="b"/>
              <a:pathLst>
                <a:path w="24384000" h="127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8179241" y="9869491"/>
            <a:ext cx="2127371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https://huit.edu.vn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9577" y="308848"/>
            <a:ext cx="1166774" cy="1166774"/>
            <a:chOff x="0" y="0"/>
            <a:chExt cx="1555699" cy="1555699"/>
          </a:xfrm>
        </p:grpSpPr>
        <p:sp>
          <p:nvSpPr>
            <p:cNvPr id="3" name="Freeform 3" descr="huit_logo.png"/>
            <p:cNvSpPr/>
            <p:nvPr/>
          </p:nvSpPr>
          <p:spPr>
            <a:xfrm>
              <a:off x="0" y="0"/>
              <a:ext cx="1555750" cy="1555750"/>
            </a:xfrm>
            <a:custGeom>
              <a:avLst/>
              <a:gdLst/>
              <a:ahLst/>
              <a:cxnLst/>
              <a:rect l="l" t="t" r="r" b="b"/>
              <a:pathLst>
                <a:path w="1555750" h="1555750">
                  <a:moveTo>
                    <a:pt x="0" y="0"/>
                  </a:moveTo>
                  <a:lnTo>
                    <a:pt x="1555750" y="0"/>
                  </a:lnTo>
                  <a:lnTo>
                    <a:pt x="1555750" y="1555750"/>
                  </a:lnTo>
                  <a:lnTo>
                    <a:pt x="0" y="155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3" b="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2470814" y="531234"/>
            <a:ext cx="11667715" cy="56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F2B400"/>
                </a:solidFill>
                <a:latin typeface="Arial Bold"/>
                <a:ea typeface="Arial Bold"/>
                <a:cs typeface="Arial Bold"/>
                <a:sym typeface="Arial Bold"/>
              </a:rPr>
              <a:t>3.2.3 · THÔNG TIN NHÓM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470814" y="863660"/>
            <a:ext cx="11667715" cy="852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1">
                <a:solidFill>
                  <a:srgbClr val="123A63"/>
                </a:solidFill>
                <a:latin typeface="Arial Bold"/>
                <a:ea typeface="Arial Bold"/>
                <a:cs typeface="Arial Bold"/>
                <a:sym typeface="Arial Bold"/>
              </a:rPr>
              <a:t>Danh Sách Thành Viên &amp; Bảng Phân Công Nhiệm Vụ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89577" y="9635376"/>
            <a:ext cx="8053159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5A6B7C"/>
                </a:solidFill>
                <a:latin typeface="Arial"/>
                <a:ea typeface="Arial"/>
                <a:cs typeface="Arial"/>
                <a:sym typeface="Arial"/>
              </a:rPr>
              <a:t>3.2.3. Các loại Widget trong Flutter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504499" y="9635376"/>
            <a:ext cx="2562463" cy="339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A6B7C"/>
                </a:solidFill>
                <a:latin typeface="Arial"/>
                <a:ea typeface="Arial"/>
                <a:cs typeface="Arial"/>
                <a:sym typeface="Arial"/>
              </a:rPr>
              <a:t>https://huit.edu.vn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005668"/>
              </p:ext>
            </p:extLst>
          </p:nvPr>
        </p:nvGraphicFramePr>
        <p:xfrm>
          <a:off x="1098138" y="2196276"/>
          <a:ext cx="16052641" cy="6520194"/>
        </p:xfrm>
        <a:graphic>
          <a:graphicData uri="http://schemas.openxmlformats.org/drawingml/2006/table">
            <a:tbl>
              <a:tblPr/>
              <a:tblGrid>
                <a:gridCol w="1783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2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3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86699">
                <a:tc>
                  <a:txBody>
                    <a:bodyPr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STT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MSSV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Họ và tên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Vai trò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6699">
                <a:tc>
                  <a:txBody>
                    <a:bodyPr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A20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A20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2001240526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 b="1">
                          <a:solidFill>
                            <a:srgbClr val="1A202C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Diệp Bảo Phạm Trường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 b="1">
                          <a:solidFill>
                            <a:srgbClr val="1F5FA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Nhóm trưởng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6699">
                <a:tc>
                  <a:txBody>
                    <a:bodyPr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A20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A20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2001240518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 b="1">
                          <a:solidFill>
                            <a:srgbClr val="1A202C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Lê Hữu Trọng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 b="1">
                          <a:solidFill>
                            <a:srgbClr val="1F5FA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Thành viên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6699">
                <a:tc>
                  <a:txBody>
                    <a:bodyPr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A20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A20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2001240206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 b="1">
                          <a:solidFill>
                            <a:srgbClr val="1A202C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Nguyễn Lê Anh Khoa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 b="1">
                          <a:solidFill>
                            <a:srgbClr val="1F5FA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Thành viên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6699">
                <a:tc>
                  <a:txBody>
                    <a:bodyPr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A20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A20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2001240048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 b="1">
                          <a:solidFill>
                            <a:srgbClr val="1A202C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Nguyễn Ngọc Châu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 b="1">
                          <a:solidFill>
                            <a:srgbClr val="1F5FA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Thành viên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86699">
                <a:tc>
                  <a:txBody>
                    <a:bodyPr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A20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A202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2001240544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 b="1">
                          <a:solidFill>
                            <a:srgbClr val="1A202C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Nguyễn Văn Tưởng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 b="1" dirty="0">
                          <a:solidFill>
                            <a:srgbClr val="1F5FA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Thành </a:t>
                      </a:r>
                      <a:r>
                        <a:rPr lang="en-US" sz="1801" b="1" dirty="0" err="1">
                          <a:solidFill>
                            <a:srgbClr val="1F5FA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viên</a:t>
                      </a: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28750"/>
            <a:chOff x="0" y="0"/>
            <a:chExt cx="24384000" cy="190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05000"/>
            </a:xfrm>
            <a:custGeom>
              <a:avLst/>
              <a:gdLst/>
              <a:ahLst/>
              <a:cxnLst/>
              <a:rect l="l" t="t" r="r" b="b"/>
              <a:pathLst>
                <a:path w="24384000" h="1905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F5F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838200" y="0"/>
                  </a:lnTo>
                  <a:cubicBezTo>
                    <a:pt x="908304" y="0"/>
                    <a:pt x="965200" y="56896"/>
                    <a:pt x="965200" y="127000"/>
                  </a:cubicBezTo>
                  <a:lnTo>
                    <a:pt x="965200" y="838200"/>
                  </a:lnTo>
                  <a:cubicBezTo>
                    <a:pt x="965200" y="908304"/>
                    <a:pt x="908304" y="965200"/>
                    <a:pt x="838200" y="965200"/>
                  </a:cubicBezTo>
                  <a:lnTo>
                    <a:pt x="127000" y="965200"/>
                  </a:lnTo>
                  <a:cubicBezTo>
                    <a:pt x="56896" y="965200"/>
                    <a:pt x="0" y="908304"/>
                    <a:pt x="0" y="8382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0"/>
                  </a:moveTo>
                  <a:lnTo>
                    <a:pt x="965200" y="0"/>
                  </a:lnTo>
                  <a:lnTo>
                    <a:pt x="9652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73253" y="320678"/>
            <a:ext cx="3716512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144">
                <a:solidFill>
                  <a:srgbClr val="F2B400"/>
                </a:solidFill>
                <a:latin typeface="Arial Bold"/>
                <a:ea typeface="Arial Bold"/>
                <a:cs typeface="Arial Bold"/>
                <a:sym typeface="Arial Bold"/>
              </a:rPr>
              <a:t>3.2.3 · TỔNG QUAN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73253" y="635003"/>
            <a:ext cx="3716512" cy="49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Nội dung trình bày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57250" y="4476750"/>
            <a:ext cx="16573500" cy="9525"/>
            <a:chOff x="0" y="0"/>
            <a:chExt cx="22098000" cy="127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98000" cy="12700"/>
            </a:xfrm>
            <a:custGeom>
              <a:avLst/>
              <a:gdLst/>
              <a:ahLst/>
              <a:cxnLst/>
              <a:rect l="l" t="t" r="r" b="b"/>
              <a:pathLst>
                <a:path w="22098000" h="12700">
                  <a:moveTo>
                    <a:pt x="0" y="0"/>
                  </a:moveTo>
                  <a:lnTo>
                    <a:pt x="22098000" y="0"/>
                  </a:lnTo>
                  <a:lnTo>
                    <a:pt x="22098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49353" y="3863978"/>
            <a:ext cx="1212847" cy="466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39"/>
              </a:lnSpc>
            </a:pPr>
            <a:r>
              <a:rPr lang="en-US" sz="2949" b="1" dirty="0">
                <a:solidFill>
                  <a:srgbClr val="1F5FA0"/>
                </a:solidFill>
                <a:latin typeface="Arial Bold"/>
                <a:ea typeface="Arial Bold"/>
                <a:cs typeface="Arial Bold"/>
                <a:sym typeface="Arial Bold"/>
              </a:rPr>
              <a:t>3.2.3.1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01903" y="3925891"/>
            <a:ext cx="1470571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7"/>
              </a:lnSpc>
            </a:pPr>
            <a:r>
              <a:rPr lang="en-US" sz="2481" b="1">
                <a:solidFill>
                  <a:srgbClr val="13202C"/>
                </a:solidFill>
                <a:latin typeface="Arial Bold"/>
                <a:ea typeface="Arial Bold"/>
                <a:cs typeface="Arial Bold"/>
                <a:sym typeface="Arial Bold"/>
              </a:rPr>
              <a:t>Container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857250" y="5524500"/>
            <a:ext cx="16573500" cy="9525"/>
            <a:chOff x="0" y="0"/>
            <a:chExt cx="22098000" cy="127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098000" cy="12700"/>
            </a:xfrm>
            <a:custGeom>
              <a:avLst/>
              <a:gdLst/>
              <a:ahLst/>
              <a:cxnLst/>
              <a:rect l="l" t="t" r="r" b="b"/>
              <a:pathLst>
                <a:path w="22098000" h="12700">
                  <a:moveTo>
                    <a:pt x="0" y="0"/>
                  </a:moveTo>
                  <a:lnTo>
                    <a:pt x="22098000" y="0"/>
                  </a:lnTo>
                  <a:lnTo>
                    <a:pt x="22098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49353" y="4911728"/>
            <a:ext cx="1212847" cy="466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39"/>
              </a:lnSpc>
            </a:pPr>
            <a:r>
              <a:rPr lang="en-US" sz="2949" b="1" dirty="0">
                <a:solidFill>
                  <a:srgbClr val="1F5FA0"/>
                </a:solidFill>
                <a:latin typeface="Arial Bold"/>
                <a:ea typeface="Arial Bold"/>
                <a:cs typeface="Arial Bold"/>
                <a:sym typeface="Arial Bold"/>
              </a:rPr>
              <a:t>3.2.3.2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501903" y="4964116"/>
            <a:ext cx="1028402" cy="3851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79"/>
              </a:lnSpc>
            </a:pPr>
            <a:r>
              <a:rPr lang="en-US" sz="2649" b="1">
                <a:solidFill>
                  <a:srgbClr val="13202C"/>
                </a:solidFill>
                <a:latin typeface="Arial Bold"/>
                <a:ea typeface="Arial Bold"/>
                <a:cs typeface="Arial Bold"/>
                <a:sym typeface="Arial Bold"/>
              </a:rPr>
              <a:t>Stack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857250" y="6572250"/>
            <a:ext cx="16573500" cy="9525"/>
            <a:chOff x="0" y="0"/>
            <a:chExt cx="22098000" cy="127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098000" cy="12700"/>
            </a:xfrm>
            <a:custGeom>
              <a:avLst/>
              <a:gdLst/>
              <a:ahLst/>
              <a:cxnLst/>
              <a:rect l="l" t="t" r="r" b="b"/>
              <a:pathLst>
                <a:path w="22098000" h="12700">
                  <a:moveTo>
                    <a:pt x="0" y="0"/>
                  </a:moveTo>
                  <a:lnTo>
                    <a:pt x="22098000" y="0"/>
                  </a:lnTo>
                  <a:lnTo>
                    <a:pt x="22098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49353" y="5959478"/>
            <a:ext cx="1212847" cy="466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39"/>
              </a:lnSpc>
            </a:pPr>
            <a:r>
              <a:rPr lang="en-US" sz="2949" b="1" dirty="0">
                <a:solidFill>
                  <a:srgbClr val="1F5FA0"/>
                </a:solidFill>
                <a:latin typeface="Arial Bold"/>
                <a:ea typeface="Arial Bold"/>
                <a:cs typeface="Arial Bold"/>
                <a:sym typeface="Arial Bold"/>
              </a:rPr>
              <a:t>3.2.3.3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01903" y="6011866"/>
            <a:ext cx="1028402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9"/>
              </a:lnSpc>
            </a:pPr>
            <a:r>
              <a:rPr lang="en-US" sz="2649" b="1">
                <a:solidFill>
                  <a:srgbClr val="13202C"/>
                </a:solidFill>
                <a:latin typeface="Arial Bold"/>
                <a:ea typeface="Arial Bold"/>
                <a:cs typeface="Arial Bold"/>
                <a:sym typeface="Arial Bold"/>
              </a:rPr>
              <a:t>Dialog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49353" y="7007228"/>
            <a:ext cx="1212847" cy="466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39"/>
              </a:lnSpc>
            </a:pPr>
            <a:r>
              <a:rPr lang="en-US" sz="2949" b="1" dirty="0">
                <a:solidFill>
                  <a:srgbClr val="1F5FA0"/>
                </a:solidFill>
                <a:latin typeface="Arial Bold"/>
                <a:ea typeface="Arial Bold"/>
                <a:cs typeface="Arial Bold"/>
                <a:sym typeface="Arial Bold"/>
              </a:rPr>
              <a:t>3.2.3.4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501903" y="7059616"/>
            <a:ext cx="3909566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9"/>
              </a:lnSpc>
            </a:pPr>
            <a:r>
              <a:rPr lang="en-US" sz="2649" b="1">
                <a:solidFill>
                  <a:srgbClr val="13202C"/>
                </a:solidFill>
                <a:latin typeface="Arial Bold"/>
                <a:ea typeface="Arial Bold"/>
                <a:cs typeface="Arial Bold"/>
                <a:sym typeface="Arial Bold"/>
              </a:rPr>
              <a:t>Date Picker, Time Picker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0" y="9705975"/>
            <a:ext cx="18288000" cy="9525"/>
            <a:chOff x="0" y="0"/>
            <a:chExt cx="24384000" cy="127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4384000" cy="12700"/>
            </a:xfrm>
            <a:custGeom>
              <a:avLst/>
              <a:gdLst/>
              <a:ahLst/>
              <a:cxnLst/>
              <a:rect l="l" t="t" r="r" b="b"/>
              <a:pathLst>
                <a:path w="24384000" h="127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57250" y="9934575"/>
            <a:ext cx="133350" cy="133350"/>
            <a:chOff x="0" y="0"/>
            <a:chExt cx="177800" cy="177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39700" y="0"/>
                  </a:lnTo>
                  <a:cubicBezTo>
                    <a:pt x="160782" y="0"/>
                    <a:pt x="177800" y="17018"/>
                    <a:pt x="177800" y="38100"/>
                  </a:cubicBezTo>
                  <a:lnTo>
                    <a:pt x="177800" y="139700"/>
                  </a:lnTo>
                  <a:cubicBezTo>
                    <a:pt x="177800" y="160782"/>
                    <a:pt x="160782" y="177800"/>
                    <a:pt x="139700" y="177800"/>
                  </a:cubicBezTo>
                  <a:lnTo>
                    <a:pt x="38100" y="177800"/>
                  </a:lnTo>
                  <a:cubicBezTo>
                    <a:pt x="17018" y="177800"/>
                    <a:pt x="0" y="160782"/>
                    <a:pt x="0" y="139700"/>
                  </a:cubicBezTo>
                  <a:close/>
                </a:path>
              </a:pathLst>
            </a:custGeom>
            <a:solidFill>
              <a:srgbClr val="F2B4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11253" y="9869491"/>
            <a:ext cx="4081920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3.2.3. Các loại Widget trong Flutter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475991" y="9869491"/>
            <a:ext cx="2127371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https://huit.edu.vn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571500"/>
            <a:ext cx="571500" cy="571500"/>
            <a:chOff x="0" y="0"/>
            <a:chExt cx="762000" cy="762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60400" y="0"/>
                  </a:lnTo>
                  <a:cubicBezTo>
                    <a:pt x="716534" y="0"/>
                    <a:pt x="762000" y="45466"/>
                    <a:pt x="762000" y="101600"/>
                  </a:cubicBezTo>
                  <a:lnTo>
                    <a:pt x="762000" y="660400"/>
                  </a:lnTo>
                  <a:cubicBezTo>
                    <a:pt x="762000" y="716534"/>
                    <a:pt x="716534" y="762000"/>
                    <a:pt x="660400" y="762000"/>
                  </a:cubicBezTo>
                  <a:lnTo>
                    <a:pt x="101600" y="762000"/>
                  </a:lnTo>
                  <a:cubicBezTo>
                    <a:pt x="45466" y="762000"/>
                    <a:pt x="0" y="716534"/>
                    <a:pt x="0" y="6604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571500"/>
            <a:ext cx="571500" cy="571500"/>
            <a:chOff x="0" y="0"/>
            <a:chExt cx="762000" cy="762000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06553" y="725491"/>
            <a:ext cx="5627351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89">
                <a:solidFill>
                  <a:srgbClr val="CFE0F2"/>
                </a:solidFill>
                <a:latin typeface="Arial"/>
                <a:ea typeface="Arial"/>
                <a:cs typeface="Arial"/>
                <a:sym typeface="Arial"/>
              </a:rPr>
              <a:t>TRƯỜNG ĐẠI HỌC CÔNG THƯƠNG TP.HCM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58903" y="4088701"/>
            <a:ext cx="17132303" cy="349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192">
                <a:solidFill>
                  <a:srgbClr val="F2B400"/>
                </a:solidFill>
                <a:latin typeface="Arial Bold"/>
                <a:ea typeface="Arial Bold"/>
                <a:cs typeface="Arial Bold"/>
                <a:sym typeface="Arial Bold"/>
              </a:rPr>
              <a:t>3.2.3.1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58903" y="4860227"/>
            <a:ext cx="17132303" cy="7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03"/>
              </a:lnSpc>
            </a:pPr>
            <a:r>
              <a:rPr lang="en-US" sz="72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Container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58903" y="5858418"/>
            <a:ext cx="13569953" cy="368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C9DAEA"/>
                </a:solidFill>
                <a:latin typeface="Arial"/>
                <a:ea typeface="Arial"/>
                <a:cs typeface="Arial"/>
                <a:sym typeface="Arial"/>
              </a:rPr>
              <a:t>Widget đa năng dùng để trang trí, định vị và định kích thước cho widget con.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0" y="10153650"/>
            <a:ext cx="18288000" cy="133350"/>
            <a:chOff x="0" y="0"/>
            <a:chExt cx="24384000" cy="177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384000" cy="177800"/>
            </a:xfrm>
            <a:custGeom>
              <a:avLst/>
              <a:gdLst/>
              <a:ahLst/>
              <a:cxnLst/>
              <a:rect l="l" t="t" r="r" b="b"/>
              <a:pathLst>
                <a:path w="24384000" h="1778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F2B400"/>
            </a:solid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28750"/>
            <a:chOff x="0" y="0"/>
            <a:chExt cx="24384000" cy="190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05000"/>
            </a:xfrm>
            <a:custGeom>
              <a:avLst/>
              <a:gdLst/>
              <a:ahLst/>
              <a:cxnLst/>
              <a:rect l="l" t="t" r="r" b="b"/>
              <a:pathLst>
                <a:path w="24384000" h="1905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F5F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838200" y="0"/>
                  </a:lnTo>
                  <a:cubicBezTo>
                    <a:pt x="908304" y="0"/>
                    <a:pt x="965200" y="56896"/>
                    <a:pt x="965200" y="127000"/>
                  </a:cubicBezTo>
                  <a:lnTo>
                    <a:pt x="965200" y="838200"/>
                  </a:lnTo>
                  <a:cubicBezTo>
                    <a:pt x="965200" y="908304"/>
                    <a:pt x="908304" y="965200"/>
                    <a:pt x="838200" y="965200"/>
                  </a:cubicBezTo>
                  <a:lnTo>
                    <a:pt x="127000" y="965200"/>
                  </a:lnTo>
                  <a:cubicBezTo>
                    <a:pt x="56896" y="965200"/>
                    <a:pt x="0" y="908304"/>
                    <a:pt x="0" y="8382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0"/>
                  </a:moveTo>
                  <a:lnTo>
                    <a:pt x="965200" y="0"/>
                  </a:lnTo>
                  <a:lnTo>
                    <a:pt x="9652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73253" y="320678"/>
            <a:ext cx="4069804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144">
                <a:solidFill>
                  <a:srgbClr val="F2B400"/>
                </a:solidFill>
                <a:latin typeface="Arial Bold"/>
                <a:ea typeface="Arial Bold"/>
                <a:cs typeface="Arial Bold"/>
                <a:sym typeface="Arial Bold"/>
              </a:rPr>
              <a:t>3.2.3.1 · CONTAINER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73253" y="635003"/>
            <a:ext cx="4069804" cy="49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Giới thiệu Container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2653" y="1968503"/>
            <a:ext cx="3022723" cy="442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789" b="1">
                <a:solidFill>
                  <a:srgbClr val="123A63"/>
                </a:solidFill>
                <a:latin typeface="Arial Bold"/>
                <a:ea typeface="Arial Bold"/>
                <a:cs typeface="Arial Bold"/>
                <a:sym typeface="Arial Bold"/>
              </a:rPr>
              <a:t>Container là gì?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50088" y="2525649"/>
            <a:ext cx="10138827" cy="874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619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Là widget đa năng (multi-purpose), dùng để tạo hộp chứa (box) cho các widget con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50088" y="3527612"/>
            <a:ext cx="10138827" cy="874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619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Kết hợp nhiều chức năng: vẽ (painting), định vị (positioning), định kích thước (sizing)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50088" y="4529574"/>
            <a:ext cx="10256112" cy="413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619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Là</a:t>
            </a:r>
            <a:r>
              <a:rPr lang="en-US" sz="2619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widget </a:t>
            </a:r>
            <a:r>
              <a:rPr lang="en-US" sz="2619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được</a:t>
            </a:r>
            <a:r>
              <a:rPr lang="en-US" sz="2619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19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sử</a:t>
            </a:r>
            <a:r>
              <a:rPr lang="en-US" sz="2619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19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dụng</a:t>
            </a:r>
            <a:r>
              <a:rPr lang="en-US" sz="2619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19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nhiều</a:t>
            </a:r>
            <a:r>
              <a:rPr lang="en-US" sz="2619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19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nhất</a:t>
            </a:r>
            <a:r>
              <a:rPr lang="en-US" sz="2619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19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trong</a:t>
            </a:r>
            <a:r>
              <a:rPr lang="en-US" sz="2619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Flutter </a:t>
            </a:r>
            <a:r>
              <a:rPr lang="en-US" sz="2619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vì</a:t>
            </a:r>
            <a:r>
              <a:rPr lang="en-US" sz="2619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19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tính</a:t>
            </a:r>
            <a:r>
              <a:rPr lang="en-US" sz="2619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19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linh</a:t>
            </a:r>
            <a:r>
              <a:rPr lang="en-US" sz="2619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19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hoạt</a:t>
            </a:r>
            <a:r>
              <a:rPr lang="en-US" sz="2619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19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cao</a:t>
            </a:r>
            <a:endParaRPr lang="en-US" sz="2619" dirty="0">
              <a:solidFill>
                <a:srgbClr val="3A4C5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50088" y="5127953"/>
            <a:ext cx="10138827" cy="874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619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Nếu không có widget con, Container tự lấp đầy không gian có sẵn (trừ khi có constraints)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2653" y="6523974"/>
            <a:ext cx="11224719" cy="476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2"/>
              </a:lnSpc>
            </a:pPr>
            <a:r>
              <a:rPr lang="en-US" sz="2789" b="1">
                <a:solidFill>
                  <a:srgbClr val="123A63"/>
                </a:solidFill>
                <a:latin typeface="Arial Bold"/>
                <a:ea typeface="Arial Bold"/>
                <a:cs typeface="Arial Bold"/>
                <a:sym typeface="Arial Bold"/>
              </a:rPr>
              <a:t>Khi nào dùng Container?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50088" y="7140913"/>
            <a:ext cx="10138827" cy="874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619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Khi cần thêm padding, margin, border, background color/image cho một widget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50088" y="8142876"/>
            <a:ext cx="10857284" cy="440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619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Khi cần căn chỉnh vị trí widget con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50088" y="8719779"/>
            <a:ext cx="10857284" cy="440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619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Khi cần giới hạn kích thước (constraints) của widget con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0" y="9705975"/>
            <a:ext cx="18288000" cy="9525"/>
            <a:chOff x="0" y="0"/>
            <a:chExt cx="24384000" cy="127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384000" cy="12700"/>
            </a:xfrm>
            <a:custGeom>
              <a:avLst/>
              <a:gdLst/>
              <a:ahLst/>
              <a:cxnLst/>
              <a:rect l="l" t="t" r="r" b="b"/>
              <a:pathLst>
                <a:path w="24384000" h="127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" y="9934575"/>
            <a:ext cx="133350" cy="133350"/>
            <a:chOff x="0" y="0"/>
            <a:chExt cx="177800" cy="177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39700" y="0"/>
                  </a:lnTo>
                  <a:cubicBezTo>
                    <a:pt x="160782" y="0"/>
                    <a:pt x="177800" y="17018"/>
                    <a:pt x="177800" y="38100"/>
                  </a:cubicBezTo>
                  <a:lnTo>
                    <a:pt x="177800" y="139700"/>
                  </a:lnTo>
                  <a:cubicBezTo>
                    <a:pt x="177800" y="160782"/>
                    <a:pt x="160782" y="177800"/>
                    <a:pt x="139700" y="177800"/>
                  </a:cubicBezTo>
                  <a:lnTo>
                    <a:pt x="38100" y="177800"/>
                  </a:lnTo>
                  <a:cubicBezTo>
                    <a:pt x="17018" y="177800"/>
                    <a:pt x="0" y="160782"/>
                    <a:pt x="0" y="139700"/>
                  </a:cubicBezTo>
                  <a:close/>
                </a:path>
              </a:pathLst>
            </a:custGeom>
            <a:solidFill>
              <a:srgbClr val="F2B4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11253" y="9869491"/>
            <a:ext cx="4081920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3.2.3. Các loại Widget trong Flutter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475991" y="9869491"/>
            <a:ext cx="2127371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https://huit.edu.vn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28750"/>
            <a:chOff x="0" y="0"/>
            <a:chExt cx="24384000" cy="190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05000"/>
            </a:xfrm>
            <a:custGeom>
              <a:avLst/>
              <a:gdLst/>
              <a:ahLst/>
              <a:cxnLst/>
              <a:rect l="l" t="t" r="r" b="b"/>
              <a:pathLst>
                <a:path w="24384000" h="1905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F5F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838200" y="0"/>
                  </a:lnTo>
                  <a:cubicBezTo>
                    <a:pt x="908304" y="0"/>
                    <a:pt x="965200" y="56896"/>
                    <a:pt x="965200" y="127000"/>
                  </a:cubicBezTo>
                  <a:lnTo>
                    <a:pt x="965200" y="838200"/>
                  </a:lnTo>
                  <a:cubicBezTo>
                    <a:pt x="965200" y="908304"/>
                    <a:pt x="908304" y="965200"/>
                    <a:pt x="838200" y="965200"/>
                  </a:cubicBezTo>
                  <a:lnTo>
                    <a:pt x="127000" y="965200"/>
                  </a:lnTo>
                  <a:cubicBezTo>
                    <a:pt x="56896" y="965200"/>
                    <a:pt x="0" y="908304"/>
                    <a:pt x="0" y="8382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0"/>
                  </a:moveTo>
                  <a:lnTo>
                    <a:pt x="965200" y="0"/>
                  </a:lnTo>
                  <a:lnTo>
                    <a:pt x="9652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73253" y="320678"/>
            <a:ext cx="4177856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144">
                <a:solidFill>
                  <a:srgbClr val="F2B400"/>
                </a:solidFill>
                <a:latin typeface="Arial Bold"/>
                <a:ea typeface="Arial Bold"/>
                <a:cs typeface="Arial Bold"/>
                <a:sym typeface="Arial Bold"/>
              </a:rPr>
              <a:t>3.2.3.1 · CONTAINER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73253" y="635003"/>
            <a:ext cx="4177856" cy="49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Các thuộc tính chính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57250" y="1885950"/>
            <a:ext cx="16315484" cy="740802"/>
            <a:chOff x="0" y="0"/>
            <a:chExt cx="14544707" cy="660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544708" cy="660400"/>
            </a:xfrm>
            <a:custGeom>
              <a:avLst/>
              <a:gdLst/>
              <a:ahLst/>
              <a:cxnLst/>
              <a:rect l="l" t="t" r="r" b="b"/>
              <a:pathLst>
                <a:path w="14544708" h="660400">
                  <a:moveTo>
                    <a:pt x="0" y="0"/>
                  </a:moveTo>
                  <a:lnTo>
                    <a:pt x="14544708" y="0"/>
                  </a:lnTo>
                  <a:lnTo>
                    <a:pt x="14544708" y="660400"/>
                  </a:lnTo>
                  <a:lnTo>
                    <a:pt x="0" y="660400"/>
                  </a:lnTo>
                  <a:close/>
                </a:path>
              </a:pathLst>
            </a:custGeom>
            <a:solidFill>
              <a:srgbClr val="1F5F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44784" y="2017009"/>
            <a:ext cx="2985921" cy="535668"/>
            <a:chOff x="0" y="0"/>
            <a:chExt cx="2661849" cy="47753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661849" cy="477530"/>
            </a:xfrm>
            <a:custGeom>
              <a:avLst/>
              <a:gdLst/>
              <a:ahLst/>
              <a:cxnLst/>
              <a:rect l="l" t="t" r="r" b="b"/>
              <a:pathLst>
                <a:path w="2661849" h="477530">
                  <a:moveTo>
                    <a:pt x="0" y="0"/>
                  </a:moveTo>
                  <a:lnTo>
                    <a:pt x="2661849" y="0"/>
                  </a:lnTo>
                  <a:lnTo>
                    <a:pt x="2661849" y="477530"/>
                  </a:lnTo>
                  <a:lnTo>
                    <a:pt x="0" y="4775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2465" r="-51931" b="-10757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661849" cy="496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Thuộc tính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307881" y="2017009"/>
            <a:ext cx="3658063" cy="535668"/>
            <a:chOff x="0" y="0"/>
            <a:chExt cx="3261040" cy="47753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261037" cy="477530"/>
            </a:xfrm>
            <a:custGeom>
              <a:avLst/>
              <a:gdLst/>
              <a:ahLst/>
              <a:cxnLst/>
              <a:rect l="l" t="t" r="r" b="b"/>
              <a:pathLst>
                <a:path w="3261037" h="477530">
                  <a:moveTo>
                    <a:pt x="0" y="0"/>
                  </a:moveTo>
                  <a:lnTo>
                    <a:pt x="3261037" y="0"/>
                  </a:lnTo>
                  <a:lnTo>
                    <a:pt x="3261037" y="477530"/>
                  </a:lnTo>
                  <a:lnTo>
                    <a:pt x="0" y="4775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9612" r="-51931" b="-14471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3261040" cy="496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Kiểu dữ liệu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223541" y="2017009"/>
            <a:ext cx="9035759" cy="535668"/>
            <a:chOff x="0" y="0"/>
            <a:chExt cx="8055076" cy="47753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055082" cy="477530"/>
            </a:xfrm>
            <a:custGeom>
              <a:avLst/>
              <a:gdLst/>
              <a:ahLst/>
              <a:cxnLst/>
              <a:rect l="l" t="t" r="r" b="b"/>
              <a:pathLst>
                <a:path w="8055082" h="477530">
                  <a:moveTo>
                    <a:pt x="0" y="0"/>
                  </a:moveTo>
                  <a:lnTo>
                    <a:pt x="8055082" y="0"/>
                  </a:lnTo>
                  <a:lnTo>
                    <a:pt x="8055082" y="477530"/>
                  </a:lnTo>
                  <a:lnTo>
                    <a:pt x="0" y="4775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6812" r="-51931" b="-44191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8055076" cy="496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Mô tả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" y="3346184"/>
            <a:ext cx="16315484" cy="14246"/>
            <a:chOff x="0" y="0"/>
            <a:chExt cx="14544707" cy="127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544708" cy="12700"/>
            </a:xfrm>
            <a:custGeom>
              <a:avLst/>
              <a:gdLst/>
              <a:ahLst/>
              <a:cxnLst/>
              <a:rect l="l" t="t" r="r" b="b"/>
              <a:pathLst>
                <a:path w="14544708" h="12700">
                  <a:moveTo>
                    <a:pt x="0" y="0"/>
                  </a:moveTo>
                  <a:lnTo>
                    <a:pt x="14544708" y="0"/>
                  </a:lnTo>
                  <a:lnTo>
                    <a:pt x="1454470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44784" y="2670570"/>
            <a:ext cx="2985921" cy="703027"/>
            <a:chOff x="0" y="0"/>
            <a:chExt cx="2661849" cy="62672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661849" cy="626725"/>
            </a:xfrm>
            <a:custGeom>
              <a:avLst/>
              <a:gdLst/>
              <a:ahLst/>
              <a:cxnLst/>
              <a:rect l="l" t="t" r="r" b="b"/>
              <a:pathLst>
                <a:path w="2661849" h="626725">
                  <a:moveTo>
                    <a:pt x="0" y="0"/>
                  </a:moveTo>
                  <a:lnTo>
                    <a:pt x="2661849" y="0"/>
                  </a:lnTo>
                  <a:lnTo>
                    <a:pt x="2661849" y="626725"/>
                  </a:lnTo>
                  <a:lnTo>
                    <a:pt x="0" y="626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9766" r="-51931" b="-617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2661849" cy="63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23A6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child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307881" y="2754250"/>
            <a:ext cx="3658063" cy="535668"/>
            <a:chOff x="0" y="0"/>
            <a:chExt cx="3261040" cy="47753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261037" cy="477531"/>
            </a:xfrm>
            <a:custGeom>
              <a:avLst/>
              <a:gdLst/>
              <a:ahLst/>
              <a:cxnLst/>
              <a:rect l="l" t="t" r="r" b="b"/>
              <a:pathLst>
                <a:path w="3261037" h="477531">
                  <a:moveTo>
                    <a:pt x="0" y="0"/>
                  </a:moveTo>
                  <a:lnTo>
                    <a:pt x="3261037" y="0"/>
                  </a:lnTo>
                  <a:lnTo>
                    <a:pt x="3261037" y="477531"/>
                  </a:lnTo>
                  <a:lnTo>
                    <a:pt x="0" y="4775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4957" r="-51931" b="-14937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3261040" cy="496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Widget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223541" y="2754250"/>
            <a:ext cx="9035759" cy="535668"/>
            <a:chOff x="0" y="0"/>
            <a:chExt cx="8055076" cy="47753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055082" cy="477531"/>
            </a:xfrm>
            <a:custGeom>
              <a:avLst/>
              <a:gdLst/>
              <a:ahLst/>
              <a:cxnLst/>
              <a:rect l="l" t="t" r="r" b="b"/>
              <a:pathLst>
                <a:path w="8055082" h="477531">
                  <a:moveTo>
                    <a:pt x="0" y="0"/>
                  </a:moveTo>
                  <a:lnTo>
                    <a:pt x="8055082" y="0"/>
                  </a:lnTo>
                  <a:lnTo>
                    <a:pt x="8055082" y="477531"/>
                  </a:lnTo>
                  <a:lnTo>
                    <a:pt x="0" y="4775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2158" r="-51931" b="-44657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8055076" cy="496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Widget con bên trong Container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57250" y="3360431"/>
            <a:ext cx="16315484" cy="740802"/>
            <a:chOff x="0" y="0"/>
            <a:chExt cx="14544707" cy="6604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4544708" cy="660400"/>
            </a:xfrm>
            <a:custGeom>
              <a:avLst/>
              <a:gdLst/>
              <a:ahLst/>
              <a:cxnLst/>
              <a:rect l="l" t="t" r="r" b="b"/>
              <a:pathLst>
                <a:path w="14544708" h="660400">
                  <a:moveTo>
                    <a:pt x="0" y="0"/>
                  </a:moveTo>
                  <a:lnTo>
                    <a:pt x="14544708" y="0"/>
                  </a:lnTo>
                  <a:lnTo>
                    <a:pt x="14544708" y="660400"/>
                  </a:lnTo>
                  <a:lnTo>
                    <a:pt x="0" y="66040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57250" y="4086986"/>
            <a:ext cx="16315484" cy="14246"/>
            <a:chOff x="0" y="0"/>
            <a:chExt cx="14544707" cy="127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4544708" cy="12700"/>
            </a:xfrm>
            <a:custGeom>
              <a:avLst/>
              <a:gdLst/>
              <a:ahLst/>
              <a:cxnLst/>
              <a:rect l="l" t="t" r="r" b="b"/>
              <a:pathLst>
                <a:path w="14544708" h="12700">
                  <a:moveTo>
                    <a:pt x="0" y="0"/>
                  </a:moveTo>
                  <a:lnTo>
                    <a:pt x="14544708" y="0"/>
                  </a:lnTo>
                  <a:lnTo>
                    <a:pt x="1454470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44784" y="3407811"/>
            <a:ext cx="2985921" cy="703027"/>
            <a:chOff x="0" y="0"/>
            <a:chExt cx="2661849" cy="62672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661849" cy="626725"/>
            </a:xfrm>
            <a:custGeom>
              <a:avLst/>
              <a:gdLst/>
              <a:ahLst/>
              <a:cxnLst/>
              <a:rect l="l" t="t" r="r" b="b"/>
              <a:pathLst>
                <a:path w="2661849" h="626725">
                  <a:moveTo>
                    <a:pt x="0" y="0"/>
                  </a:moveTo>
                  <a:lnTo>
                    <a:pt x="2661849" y="0"/>
                  </a:lnTo>
                  <a:lnTo>
                    <a:pt x="2661849" y="626725"/>
                  </a:lnTo>
                  <a:lnTo>
                    <a:pt x="0" y="626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9259" r="-51931" b="-6221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2661849" cy="63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23A6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padding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307881" y="3491490"/>
            <a:ext cx="3658063" cy="535668"/>
            <a:chOff x="0" y="0"/>
            <a:chExt cx="3261040" cy="47753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261037" cy="477530"/>
            </a:xfrm>
            <a:custGeom>
              <a:avLst/>
              <a:gdLst/>
              <a:ahLst/>
              <a:cxnLst/>
              <a:rect l="l" t="t" r="r" b="b"/>
              <a:pathLst>
                <a:path w="3261037" h="477530">
                  <a:moveTo>
                    <a:pt x="0" y="0"/>
                  </a:moveTo>
                  <a:lnTo>
                    <a:pt x="3261037" y="0"/>
                  </a:lnTo>
                  <a:lnTo>
                    <a:pt x="3261037" y="477530"/>
                  </a:lnTo>
                  <a:lnTo>
                    <a:pt x="0" y="4775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4293" r="-51931" b="-15003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19050"/>
              <a:ext cx="3261040" cy="496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EdgeInsetsGeometry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223541" y="3491490"/>
            <a:ext cx="9035759" cy="535668"/>
            <a:chOff x="0" y="0"/>
            <a:chExt cx="8055076" cy="47753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055082" cy="477530"/>
            </a:xfrm>
            <a:custGeom>
              <a:avLst/>
              <a:gdLst/>
              <a:ahLst/>
              <a:cxnLst/>
              <a:rect l="l" t="t" r="r" b="b"/>
              <a:pathLst>
                <a:path w="8055082" h="477530">
                  <a:moveTo>
                    <a:pt x="0" y="0"/>
                  </a:moveTo>
                  <a:lnTo>
                    <a:pt x="8055082" y="0"/>
                  </a:lnTo>
                  <a:lnTo>
                    <a:pt x="8055082" y="477530"/>
                  </a:lnTo>
                  <a:lnTo>
                    <a:pt x="0" y="4775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493" r="-51931" b="-44723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19050"/>
              <a:ext cx="8055076" cy="496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Khoảng cách giữa nội dung và biên trong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57250" y="4827788"/>
            <a:ext cx="16315484" cy="14246"/>
            <a:chOff x="0" y="0"/>
            <a:chExt cx="14544707" cy="127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4544708" cy="12700"/>
            </a:xfrm>
            <a:custGeom>
              <a:avLst/>
              <a:gdLst/>
              <a:ahLst/>
              <a:cxnLst/>
              <a:rect l="l" t="t" r="r" b="b"/>
              <a:pathLst>
                <a:path w="14544708" h="12700">
                  <a:moveTo>
                    <a:pt x="0" y="0"/>
                  </a:moveTo>
                  <a:lnTo>
                    <a:pt x="14544708" y="0"/>
                  </a:lnTo>
                  <a:lnTo>
                    <a:pt x="1454470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044784" y="4148612"/>
            <a:ext cx="2985921" cy="703027"/>
            <a:chOff x="0" y="0"/>
            <a:chExt cx="2661849" cy="626725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661849" cy="626725"/>
            </a:xfrm>
            <a:custGeom>
              <a:avLst/>
              <a:gdLst/>
              <a:ahLst/>
              <a:cxnLst/>
              <a:rect l="l" t="t" r="r" b="b"/>
              <a:pathLst>
                <a:path w="2661849" h="626725">
                  <a:moveTo>
                    <a:pt x="0" y="0"/>
                  </a:moveTo>
                  <a:lnTo>
                    <a:pt x="2661849" y="0"/>
                  </a:lnTo>
                  <a:lnTo>
                    <a:pt x="2661849" y="626725"/>
                  </a:lnTo>
                  <a:lnTo>
                    <a:pt x="0" y="626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9259" r="-51931" b="-6221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2661849" cy="63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23A6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margin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307881" y="4232292"/>
            <a:ext cx="3658063" cy="535668"/>
            <a:chOff x="0" y="0"/>
            <a:chExt cx="3261040" cy="47753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261037" cy="477530"/>
            </a:xfrm>
            <a:custGeom>
              <a:avLst/>
              <a:gdLst/>
              <a:ahLst/>
              <a:cxnLst/>
              <a:rect l="l" t="t" r="r" b="b"/>
              <a:pathLst>
                <a:path w="3261037" h="477530">
                  <a:moveTo>
                    <a:pt x="0" y="0"/>
                  </a:moveTo>
                  <a:lnTo>
                    <a:pt x="3261037" y="0"/>
                  </a:lnTo>
                  <a:lnTo>
                    <a:pt x="3261037" y="477530"/>
                  </a:lnTo>
                  <a:lnTo>
                    <a:pt x="0" y="4775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4293" r="-51931" b="-15003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19050"/>
              <a:ext cx="3261040" cy="496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EdgeInsetsGeometry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223541" y="4232292"/>
            <a:ext cx="9035759" cy="535668"/>
            <a:chOff x="0" y="0"/>
            <a:chExt cx="8055076" cy="47753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055082" cy="477530"/>
            </a:xfrm>
            <a:custGeom>
              <a:avLst/>
              <a:gdLst/>
              <a:ahLst/>
              <a:cxnLst/>
              <a:rect l="l" t="t" r="r" b="b"/>
              <a:pathLst>
                <a:path w="8055082" h="477530">
                  <a:moveTo>
                    <a:pt x="0" y="0"/>
                  </a:moveTo>
                  <a:lnTo>
                    <a:pt x="8055082" y="0"/>
                  </a:lnTo>
                  <a:lnTo>
                    <a:pt x="8055082" y="477530"/>
                  </a:lnTo>
                  <a:lnTo>
                    <a:pt x="0" y="4775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493" r="-51931" b="-44723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19050"/>
              <a:ext cx="8055076" cy="496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Khoảng cách giữa Container và widget xung quanh (biên ngoài)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57250" y="4842034"/>
            <a:ext cx="16315484" cy="740802"/>
            <a:chOff x="0" y="0"/>
            <a:chExt cx="14544707" cy="6604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4544708" cy="660400"/>
            </a:xfrm>
            <a:custGeom>
              <a:avLst/>
              <a:gdLst/>
              <a:ahLst/>
              <a:cxnLst/>
              <a:rect l="l" t="t" r="r" b="b"/>
              <a:pathLst>
                <a:path w="14544708" h="660400">
                  <a:moveTo>
                    <a:pt x="0" y="0"/>
                  </a:moveTo>
                  <a:lnTo>
                    <a:pt x="14544708" y="0"/>
                  </a:lnTo>
                  <a:lnTo>
                    <a:pt x="14544708" y="660400"/>
                  </a:lnTo>
                  <a:lnTo>
                    <a:pt x="0" y="66040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857250" y="5568590"/>
            <a:ext cx="16315484" cy="14246"/>
            <a:chOff x="0" y="0"/>
            <a:chExt cx="14544707" cy="127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4544708" cy="12700"/>
            </a:xfrm>
            <a:custGeom>
              <a:avLst/>
              <a:gdLst/>
              <a:ahLst/>
              <a:cxnLst/>
              <a:rect l="l" t="t" r="r" b="b"/>
              <a:pathLst>
                <a:path w="14544708" h="12700">
                  <a:moveTo>
                    <a:pt x="0" y="0"/>
                  </a:moveTo>
                  <a:lnTo>
                    <a:pt x="14544708" y="0"/>
                  </a:lnTo>
                  <a:lnTo>
                    <a:pt x="1454470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044784" y="4889414"/>
            <a:ext cx="2985921" cy="703027"/>
            <a:chOff x="0" y="0"/>
            <a:chExt cx="2661849" cy="626725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661849" cy="626725"/>
            </a:xfrm>
            <a:custGeom>
              <a:avLst/>
              <a:gdLst/>
              <a:ahLst/>
              <a:cxnLst/>
              <a:rect l="l" t="t" r="r" b="b"/>
              <a:pathLst>
                <a:path w="2661849" h="626725">
                  <a:moveTo>
                    <a:pt x="0" y="0"/>
                  </a:moveTo>
                  <a:lnTo>
                    <a:pt x="2661849" y="0"/>
                  </a:lnTo>
                  <a:lnTo>
                    <a:pt x="2661849" y="626725"/>
                  </a:lnTo>
                  <a:lnTo>
                    <a:pt x="0" y="626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9259" r="-51931" b="-6221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9525"/>
              <a:ext cx="2661849" cy="63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23A6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color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4307881" y="4973094"/>
            <a:ext cx="3658063" cy="535668"/>
            <a:chOff x="0" y="0"/>
            <a:chExt cx="3261040" cy="47753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3261037" cy="477530"/>
            </a:xfrm>
            <a:custGeom>
              <a:avLst/>
              <a:gdLst/>
              <a:ahLst/>
              <a:cxnLst/>
              <a:rect l="l" t="t" r="r" b="b"/>
              <a:pathLst>
                <a:path w="3261037" h="477530">
                  <a:moveTo>
                    <a:pt x="0" y="0"/>
                  </a:moveTo>
                  <a:lnTo>
                    <a:pt x="3261037" y="0"/>
                  </a:lnTo>
                  <a:lnTo>
                    <a:pt x="3261037" y="477530"/>
                  </a:lnTo>
                  <a:lnTo>
                    <a:pt x="0" y="4775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4293" r="-51931" b="-15003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19050"/>
              <a:ext cx="3261040" cy="496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Color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8223541" y="4973094"/>
            <a:ext cx="9035759" cy="535668"/>
            <a:chOff x="0" y="0"/>
            <a:chExt cx="8055076" cy="47753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8055082" cy="477530"/>
            </a:xfrm>
            <a:custGeom>
              <a:avLst/>
              <a:gdLst/>
              <a:ahLst/>
              <a:cxnLst/>
              <a:rect l="l" t="t" r="r" b="b"/>
              <a:pathLst>
                <a:path w="8055082" h="477530">
                  <a:moveTo>
                    <a:pt x="0" y="0"/>
                  </a:moveTo>
                  <a:lnTo>
                    <a:pt x="8055082" y="0"/>
                  </a:lnTo>
                  <a:lnTo>
                    <a:pt x="8055082" y="477530"/>
                  </a:lnTo>
                  <a:lnTo>
                    <a:pt x="0" y="4775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493" r="-51931" b="-44723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19050"/>
              <a:ext cx="8055076" cy="496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Màu nền (không dùng chung với decoration)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857250" y="6309392"/>
            <a:ext cx="16315484" cy="14246"/>
            <a:chOff x="0" y="0"/>
            <a:chExt cx="14544707" cy="1270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4544708" cy="12700"/>
            </a:xfrm>
            <a:custGeom>
              <a:avLst/>
              <a:gdLst/>
              <a:ahLst/>
              <a:cxnLst/>
              <a:rect l="l" t="t" r="r" b="b"/>
              <a:pathLst>
                <a:path w="14544708" h="12700">
                  <a:moveTo>
                    <a:pt x="0" y="0"/>
                  </a:moveTo>
                  <a:lnTo>
                    <a:pt x="14544708" y="0"/>
                  </a:lnTo>
                  <a:lnTo>
                    <a:pt x="1454470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044784" y="5630216"/>
            <a:ext cx="2985921" cy="703027"/>
            <a:chOff x="0" y="0"/>
            <a:chExt cx="2661849" cy="626725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2661849" cy="626725"/>
            </a:xfrm>
            <a:custGeom>
              <a:avLst/>
              <a:gdLst/>
              <a:ahLst/>
              <a:cxnLst/>
              <a:rect l="l" t="t" r="r" b="b"/>
              <a:pathLst>
                <a:path w="2661849" h="626725">
                  <a:moveTo>
                    <a:pt x="0" y="0"/>
                  </a:moveTo>
                  <a:lnTo>
                    <a:pt x="2661849" y="0"/>
                  </a:lnTo>
                  <a:lnTo>
                    <a:pt x="2661849" y="626725"/>
                  </a:lnTo>
                  <a:lnTo>
                    <a:pt x="0" y="626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9259" r="-51931" b="-6221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9525"/>
              <a:ext cx="2661849" cy="63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23A6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decoration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4307881" y="5713895"/>
            <a:ext cx="3658063" cy="535668"/>
            <a:chOff x="0" y="0"/>
            <a:chExt cx="3261040" cy="47753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3261037" cy="477530"/>
            </a:xfrm>
            <a:custGeom>
              <a:avLst/>
              <a:gdLst/>
              <a:ahLst/>
              <a:cxnLst/>
              <a:rect l="l" t="t" r="r" b="b"/>
              <a:pathLst>
                <a:path w="3261037" h="477530">
                  <a:moveTo>
                    <a:pt x="0" y="0"/>
                  </a:moveTo>
                  <a:lnTo>
                    <a:pt x="3261037" y="0"/>
                  </a:lnTo>
                  <a:lnTo>
                    <a:pt x="3261037" y="477530"/>
                  </a:lnTo>
                  <a:lnTo>
                    <a:pt x="0" y="4775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4293" r="-51931" b="-15003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19050"/>
              <a:ext cx="3261040" cy="496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BoxDecoration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8223541" y="5713895"/>
            <a:ext cx="9035759" cy="535668"/>
            <a:chOff x="0" y="0"/>
            <a:chExt cx="8055076" cy="47753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8055082" cy="477530"/>
            </a:xfrm>
            <a:custGeom>
              <a:avLst/>
              <a:gdLst/>
              <a:ahLst/>
              <a:cxnLst/>
              <a:rect l="l" t="t" r="r" b="b"/>
              <a:pathLst>
                <a:path w="8055082" h="477530">
                  <a:moveTo>
                    <a:pt x="0" y="0"/>
                  </a:moveTo>
                  <a:lnTo>
                    <a:pt x="8055082" y="0"/>
                  </a:lnTo>
                  <a:lnTo>
                    <a:pt x="8055082" y="477530"/>
                  </a:lnTo>
                  <a:lnTo>
                    <a:pt x="0" y="4775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493" r="-51931" b="-44723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19050"/>
              <a:ext cx="8055076" cy="496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Trang trí nâng cao: màu, border, bo góc, đổ bóng, gradient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857250" y="6323638"/>
            <a:ext cx="16315484" cy="740802"/>
            <a:chOff x="0" y="0"/>
            <a:chExt cx="14544707" cy="66040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14544708" cy="660400"/>
            </a:xfrm>
            <a:custGeom>
              <a:avLst/>
              <a:gdLst/>
              <a:ahLst/>
              <a:cxnLst/>
              <a:rect l="l" t="t" r="r" b="b"/>
              <a:pathLst>
                <a:path w="14544708" h="660400">
                  <a:moveTo>
                    <a:pt x="0" y="0"/>
                  </a:moveTo>
                  <a:lnTo>
                    <a:pt x="14544708" y="0"/>
                  </a:lnTo>
                  <a:lnTo>
                    <a:pt x="14544708" y="660400"/>
                  </a:lnTo>
                  <a:lnTo>
                    <a:pt x="0" y="66040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857250" y="7050193"/>
            <a:ext cx="16315484" cy="14246"/>
            <a:chOff x="0" y="0"/>
            <a:chExt cx="14544707" cy="1270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14544708" cy="12700"/>
            </a:xfrm>
            <a:custGeom>
              <a:avLst/>
              <a:gdLst/>
              <a:ahLst/>
              <a:cxnLst/>
              <a:rect l="l" t="t" r="r" b="b"/>
              <a:pathLst>
                <a:path w="14544708" h="12700">
                  <a:moveTo>
                    <a:pt x="0" y="0"/>
                  </a:moveTo>
                  <a:lnTo>
                    <a:pt x="14544708" y="0"/>
                  </a:lnTo>
                  <a:lnTo>
                    <a:pt x="1454470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044784" y="6371018"/>
            <a:ext cx="2985921" cy="703027"/>
            <a:chOff x="0" y="0"/>
            <a:chExt cx="2661849" cy="626725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2661849" cy="626725"/>
            </a:xfrm>
            <a:custGeom>
              <a:avLst/>
              <a:gdLst/>
              <a:ahLst/>
              <a:cxnLst/>
              <a:rect l="l" t="t" r="r" b="b"/>
              <a:pathLst>
                <a:path w="2661849" h="626725">
                  <a:moveTo>
                    <a:pt x="0" y="0"/>
                  </a:moveTo>
                  <a:lnTo>
                    <a:pt x="2661849" y="0"/>
                  </a:lnTo>
                  <a:lnTo>
                    <a:pt x="2661849" y="626725"/>
                  </a:lnTo>
                  <a:lnTo>
                    <a:pt x="0" y="626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9259" r="-51931" b="-6221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0" y="-9525"/>
              <a:ext cx="2661849" cy="63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23A6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width, height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4307881" y="6454697"/>
            <a:ext cx="3658063" cy="535668"/>
            <a:chOff x="0" y="0"/>
            <a:chExt cx="3261040" cy="477530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3261037" cy="477530"/>
            </a:xfrm>
            <a:custGeom>
              <a:avLst/>
              <a:gdLst/>
              <a:ahLst/>
              <a:cxnLst/>
              <a:rect l="l" t="t" r="r" b="b"/>
              <a:pathLst>
                <a:path w="3261037" h="477530">
                  <a:moveTo>
                    <a:pt x="0" y="0"/>
                  </a:moveTo>
                  <a:lnTo>
                    <a:pt x="3261037" y="0"/>
                  </a:lnTo>
                  <a:lnTo>
                    <a:pt x="3261037" y="477530"/>
                  </a:lnTo>
                  <a:lnTo>
                    <a:pt x="0" y="4775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4293" r="-51931" b="-15003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0" y="-19050"/>
              <a:ext cx="3261040" cy="496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double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8223541" y="6454697"/>
            <a:ext cx="9035759" cy="535668"/>
            <a:chOff x="0" y="0"/>
            <a:chExt cx="8055076" cy="47753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8055082" cy="477530"/>
            </a:xfrm>
            <a:custGeom>
              <a:avLst/>
              <a:gdLst/>
              <a:ahLst/>
              <a:cxnLst/>
              <a:rect l="l" t="t" r="r" b="b"/>
              <a:pathLst>
                <a:path w="8055082" h="477530">
                  <a:moveTo>
                    <a:pt x="0" y="0"/>
                  </a:moveTo>
                  <a:lnTo>
                    <a:pt x="8055082" y="0"/>
                  </a:lnTo>
                  <a:lnTo>
                    <a:pt x="8055082" y="477530"/>
                  </a:lnTo>
                  <a:lnTo>
                    <a:pt x="0" y="4775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493" r="-51931" b="-44723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0" y="-19050"/>
              <a:ext cx="8055076" cy="496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Chiều rộng, chiều cao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857250" y="7790995"/>
            <a:ext cx="16315484" cy="14246"/>
            <a:chOff x="0" y="0"/>
            <a:chExt cx="14544707" cy="12700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14544708" cy="12700"/>
            </a:xfrm>
            <a:custGeom>
              <a:avLst/>
              <a:gdLst/>
              <a:ahLst/>
              <a:cxnLst/>
              <a:rect l="l" t="t" r="r" b="b"/>
              <a:pathLst>
                <a:path w="14544708" h="12700">
                  <a:moveTo>
                    <a:pt x="0" y="0"/>
                  </a:moveTo>
                  <a:lnTo>
                    <a:pt x="14544708" y="0"/>
                  </a:lnTo>
                  <a:lnTo>
                    <a:pt x="1454470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1044784" y="7111820"/>
            <a:ext cx="2985921" cy="703027"/>
            <a:chOff x="0" y="0"/>
            <a:chExt cx="2661849" cy="626725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2661849" cy="626725"/>
            </a:xfrm>
            <a:custGeom>
              <a:avLst/>
              <a:gdLst/>
              <a:ahLst/>
              <a:cxnLst/>
              <a:rect l="l" t="t" r="r" b="b"/>
              <a:pathLst>
                <a:path w="2661849" h="626725">
                  <a:moveTo>
                    <a:pt x="0" y="0"/>
                  </a:moveTo>
                  <a:lnTo>
                    <a:pt x="2661849" y="0"/>
                  </a:lnTo>
                  <a:lnTo>
                    <a:pt x="2661849" y="626725"/>
                  </a:lnTo>
                  <a:lnTo>
                    <a:pt x="0" y="626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9259" r="-51931" b="-6221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0" y="-9525"/>
              <a:ext cx="2661849" cy="63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23A6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alignment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4307881" y="7195499"/>
            <a:ext cx="3658063" cy="535668"/>
            <a:chOff x="0" y="0"/>
            <a:chExt cx="3261040" cy="477530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3261037" cy="477530"/>
            </a:xfrm>
            <a:custGeom>
              <a:avLst/>
              <a:gdLst/>
              <a:ahLst/>
              <a:cxnLst/>
              <a:rect l="l" t="t" r="r" b="b"/>
              <a:pathLst>
                <a:path w="3261037" h="477530">
                  <a:moveTo>
                    <a:pt x="0" y="0"/>
                  </a:moveTo>
                  <a:lnTo>
                    <a:pt x="3261037" y="0"/>
                  </a:lnTo>
                  <a:lnTo>
                    <a:pt x="3261037" y="477530"/>
                  </a:lnTo>
                  <a:lnTo>
                    <a:pt x="0" y="4775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4293" r="-51931" b="-15003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0" y="-19050"/>
              <a:ext cx="3261040" cy="496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AlignmentGeometry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8223541" y="7195499"/>
            <a:ext cx="9035759" cy="535668"/>
            <a:chOff x="0" y="0"/>
            <a:chExt cx="8055076" cy="477530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8055082" cy="477530"/>
            </a:xfrm>
            <a:custGeom>
              <a:avLst/>
              <a:gdLst/>
              <a:ahLst/>
              <a:cxnLst/>
              <a:rect l="l" t="t" r="r" b="b"/>
              <a:pathLst>
                <a:path w="8055082" h="477530">
                  <a:moveTo>
                    <a:pt x="0" y="0"/>
                  </a:moveTo>
                  <a:lnTo>
                    <a:pt x="8055082" y="0"/>
                  </a:lnTo>
                  <a:lnTo>
                    <a:pt x="8055082" y="477530"/>
                  </a:lnTo>
                  <a:lnTo>
                    <a:pt x="0" y="4775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493" r="-51931" b="-44723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0" y="-19050"/>
              <a:ext cx="8055076" cy="496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Căn chỉnh vị trí widget con bên trong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857250" y="7805241"/>
            <a:ext cx="16315484" cy="740802"/>
            <a:chOff x="0" y="0"/>
            <a:chExt cx="14544707" cy="660400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14544708" cy="660400"/>
            </a:xfrm>
            <a:custGeom>
              <a:avLst/>
              <a:gdLst/>
              <a:ahLst/>
              <a:cxnLst/>
              <a:rect l="l" t="t" r="r" b="b"/>
              <a:pathLst>
                <a:path w="14544708" h="660400">
                  <a:moveTo>
                    <a:pt x="0" y="0"/>
                  </a:moveTo>
                  <a:lnTo>
                    <a:pt x="14544708" y="0"/>
                  </a:lnTo>
                  <a:lnTo>
                    <a:pt x="14544708" y="660400"/>
                  </a:lnTo>
                  <a:lnTo>
                    <a:pt x="0" y="66040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857250" y="8531797"/>
            <a:ext cx="16315484" cy="14246"/>
            <a:chOff x="0" y="0"/>
            <a:chExt cx="14544707" cy="12700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14544708" cy="12700"/>
            </a:xfrm>
            <a:custGeom>
              <a:avLst/>
              <a:gdLst/>
              <a:ahLst/>
              <a:cxnLst/>
              <a:rect l="l" t="t" r="r" b="b"/>
              <a:pathLst>
                <a:path w="14544708" h="12700">
                  <a:moveTo>
                    <a:pt x="0" y="0"/>
                  </a:moveTo>
                  <a:lnTo>
                    <a:pt x="14544708" y="0"/>
                  </a:lnTo>
                  <a:lnTo>
                    <a:pt x="1454470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1044784" y="7852621"/>
            <a:ext cx="2985921" cy="703027"/>
            <a:chOff x="0" y="0"/>
            <a:chExt cx="2661849" cy="626725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2661849" cy="626725"/>
            </a:xfrm>
            <a:custGeom>
              <a:avLst/>
              <a:gdLst/>
              <a:ahLst/>
              <a:cxnLst/>
              <a:rect l="l" t="t" r="r" b="b"/>
              <a:pathLst>
                <a:path w="2661849" h="626725">
                  <a:moveTo>
                    <a:pt x="0" y="0"/>
                  </a:moveTo>
                  <a:lnTo>
                    <a:pt x="2661849" y="0"/>
                  </a:lnTo>
                  <a:lnTo>
                    <a:pt x="2661849" y="626725"/>
                  </a:lnTo>
                  <a:lnTo>
                    <a:pt x="0" y="626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9259" r="-51931" b="-6221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0" y="-9525"/>
              <a:ext cx="2661849" cy="63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23A6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constraints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4307881" y="7936301"/>
            <a:ext cx="3658063" cy="535668"/>
            <a:chOff x="0" y="0"/>
            <a:chExt cx="3261040" cy="477530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3261037" cy="477530"/>
            </a:xfrm>
            <a:custGeom>
              <a:avLst/>
              <a:gdLst/>
              <a:ahLst/>
              <a:cxnLst/>
              <a:rect l="l" t="t" r="r" b="b"/>
              <a:pathLst>
                <a:path w="3261037" h="477530">
                  <a:moveTo>
                    <a:pt x="0" y="0"/>
                  </a:moveTo>
                  <a:lnTo>
                    <a:pt x="3261037" y="0"/>
                  </a:lnTo>
                  <a:lnTo>
                    <a:pt x="3261037" y="477530"/>
                  </a:lnTo>
                  <a:lnTo>
                    <a:pt x="0" y="4775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4293" r="-51931" b="-15003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0" y="-19050"/>
              <a:ext cx="3261040" cy="496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BoxConstraints</a:t>
              </a: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8223541" y="7936301"/>
            <a:ext cx="9035759" cy="535668"/>
            <a:chOff x="0" y="0"/>
            <a:chExt cx="8055076" cy="477530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8055082" cy="477530"/>
            </a:xfrm>
            <a:custGeom>
              <a:avLst/>
              <a:gdLst/>
              <a:ahLst/>
              <a:cxnLst/>
              <a:rect l="l" t="t" r="r" b="b"/>
              <a:pathLst>
                <a:path w="8055082" h="477530">
                  <a:moveTo>
                    <a:pt x="0" y="0"/>
                  </a:moveTo>
                  <a:lnTo>
                    <a:pt x="8055082" y="0"/>
                  </a:lnTo>
                  <a:lnTo>
                    <a:pt x="8055082" y="477530"/>
                  </a:lnTo>
                  <a:lnTo>
                    <a:pt x="0" y="4775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493" r="-51931" b="-44723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0" y="-19050"/>
              <a:ext cx="8055076" cy="496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Giới hạn min/max width, height</a:t>
              </a: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1044784" y="8589862"/>
            <a:ext cx="2985921" cy="703027"/>
            <a:chOff x="0" y="0"/>
            <a:chExt cx="2661849" cy="626725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2661849" cy="626725"/>
            </a:xfrm>
            <a:custGeom>
              <a:avLst/>
              <a:gdLst/>
              <a:ahLst/>
              <a:cxnLst/>
              <a:rect l="l" t="t" r="r" b="b"/>
              <a:pathLst>
                <a:path w="2661849" h="626725">
                  <a:moveTo>
                    <a:pt x="0" y="0"/>
                  </a:moveTo>
                  <a:lnTo>
                    <a:pt x="2661849" y="0"/>
                  </a:lnTo>
                  <a:lnTo>
                    <a:pt x="2661849" y="626725"/>
                  </a:lnTo>
                  <a:lnTo>
                    <a:pt x="0" y="626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9766" r="-51931" b="-617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0" y="-9525"/>
              <a:ext cx="2661849" cy="63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23A6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transform</a:t>
              </a:r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4307881" y="8673541"/>
            <a:ext cx="3658063" cy="535668"/>
            <a:chOff x="0" y="0"/>
            <a:chExt cx="3261040" cy="477530"/>
          </a:xfrm>
        </p:grpSpPr>
        <p:sp>
          <p:nvSpPr>
            <p:cNvPr id="121" name="Freeform 121"/>
            <p:cNvSpPr/>
            <p:nvPr/>
          </p:nvSpPr>
          <p:spPr>
            <a:xfrm>
              <a:off x="0" y="0"/>
              <a:ext cx="3261037" cy="477531"/>
            </a:xfrm>
            <a:custGeom>
              <a:avLst/>
              <a:gdLst/>
              <a:ahLst/>
              <a:cxnLst/>
              <a:rect l="l" t="t" r="r" b="b"/>
              <a:pathLst>
                <a:path w="3261037" h="477531">
                  <a:moveTo>
                    <a:pt x="0" y="0"/>
                  </a:moveTo>
                  <a:lnTo>
                    <a:pt x="3261037" y="0"/>
                  </a:lnTo>
                  <a:lnTo>
                    <a:pt x="3261037" y="477531"/>
                  </a:lnTo>
                  <a:lnTo>
                    <a:pt x="0" y="4775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4957" r="-51931" b="-14937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0" y="-19050"/>
              <a:ext cx="3261040" cy="496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Matrix4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8223541" y="8673541"/>
            <a:ext cx="9035759" cy="535668"/>
            <a:chOff x="0" y="0"/>
            <a:chExt cx="8055076" cy="477530"/>
          </a:xfrm>
        </p:grpSpPr>
        <p:sp>
          <p:nvSpPr>
            <p:cNvPr id="124" name="Freeform 124"/>
            <p:cNvSpPr/>
            <p:nvPr/>
          </p:nvSpPr>
          <p:spPr>
            <a:xfrm>
              <a:off x="0" y="0"/>
              <a:ext cx="8055082" cy="477531"/>
            </a:xfrm>
            <a:custGeom>
              <a:avLst/>
              <a:gdLst/>
              <a:ahLst/>
              <a:cxnLst/>
              <a:rect l="l" t="t" r="r" b="b"/>
              <a:pathLst>
                <a:path w="8055082" h="477531">
                  <a:moveTo>
                    <a:pt x="0" y="0"/>
                  </a:moveTo>
                  <a:lnTo>
                    <a:pt x="8055082" y="0"/>
                  </a:lnTo>
                  <a:lnTo>
                    <a:pt x="8055082" y="477531"/>
                  </a:lnTo>
                  <a:lnTo>
                    <a:pt x="0" y="4775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2158" r="-51931" b="-44657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0" y="-19050"/>
              <a:ext cx="8055076" cy="496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Biến đổi (xoay, phóng to, nghiêng)</a:t>
              </a:r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0" y="9705975"/>
            <a:ext cx="18288000" cy="9525"/>
            <a:chOff x="0" y="0"/>
            <a:chExt cx="24384000" cy="12700"/>
          </a:xfrm>
        </p:grpSpPr>
        <p:sp>
          <p:nvSpPr>
            <p:cNvPr id="127" name="Freeform 127"/>
            <p:cNvSpPr/>
            <p:nvPr/>
          </p:nvSpPr>
          <p:spPr>
            <a:xfrm>
              <a:off x="0" y="0"/>
              <a:ext cx="24384000" cy="12700"/>
            </a:xfrm>
            <a:custGeom>
              <a:avLst/>
              <a:gdLst/>
              <a:ahLst/>
              <a:cxnLst/>
              <a:rect l="l" t="t" r="r" b="b"/>
              <a:pathLst>
                <a:path w="24384000" h="127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857250" y="9934575"/>
            <a:ext cx="133350" cy="133350"/>
            <a:chOff x="0" y="0"/>
            <a:chExt cx="177800" cy="177800"/>
          </a:xfrm>
        </p:grpSpPr>
        <p:sp>
          <p:nvSpPr>
            <p:cNvPr id="129" name="Freeform 129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39700" y="0"/>
                  </a:lnTo>
                  <a:cubicBezTo>
                    <a:pt x="160782" y="0"/>
                    <a:pt x="177800" y="17018"/>
                    <a:pt x="177800" y="38100"/>
                  </a:cubicBezTo>
                  <a:lnTo>
                    <a:pt x="177800" y="139700"/>
                  </a:lnTo>
                  <a:cubicBezTo>
                    <a:pt x="177800" y="160782"/>
                    <a:pt x="160782" y="177800"/>
                    <a:pt x="139700" y="177800"/>
                  </a:cubicBezTo>
                  <a:lnTo>
                    <a:pt x="38100" y="177800"/>
                  </a:lnTo>
                  <a:cubicBezTo>
                    <a:pt x="17018" y="177800"/>
                    <a:pt x="0" y="160782"/>
                    <a:pt x="0" y="139700"/>
                  </a:cubicBezTo>
                  <a:close/>
                </a:path>
              </a:pathLst>
            </a:custGeom>
            <a:solidFill>
              <a:srgbClr val="F2B4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0" name="TextBox 130"/>
          <p:cNvSpPr txBox="1"/>
          <p:nvPr/>
        </p:nvSpPr>
        <p:spPr>
          <a:xfrm>
            <a:off x="1111253" y="9869491"/>
            <a:ext cx="4081920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3.2.3. Các loại Widget trong Flutter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15475991" y="9869491"/>
            <a:ext cx="2127371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https://huit.edu.vn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0984" y="308848"/>
            <a:ext cx="1166774" cy="1166774"/>
            <a:chOff x="0" y="0"/>
            <a:chExt cx="1555699" cy="1555699"/>
          </a:xfrm>
        </p:grpSpPr>
        <p:sp>
          <p:nvSpPr>
            <p:cNvPr id="3" name="Freeform 3" descr="huit_logo.png"/>
            <p:cNvSpPr/>
            <p:nvPr/>
          </p:nvSpPr>
          <p:spPr>
            <a:xfrm>
              <a:off x="0" y="0"/>
              <a:ext cx="1555750" cy="1555750"/>
            </a:xfrm>
            <a:custGeom>
              <a:avLst/>
              <a:gdLst/>
              <a:ahLst/>
              <a:cxnLst/>
              <a:rect l="l" t="t" r="r" b="b"/>
              <a:pathLst>
                <a:path w="1555750" h="1555750">
                  <a:moveTo>
                    <a:pt x="0" y="0"/>
                  </a:moveTo>
                  <a:lnTo>
                    <a:pt x="1555750" y="0"/>
                  </a:lnTo>
                  <a:lnTo>
                    <a:pt x="1555750" y="1555750"/>
                  </a:lnTo>
                  <a:lnTo>
                    <a:pt x="0" y="155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3" b="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2470814" y="460581"/>
            <a:ext cx="11667715" cy="56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F2B400"/>
                </a:solidFill>
                <a:latin typeface="Arial Bold"/>
                <a:ea typeface="Arial Bold"/>
                <a:cs typeface="Arial Bold"/>
                <a:sym typeface="Arial Bold"/>
              </a:rPr>
              <a:t>3.2.3.1 · CONTAINER WIDGET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470814" y="863660"/>
            <a:ext cx="11667715" cy="852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1">
                <a:solidFill>
                  <a:srgbClr val="123A63"/>
                </a:solidFill>
                <a:latin typeface="Arial Bold"/>
                <a:ea typeface="Arial Bold"/>
                <a:cs typeface="Arial Bold"/>
                <a:sym typeface="Arial Bold"/>
              </a:rPr>
              <a:t>Cơ Chế Tính Toán Kích Thước (Sizing Behavior)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520729" y="9841073"/>
            <a:ext cx="2562463" cy="339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A6B7C"/>
                </a:solidFill>
                <a:latin typeface="Arial"/>
                <a:ea typeface="Arial"/>
                <a:cs typeface="Arial"/>
                <a:sym typeface="Arial"/>
              </a:rPr>
              <a:t>https://huit.edu.vn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83840" y="2181977"/>
            <a:ext cx="5025123" cy="6769688"/>
            <a:chOff x="0" y="0"/>
            <a:chExt cx="6700164" cy="902625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700139" cy="9026189"/>
            </a:xfrm>
            <a:custGeom>
              <a:avLst/>
              <a:gdLst/>
              <a:ahLst/>
              <a:cxnLst/>
              <a:rect l="l" t="t" r="r" b="b"/>
              <a:pathLst>
                <a:path w="6700139" h="9026189">
                  <a:moveTo>
                    <a:pt x="0" y="1096900"/>
                  </a:moveTo>
                  <a:cubicBezTo>
                    <a:pt x="0" y="491129"/>
                    <a:pt x="499999" y="0"/>
                    <a:pt x="1116711" y="0"/>
                  </a:cubicBezTo>
                  <a:lnTo>
                    <a:pt x="5583428" y="0"/>
                  </a:lnTo>
                  <a:cubicBezTo>
                    <a:pt x="6200140" y="0"/>
                    <a:pt x="6700139" y="491129"/>
                    <a:pt x="6700139" y="1096900"/>
                  </a:cubicBezTo>
                  <a:lnTo>
                    <a:pt x="6700139" y="7929289"/>
                  </a:lnTo>
                  <a:cubicBezTo>
                    <a:pt x="6700139" y="8535060"/>
                    <a:pt x="6200140" y="9026189"/>
                    <a:pt x="5583428" y="9026189"/>
                  </a:cubicBezTo>
                  <a:lnTo>
                    <a:pt x="1116711" y="9026189"/>
                  </a:lnTo>
                  <a:cubicBezTo>
                    <a:pt x="499999" y="9026315"/>
                    <a:pt x="0" y="8535185"/>
                    <a:pt x="0" y="7929289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C9DAE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90984" y="2189131"/>
            <a:ext cx="5010826" cy="1249709"/>
            <a:chOff x="0" y="0"/>
            <a:chExt cx="6681102" cy="16662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81089" cy="1666367"/>
            </a:xfrm>
            <a:custGeom>
              <a:avLst/>
              <a:gdLst/>
              <a:ahLst/>
              <a:cxnLst/>
              <a:rect l="l" t="t" r="r" b="b"/>
              <a:pathLst>
                <a:path w="6681089" h="1666367">
                  <a:moveTo>
                    <a:pt x="0" y="277749"/>
                  </a:moveTo>
                  <a:cubicBezTo>
                    <a:pt x="0" y="124333"/>
                    <a:pt x="124333" y="0"/>
                    <a:pt x="277749" y="0"/>
                  </a:cubicBezTo>
                  <a:lnTo>
                    <a:pt x="6403340" y="0"/>
                  </a:lnTo>
                  <a:cubicBezTo>
                    <a:pt x="6556756" y="0"/>
                    <a:pt x="6681089" y="124333"/>
                    <a:pt x="6681089" y="277749"/>
                  </a:cubicBezTo>
                  <a:lnTo>
                    <a:pt x="6681089" y="1388618"/>
                  </a:lnTo>
                  <a:cubicBezTo>
                    <a:pt x="6681089" y="1542034"/>
                    <a:pt x="6556756" y="1666367"/>
                    <a:pt x="6403340" y="1666367"/>
                  </a:cubicBezTo>
                  <a:lnTo>
                    <a:pt x="277749" y="1666367"/>
                  </a:lnTo>
                  <a:cubicBezTo>
                    <a:pt x="124333" y="1666240"/>
                    <a:pt x="0" y="1541907"/>
                    <a:pt x="0" y="1388491"/>
                  </a:cubicBezTo>
                  <a:close/>
                </a:path>
              </a:pathLst>
            </a:custGeom>
            <a:solidFill>
              <a:srgbClr val="123A63"/>
            </a:solidFill>
            <a:ln w="14299" cap="sq">
              <a:solidFill>
                <a:srgbClr val="123A6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6681102" cy="1675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Cơ chế 1: Thu hẹp (Shrink-wrap)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464116" y="3664248"/>
            <a:ext cx="4264581" cy="2672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1">
                <a:solidFill>
                  <a:srgbClr val="123A63"/>
                </a:solidFill>
                <a:latin typeface="Arial Bold"/>
                <a:ea typeface="Arial Bold"/>
                <a:cs typeface="Arial Bold"/>
                <a:sym typeface="Arial Bold"/>
              </a:rPr>
              <a:t>Điều kiện kích hoạt: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A202C"/>
                </a:solidFill>
                <a:latin typeface="Arial"/>
                <a:ea typeface="Arial"/>
                <a:cs typeface="Arial"/>
                <a:sym typeface="Arial"/>
              </a:rPr>
              <a:t>Khi Container KHÔNG đặt width, height, constraints và KHÔNG có alignment.</a:t>
            </a:r>
          </a:p>
          <a:p>
            <a:pPr algn="l">
              <a:lnSpc>
                <a:spcPts val="2161"/>
              </a:lnSpc>
            </a:pPr>
            <a:endParaRPr lang="en-US" sz="1651">
              <a:solidFill>
                <a:srgbClr val="1A202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2161"/>
              </a:lnSpc>
            </a:pPr>
            <a:r>
              <a:rPr lang="en-US" sz="1801" b="1">
                <a:solidFill>
                  <a:srgbClr val="123A63"/>
                </a:solidFill>
                <a:latin typeface="Arial Bold"/>
                <a:ea typeface="Arial Bold"/>
                <a:cs typeface="Arial Bold"/>
                <a:sym typeface="Arial Bold"/>
              </a:rPr>
              <a:t>Phản ứng giao diện: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A202C"/>
                </a:solidFill>
                <a:latin typeface="Arial"/>
                <a:ea typeface="Arial"/>
                <a:cs typeface="Arial"/>
                <a:sym typeface="Arial"/>
              </a:rPr>
              <a:t>Container tự động co rút lại vừa khít tuyệt đối với kích thước của phần tử con (child).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266939" y="6174916"/>
            <a:ext cx="4461758" cy="2073307"/>
            <a:chOff x="0" y="0"/>
            <a:chExt cx="5949010" cy="276441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949061" cy="2764410"/>
            </a:xfrm>
            <a:custGeom>
              <a:avLst/>
              <a:gdLst/>
              <a:ahLst/>
              <a:cxnLst/>
              <a:rect l="l" t="t" r="r" b="b"/>
              <a:pathLst>
                <a:path w="5949061" h="2764410">
                  <a:moveTo>
                    <a:pt x="0" y="0"/>
                  </a:moveTo>
                  <a:lnTo>
                    <a:pt x="5949061" y="0"/>
                  </a:lnTo>
                  <a:lnTo>
                    <a:pt x="5949061" y="2764410"/>
                  </a:lnTo>
                  <a:lnTo>
                    <a:pt x="0" y="2764410"/>
                  </a:lnTo>
                  <a:close/>
                </a:path>
              </a:pathLst>
            </a:custGeom>
            <a:solidFill>
              <a:srgbClr val="18202F"/>
            </a:solidFill>
            <a:ln w="14299" cap="sq">
              <a:solidFill>
                <a:srgbClr val="18202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5949010" cy="27739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Container(</a:t>
              </a:r>
            </a:p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color: Colors.blue,</a:t>
              </a:r>
            </a:p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child: Text('Vừa khít'),</a:t>
              </a:r>
            </a:p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574526" y="2181977"/>
            <a:ext cx="5025123" cy="6769688"/>
            <a:chOff x="0" y="0"/>
            <a:chExt cx="6700164" cy="902625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700139" cy="9026189"/>
            </a:xfrm>
            <a:custGeom>
              <a:avLst/>
              <a:gdLst/>
              <a:ahLst/>
              <a:cxnLst/>
              <a:rect l="l" t="t" r="r" b="b"/>
              <a:pathLst>
                <a:path w="6700139" h="9026189">
                  <a:moveTo>
                    <a:pt x="0" y="1096900"/>
                  </a:moveTo>
                  <a:cubicBezTo>
                    <a:pt x="0" y="491129"/>
                    <a:pt x="499999" y="0"/>
                    <a:pt x="1116711" y="0"/>
                  </a:cubicBezTo>
                  <a:lnTo>
                    <a:pt x="5583428" y="0"/>
                  </a:lnTo>
                  <a:cubicBezTo>
                    <a:pt x="6200140" y="0"/>
                    <a:pt x="6700139" y="491129"/>
                    <a:pt x="6700139" y="1096900"/>
                  </a:cubicBezTo>
                  <a:lnTo>
                    <a:pt x="6700139" y="7929289"/>
                  </a:lnTo>
                  <a:cubicBezTo>
                    <a:pt x="6700139" y="8535060"/>
                    <a:pt x="6200140" y="9026189"/>
                    <a:pt x="5583428" y="9026189"/>
                  </a:cubicBezTo>
                  <a:lnTo>
                    <a:pt x="1116711" y="9026189"/>
                  </a:lnTo>
                  <a:cubicBezTo>
                    <a:pt x="499999" y="9026315"/>
                    <a:pt x="0" y="8535185"/>
                    <a:pt x="0" y="7929289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C9DAE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581680" y="2189131"/>
            <a:ext cx="5010826" cy="1249709"/>
            <a:chOff x="0" y="0"/>
            <a:chExt cx="6681102" cy="166627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681089" cy="1666367"/>
            </a:xfrm>
            <a:custGeom>
              <a:avLst/>
              <a:gdLst/>
              <a:ahLst/>
              <a:cxnLst/>
              <a:rect l="l" t="t" r="r" b="b"/>
              <a:pathLst>
                <a:path w="6681089" h="1666367">
                  <a:moveTo>
                    <a:pt x="0" y="277749"/>
                  </a:moveTo>
                  <a:cubicBezTo>
                    <a:pt x="0" y="124333"/>
                    <a:pt x="124333" y="0"/>
                    <a:pt x="277749" y="0"/>
                  </a:cubicBezTo>
                  <a:lnTo>
                    <a:pt x="6403340" y="0"/>
                  </a:lnTo>
                  <a:cubicBezTo>
                    <a:pt x="6556756" y="0"/>
                    <a:pt x="6681089" y="124333"/>
                    <a:pt x="6681089" y="277749"/>
                  </a:cubicBezTo>
                  <a:lnTo>
                    <a:pt x="6681089" y="1388618"/>
                  </a:lnTo>
                  <a:cubicBezTo>
                    <a:pt x="6681089" y="1542034"/>
                    <a:pt x="6556756" y="1666367"/>
                    <a:pt x="6403340" y="1666367"/>
                  </a:cubicBezTo>
                  <a:lnTo>
                    <a:pt x="277749" y="1666367"/>
                  </a:lnTo>
                  <a:cubicBezTo>
                    <a:pt x="124333" y="1666240"/>
                    <a:pt x="0" y="1541907"/>
                    <a:pt x="0" y="1388491"/>
                  </a:cubicBezTo>
                  <a:close/>
                </a:path>
              </a:pathLst>
            </a:custGeom>
            <a:solidFill>
              <a:srgbClr val="1F5FA0"/>
            </a:solidFill>
            <a:ln w="14299" cap="sq">
              <a:solidFill>
                <a:srgbClr val="1F5FA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6681102" cy="1675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Cơ chế 2: Mở rộng (Expand)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954803" y="3664248"/>
            <a:ext cx="4264581" cy="2672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1">
                <a:solidFill>
                  <a:srgbClr val="123A63"/>
                </a:solidFill>
                <a:latin typeface="Arial Bold"/>
                <a:ea typeface="Arial Bold"/>
                <a:cs typeface="Arial Bold"/>
                <a:sym typeface="Arial Bold"/>
              </a:rPr>
              <a:t>Điều kiện kích hoạt: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A202C"/>
                </a:solidFill>
                <a:latin typeface="Arial"/>
                <a:ea typeface="Arial"/>
                <a:cs typeface="Arial"/>
                <a:sym typeface="Arial"/>
              </a:rPr>
              <a:t>Khi Container KHÔNG cố định kích thước nhưng ĐƯỢC THIẾT LẬP alignment.</a:t>
            </a:r>
          </a:p>
          <a:p>
            <a:pPr algn="l">
              <a:lnSpc>
                <a:spcPts val="2161"/>
              </a:lnSpc>
            </a:pPr>
            <a:endParaRPr lang="en-US" sz="1651">
              <a:solidFill>
                <a:srgbClr val="1A202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2161"/>
              </a:lnSpc>
            </a:pPr>
            <a:r>
              <a:rPr lang="en-US" sz="1801" b="1">
                <a:solidFill>
                  <a:srgbClr val="123A63"/>
                </a:solidFill>
                <a:latin typeface="Arial Bold"/>
                <a:ea typeface="Arial Bold"/>
                <a:cs typeface="Arial Bold"/>
                <a:sym typeface="Arial Bold"/>
              </a:rPr>
              <a:t>Phản ứng giao diện: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A202C"/>
                </a:solidFill>
                <a:latin typeface="Arial"/>
                <a:ea typeface="Arial"/>
                <a:cs typeface="Arial"/>
                <a:sym typeface="Arial"/>
              </a:rPr>
              <a:t>Container tự động giãn nở tối đa để lấp đầy toàn bộ không gian khả dụng từ Widget cha.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6856209" y="6174916"/>
            <a:ext cx="4461758" cy="2073307"/>
            <a:chOff x="0" y="0"/>
            <a:chExt cx="5949010" cy="276441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949061" cy="2764410"/>
            </a:xfrm>
            <a:custGeom>
              <a:avLst/>
              <a:gdLst/>
              <a:ahLst/>
              <a:cxnLst/>
              <a:rect l="l" t="t" r="r" b="b"/>
              <a:pathLst>
                <a:path w="5949061" h="2764410">
                  <a:moveTo>
                    <a:pt x="0" y="0"/>
                  </a:moveTo>
                  <a:lnTo>
                    <a:pt x="5949061" y="0"/>
                  </a:lnTo>
                  <a:lnTo>
                    <a:pt x="5949061" y="2764410"/>
                  </a:lnTo>
                  <a:lnTo>
                    <a:pt x="0" y="2764410"/>
                  </a:lnTo>
                  <a:close/>
                </a:path>
              </a:pathLst>
            </a:custGeom>
            <a:solidFill>
              <a:srgbClr val="18202F"/>
            </a:solidFill>
            <a:ln w="14299" cap="sq">
              <a:solidFill>
                <a:srgbClr val="18202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5949010" cy="27739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Container(</a:t>
              </a:r>
            </a:p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alignment: Alignment.center,</a:t>
              </a:r>
            </a:p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color: Colors.green,</a:t>
              </a:r>
            </a:p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child: Text('Giãn tối đa'),</a:t>
              </a:r>
            </a:p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065222" y="2181977"/>
            <a:ext cx="5025123" cy="6769688"/>
            <a:chOff x="0" y="0"/>
            <a:chExt cx="6700164" cy="902625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700139" cy="9026189"/>
            </a:xfrm>
            <a:custGeom>
              <a:avLst/>
              <a:gdLst/>
              <a:ahLst/>
              <a:cxnLst/>
              <a:rect l="l" t="t" r="r" b="b"/>
              <a:pathLst>
                <a:path w="6700139" h="9026189">
                  <a:moveTo>
                    <a:pt x="0" y="1096900"/>
                  </a:moveTo>
                  <a:cubicBezTo>
                    <a:pt x="0" y="491129"/>
                    <a:pt x="499999" y="0"/>
                    <a:pt x="1116711" y="0"/>
                  </a:cubicBezTo>
                  <a:lnTo>
                    <a:pt x="5583428" y="0"/>
                  </a:lnTo>
                  <a:cubicBezTo>
                    <a:pt x="6200140" y="0"/>
                    <a:pt x="6700139" y="491129"/>
                    <a:pt x="6700139" y="1096900"/>
                  </a:cubicBezTo>
                  <a:lnTo>
                    <a:pt x="6700139" y="7929289"/>
                  </a:lnTo>
                  <a:cubicBezTo>
                    <a:pt x="6700139" y="8535060"/>
                    <a:pt x="6200140" y="9026189"/>
                    <a:pt x="5583428" y="9026189"/>
                  </a:cubicBezTo>
                  <a:lnTo>
                    <a:pt x="1116711" y="9026189"/>
                  </a:lnTo>
                  <a:cubicBezTo>
                    <a:pt x="499999" y="9026315"/>
                    <a:pt x="0" y="8535185"/>
                    <a:pt x="0" y="7929289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C9DAE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072366" y="2189131"/>
            <a:ext cx="5010826" cy="1249709"/>
            <a:chOff x="0" y="0"/>
            <a:chExt cx="6681102" cy="166627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681089" cy="1666367"/>
            </a:xfrm>
            <a:custGeom>
              <a:avLst/>
              <a:gdLst/>
              <a:ahLst/>
              <a:cxnLst/>
              <a:rect l="l" t="t" r="r" b="b"/>
              <a:pathLst>
                <a:path w="6681089" h="1666367">
                  <a:moveTo>
                    <a:pt x="0" y="277749"/>
                  </a:moveTo>
                  <a:cubicBezTo>
                    <a:pt x="0" y="124333"/>
                    <a:pt x="124333" y="0"/>
                    <a:pt x="277749" y="0"/>
                  </a:cubicBezTo>
                  <a:lnTo>
                    <a:pt x="6403340" y="0"/>
                  </a:lnTo>
                  <a:cubicBezTo>
                    <a:pt x="6556756" y="0"/>
                    <a:pt x="6681089" y="124333"/>
                    <a:pt x="6681089" y="277749"/>
                  </a:cubicBezTo>
                  <a:lnTo>
                    <a:pt x="6681089" y="1388618"/>
                  </a:lnTo>
                  <a:cubicBezTo>
                    <a:pt x="6681089" y="1542034"/>
                    <a:pt x="6556756" y="1666367"/>
                    <a:pt x="6403340" y="1666367"/>
                  </a:cubicBezTo>
                  <a:lnTo>
                    <a:pt x="277749" y="1666367"/>
                  </a:lnTo>
                  <a:cubicBezTo>
                    <a:pt x="124333" y="1666240"/>
                    <a:pt x="0" y="1541907"/>
                    <a:pt x="0" y="1388491"/>
                  </a:cubicBezTo>
                  <a:close/>
                </a:path>
              </a:pathLst>
            </a:custGeom>
            <a:solidFill>
              <a:srgbClr val="F2B400"/>
            </a:solidFill>
            <a:ln w="14299" cap="sq">
              <a:solidFill>
                <a:srgbClr val="F2B4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6681102" cy="1675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Cơ chế 3: Tuân thủ ràng buộc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2445489" y="3664248"/>
            <a:ext cx="4264581" cy="2672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1">
                <a:solidFill>
                  <a:srgbClr val="123A63"/>
                </a:solidFill>
                <a:latin typeface="Arial Bold"/>
                <a:ea typeface="Arial Bold"/>
                <a:cs typeface="Arial Bold"/>
                <a:sym typeface="Arial Bold"/>
              </a:rPr>
              <a:t>Điều kiện kích hoạt: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A202C"/>
                </a:solidFill>
                <a:latin typeface="Arial"/>
                <a:ea typeface="Arial"/>
                <a:cs typeface="Arial"/>
                <a:sym typeface="Arial"/>
              </a:rPr>
              <a:t>Khi Container cấu hình width, height hoặc constraints (BoxConstraints).</a:t>
            </a:r>
          </a:p>
          <a:p>
            <a:pPr algn="l">
              <a:lnSpc>
                <a:spcPts val="2161"/>
              </a:lnSpc>
            </a:pPr>
            <a:endParaRPr lang="en-US" sz="1651">
              <a:solidFill>
                <a:srgbClr val="1A202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2161"/>
              </a:lnSpc>
            </a:pPr>
            <a:r>
              <a:rPr lang="en-US" sz="1801" b="1">
                <a:solidFill>
                  <a:srgbClr val="123A63"/>
                </a:solidFill>
                <a:latin typeface="Arial Bold"/>
                <a:ea typeface="Arial Bold"/>
                <a:cs typeface="Arial Bold"/>
                <a:sym typeface="Arial Bold"/>
              </a:rPr>
              <a:t>Phản ứng giao diện: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1A202C"/>
                </a:solidFill>
                <a:latin typeface="Arial"/>
                <a:ea typeface="Arial"/>
                <a:cs typeface="Arial"/>
                <a:sym typeface="Arial"/>
              </a:rPr>
              <a:t>Container áp đặt các ràng buộc kích thước nghiêm ngặt lên phần tử con bên trong nó.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2273620" y="6174916"/>
            <a:ext cx="4461758" cy="2073307"/>
            <a:chOff x="0" y="0"/>
            <a:chExt cx="5949010" cy="276441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949061" cy="2764410"/>
            </a:xfrm>
            <a:custGeom>
              <a:avLst/>
              <a:gdLst/>
              <a:ahLst/>
              <a:cxnLst/>
              <a:rect l="l" t="t" r="r" b="b"/>
              <a:pathLst>
                <a:path w="5949061" h="2764410">
                  <a:moveTo>
                    <a:pt x="0" y="0"/>
                  </a:moveTo>
                  <a:lnTo>
                    <a:pt x="5949061" y="0"/>
                  </a:lnTo>
                  <a:lnTo>
                    <a:pt x="5949061" y="2764410"/>
                  </a:lnTo>
                  <a:lnTo>
                    <a:pt x="0" y="2764410"/>
                  </a:lnTo>
                  <a:close/>
                </a:path>
              </a:pathLst>
            </a:custGeom>
            <a:solidFill>
              <a:srgbClr val="18202F"/>
            </a:solidFill>
            <a:ln w="14299" cap="sq">
              <a:solidFill>
                <a:srgbClr val="18202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9525"/>
              <a:ext cx="5949010" cy="27739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Container(</a:t>
              </a:r>
            </a:p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width: 280, height: 120,</a:t>
              </a:r>
            </a:p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decoration: BoxDecoration(...),</a:t>
              </a:r>
            </a:p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child: Text('280x120'),</a:t>
              </a:r>
            </a:p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57250" y="9934575"/>
            <a:ext cx="133350" cy="133350"/>
            <a:chOff x="0" y="0"/>
            <a:chExt cx="177800" cy="177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39700" y="0"/>
                  </a:lnTo>
                  <a:cubicBezTo>
                    <a:pt x="160782" y="0"/>
                    <a:pt x="177800" y="17018"/>
                    <a:pt x="177800" y="38100"/>
                  </a:cubicBezTo>
                  <a:lnTo>
                    <a:pt x="177800" y="139700"/>
                  </a:lnTo>
                  <a:cubicBezTo>
                    <a:pt x="177800" y="160782"/>
                    <a:pt x="160782" y="177800"/>
                    <a:pt x="139700" y="177800"/>
                  </a:cubicBezTo>
                  <a:lnTo>
                    <a:pt x="38100" y="177800"/>
                  </a:lnTo>
                  <a:cubicBezTo>
                    <a:pt x="17018" y="177800"/>
                    <a:pt x="0" y="160782"/>
                    <a:pt x="0" y="139700"/>
                  </a:cubicBezTo>
                  <a:close/>
                </a:path>
              </a:pathLst>
            </a:custGeom>
            <a:solidFill>
              <a:srgbClr val="F2B4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111253" y="9869491"/>
            <a:ext cx="4081920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3.2.3. Các loại Widget trong Flutter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28750"/>
            <a:chOff x="0" y="0"/>
            <a:chExt cx="24384000" cy="190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05000"/>
            </a:xfrm>
            <a:custGeom>
              <a:avLst/>
              <a:gdLst/>
              <a:ahLst/>
              <a:cxnLst/>
              <a:rect l="l" t="t" r="r" b="b"/>
              <a:pathLst>
                <a:path w="24384000" h="1905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F5F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838200" y="0"/>
                  </a:lnTo>
                  <a:cubicBezTo>
                    <a:pt x="908304" y="0"/>
                    <a:pt x="965200" y="56896"/>
                    <a:pt x="965200" y="127000"/>
                  </a:cubicBezTo>
                  <a:lnTo>
                    <a:pt x="965200" y="838200"/>
                  </a:lnTo>
                  <a:cubicBezTo>
                    <a:pt x="965200" y="908304"/>
                    <a:pt x="908304" y="965200"/>
                    <a:pt x="838200" y="965200"/>
                  </a:cubicBezTo>
                  <a:lnTo>
                    <a:pt x="127000" y="965200"/>
                  </a:lnTo>
                  <a:cubicBezTo>
                    <a:pt x="56896" y="965200"/>
                    <a:pt x="0" y="908304"/>
                    <a:pt x="0" y="8382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0"/>
                  </a:moveTo>
                  <a:lnTo>
                    <a:pt x="965200" y="0"/>
                  </a:lnTo>
                  <a:lnTo>
                    <a:pt x="9652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73253" y="320678"/>
            <a:ext cx="7587301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144">
                <a:solidFill>
                  <a:srgbClr val="F2B400"/>
                </a:solidFill>
                <a:latin typeface="Arial Bold"/>
                <a:ea typeface="Arial Bold"/>
                <a:cs typeface="Arial Bold"/>
                <a:sym typeface="Arial Bold"/>
              </a:rPr>
              <a:t>3.2.3.1 · CONTAINER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73253" y="635003"/>
            <a:ext cx="7587301" cy="49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Lưu ý quan trọng: color vs decoration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57250" y="1885950"/>
            <a:ext cx="8096250" cy="6444853"/>
            <a:chOff x="0" y="0"/>
            <a:chExt cx="10795000" cy="859313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95000" cy="8593201"/>
            </a:xfrm>
            <a:custGeom>
              <a:avLst/>
              <a:gdLst/>
              <a:ahLst/>
              <a:cxnLst/>
              <a:rect l="l" t="t" r="r" b="b"/>
              <a:pathLst>
                <a:path w="10795000" h="8593201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10617200" y="0"/>
                  </a:lnTo>
                  <a:cubicBezTo>
                    <a:pt x="10715371" y="0"/>
                    <a:pt x="10795000" y="79629"/>
                    <a:pt x="10795000" y="177800"/>
                  </a:cubicBezTo>
                  <a:lnTo>
                    <a:pt x="10795000" y="8415401"/>
                  </a:lnTo>
                  <a:cubicBezTo>
                    <a:pt x="10795000" y="8513572"/>
                    <a:pt x="10715371" y="8593201"/>
                    <a:pt x="10617200" y="8593201"/>
                  </a:cubicBezTo>
                  <a:lnTo>
                    <a:pt x="177800" y="8593201"/>
                  </a:lnTo>
                  <a:cubicBezTo>
                    <a:pt x="79629" y="8593201"/>
                    <a:pt x="0" y="8513572"/>
                    <a:pt x="0" y="8415401"/>
                  </a:cubicBezTo>
                  <a:close/>
                </a:path>
              </a:pathLst>
            </a:custGeom>
            <a:solidFill>
              <a:srgbClr val="101C2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68403" y="2101853"/>
            <a:ext cx="7716841" cy="5974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3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//  SAI</a:t>
            </a:r>
          </a:p>
          <a:p>
            <a:pPr algn="l">
              <a:lnSpc>
                <a:spcPts val="2613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Container(</a:t>
            </a:r>
          </a:p>
          <a:p>
            <a:pPr algn="l">
              <a:lnSpc>
                <a:spcPts val="2613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color: Colors.blue,</a:t>
            </a:r>
          </a:p>
          <a:p>
            <a:pPr algn="l">
              <a:lnSpc>
                <a:spcPts val="2613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decoration: BoxDecoration(...), // Lỗi!</a:t>
            </a:r>
          </a:p>
          <a:p>
            <a:pPr algn="l">
              <a:lnSpc>
                <a:spcPts val="2613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334500" y="1885950"/>
            <a:ext cx="8096250" cy="6444853"/>
            <a:chOff x="0" y="0"/>
            <a:chExt cx="10795000" cy="859313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795000" cy="8593201"/>
            </a:xfrm>
            <a:custGeom>
              <a:avLst/>
              <a:gdLst/>
              <a:ahLst/>
              <a:cxnLst/>
              <a:rect l="l" t="t" r="r" b="b"/>
              <a:pathLst>
                <a:path w="10795000" h="8593201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10617200" y="0"/>
                  </a:lnTo>
                  <a:cubicBezTo>
                    <a:pt x="10715371" y="0"/>
                    <a:pt x="10795000" y="79629"/>
                    <a:pt x="10795000" y="177800"/>
                  </a:cubicBezTo>
                  <a:lnTo>
                    <a:pt x="10795000" y="8415401"/>
                  </a:lnTo>
                  <a:cubicBezTo>
                    <a:pt x="10795000" y="8513572"/>
                    <a:pt x="10715371" y="8593201"/>
                    <a:pt x="10617200" y="8593201"/>
                  </a:cubicBezTo>
                  <a:lnTo>
                    <a:pt x="177800" y="8593201"/>
                  </a:lnTo>
                  <a:cubicBezTo>
                    <a:pt x="79629" y="8593201"/>
                    <a:pt x="0" y="8513572"/>
                    <a:pt x="0" y="8415401"/>
                  </a:cubicBezTo>
                  <a:close/>
                </a:path>
              </a:pathLst>
            </a:custGeom>
            <a:solidFill>
              <a:srgbClr val="101C2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645653" y="2101853"/>
            <a:ext cx="7716841" cy="5974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3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//  ĐÚNG</a:t>
            </a:r>
          </a:p>
          <a:p>
            <a:pPr algn="l">
              <a:lnSpc>
                <a:spcPts val="2613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Container(</a:t>
            </a:r>
          </a:p>
          <a:p>
            <a:pPr algn="l">
              <a:lnSpc>
                <a:spcPts val="2613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decoration: BoxDecoration(</a:t>
            </a:r>
          </a:p>
          <a:p>
            <a:pPr algn="l">
              <a:lnSpc>
                <a:spcPts val="2613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color: Colors.blue,</a:t>
            </a:r>
          </a:p>
          <a:p>
            <a:pPr algn="l">
              <a:lnSpc>
                <a:spcPts val="2613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borderRadius: BorderRadius.circular(12),</a:t>
            </a:r>
          </a:p>
          <a:p>
            <a:pPr algn="l">
              <a:lnSpc>
                <a:spcPts val="2613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),</a:t>
            </a:r>
          </a:p>
          <a:p>
            <a:pPr algn="l">
              <a:lnSpc>
                <a:spcPts val="2613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5963" y="8489556"/>
            <a:ext cx="16785593" cy="92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7"/>
              </a:lnSpc>
            </a:pPr>
            <a:r>
              <a:rPr lang="en-US" sz="21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color thực chất chỉ là cách viết tắt của decoration: BoxDecoration(color: ...)</a:t>
            </a:r>
          </a:p>
          <a:p>
            <a:pPr algn="l">
              <a:lnSpc>
                <a:spcPts val="3087"/>
              </a:lnSpc>
            </a:pPr>
            <a:r>
              <a:rPr lang="en-US" sz="21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Nếu cần border, bo góc, đổ bóng… bắt buộc phải dùng decoration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0" y="9705975"/>
            <a:ext cx="18288000" cy="9525"/>
            <a:chOff x="0" y="0"/>
            <a:chExt cx="24384000" cy="127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4384000" cy="12700"/>
            </a:xfrm>
            <a:custGeom>
              <a:avLst/>
              <a:gdLst/>
              <a:ahLst/>
              <a:cxnLst/>
              <a:rect l="l" t="t" r="r" b="b"/>
              <a:pathLst>
                <a:path w="24384000" h="127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57250" y="9934575"/>
            <a:ext cx="133350" cy="133350"/>
            <a:chOff x="0" y="0"/>
            <a:chExt cx="177800" cy="177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39700" y="0"/>
                  </a:lnTo>
                  <a:cubicBezTo>
                    <a:pt x="160782" y="0"/>
                    <a:pt x="177800" y="17018"/>
                    <a:pt x="177800" y="38100"/>
                  </a:cubicBezTo>
                  <a:lnTo>
                    <a:pt x="177800" y="139700"/>
                  </a:lnTo>
                  <a:cubicBezTo>
                    <a:pt x="177800" y="160782"/>
                    <a:pt x="160782" y="177800"/>
                    <a:pt x="139700" y="177800"/>
                  </a:cubicBezTo>
                  <a:lnTo>
                    <a:pt x="38100" y="177800"/>
                  </a:lnTo>
                  <a:cubicBezTo>
                    <a:pt x="17018" y="177800"/>
                    <a:pt x="0" y="160782"/>
                    <a:pt x="0" y="139700"/>
                  </a:cubicBezTo>
                  <a:close/>
                </a:path>
              </a:pathLst>
            </a:custGeom>
            <a:solidFill>
              <a:srgbClr val="F2B4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11253" y="9869491"/>
            <a:ext cx="4081920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3.2.3. Các loại Widget trong Flutter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475991" y="9869491"/>
            <a:ext cx="2127371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https://huit.edu.vn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28750"/>
            <a:chOff x="0" y="0"/>
            <a:chExt cx="24384000" cy="190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05000"/>
            </a:xfrm>
            <a:custGeom>
              <a:avLst/>
              <a:gdLst/>
              <a:ahLst/>
              <a:cxnLst/>
              <a:rect l="l" t="t" r="r" b="b"/>
              <a:pathLst>
                <a:path w="24384000" h="1905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F5F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838200" y="0"/>
                  </a:lnTo>
                  <a:cubicBezTo>
                    <a:pt x="908304" y="0"/>
                    <a:pt x="965200" y="56896"/>
                    <a:pt x="965200" y="127000"/>
                  </a:cubicBezTo>
                  <a:lnTo>
                    <a:pt x="965200" y="838200"/>
                  </a:lnTo>
                  <a:cubicBezTo>
                    <a:pt x="965200" y="908304"/>
                    <a:pt x="908304" y="965200"/>
                    <a:pt x="838200" y="965200"/>
                  </a:cubicBezTo>
                  <a:lnTo>
                    <a:pt x="127000" y="965200"/>
                  </a:lnTo>
                  <a:cubicBezTo>
                    <a:pt x="56896" y="965200"/>
                    <a:pt x="0" y="908304"/>
                    <a:pt x="0" y="8382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0"/>
                  </a:moveTo>
                  <a:lnTo>
                    <a:pt x="965200" y="0"/>
                  </a:lnTo>
                  <a:lnTo>
                    <a:pt x="9652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73253" y="320678"/>
            <a:ext cx="2786148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144">
                <a:solidFill>
                  <a:srgbClr val="F2B400"/>
                </a:solidFill>
                <a:latin typeface="Arial Bold"/>
                <a:ea typeface="Arial Bold"/>
                <a:cs typeface="Arial Bold"/>
                <a:sym typeface="Arial Bold"/>
              </a:rPr>
              <a:t>3.2.3.1 · CONTAINER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73253" y="635003"/>
            <a:ext cx="2786148" cy="49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Ví dụ cơ bản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57250" y="1847850"/>
            <a:ext cx="16573500" cy="7572375"/>
            <a:chOff x="0" y="0"/>
            <a:chExt cx="22098000" cy="100965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98000" cy="10096500"/>
            </a:xfrm>
            <a:custGeom>
              <a:avLst/>
              <a:gdLst/>
              <a:ahLst/>
              <a:cxnLst/>
              <a:rect l="l" t="t" r="r" b="b"/>
              <a:pathLst>
                <a:path w="22098000" h="100965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21920200" y="0"/>
                  </a:lnTo>
                  <a:cubicBezTo>
                    <a:pt x="22018371" y="0"/>
                    <a:pt x="22098000" y="79629"/>
                    <a:pt x="22098000" y="177800"/>
                  </a:cubicBezTo>
                  <a:lnTo>
                    <a:pt x="22098000" y="9918700"/>
                  </a:lnTo>
                  <a:cubicBezTo>
                    <a:pt x="22098000" y="10016871"/>
                    <a:pt x="22018371" y="10096500"/>
                    <a:pt x="21920200" y="10096500"/>
                  </a:cubicBezTo>
                  <a:lnTo>
                    <a:pt x="177800" y="10096500"/>
                  </a:lnTo>
                  <a:cubicBezTo>
                    <a:pt x="79629" y="10096500"/>
                    <a:pt x="0" y="10016871"/>
                    <a:pt x="0" y="9918700"/>
                  </a:cubicBezTo>
                  <a:close/>
                </a:path>
              </a:pathLst>
            </a:custGeom>
            <a:solidFill>
              <a:srgbClr val="101C2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25553" y="2101853"/>
            <a:ext cx="16334108" cy="7026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Container(</a:t>
            </a:r>
          </a:p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width: 200, height: 100,</a:t>
            </a:r>
          </a:p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padding: EdgeInsets.all(16),</a:t>
            </a:r>
          </a:p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margin: EdgeInsets.symmetric(horizontal: 20, vertical: 10),</a:t>
            </a:r>
          </a:p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alignment: Alignment.center,</a:t>
            </a:r>
          </a:p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decoration: BoxDecoration(</a:t>
            </a:r>
          </a:p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color: Colors.blue,</a:t>
            </a:r>
          </a:p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borderRadius: BorderRadius.circular(12),</a:t>
            </a:r>
          </a:p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border: Border.all(color: Colors.black, width: 2),</a:t>
            </a:r>
          </a:p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boxShadow: [</a:t>
            </a:r>
          </a:p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BoxShadow(color: Colors.grey.withOpacity(0.5), blurRadius: 8, offset: Offset(0, 4)),</a:t>
            </a:r>
          </a:p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],</a:t>
            </a:r>
          </a:p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),</a:t>
            </a:r>
          </a:p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child: Text('Hello Flutter', style: TextStyle(color: Colors.white, fontSize: 18)),</a:t>
            </a:r>
          </a:p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0" y="9705975"/>
            <a:ext cx="18288000" cy="9525"/>
            <a:chOff x="0" y="0"/>
            <a:chExt cx="24384000" cy="127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384000" cy="12700"/>
            </a:xfrm>
            <a:custGeom>
              <a:avLst/>
              <a:gdLst/>
              <a:ahLst/>
              <a:cxnLst/>
              <a:rect l="l" t="t" r="r" b="b"/>
              <a:pathLst>
                <a:path w="24384000" h="127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57250" y="9934575"/>
            <a:ext cx="133350" cy="133350"/>
            <a:chOff x="0" y="0"/>
            <a:chExt cx="177800" cy="177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39700" y="0"/>
                  </a:lnTo>
                  <a:cubicBezTo>
                    <a:pt x="160782" y="0"/>
                    <a:pt x="177800" y="17018"/>
                    <a:pt x="177800" y="38100"/>
                  </a:cubicBezTo>
                  <a:lnTo>
                    <a:pt x="177800" y="139700"/>
                  </a:lnTo>
                  <a:cubicBezTo>
                    <a:pt x="177800" y="160782"/>
                    <a:pt x="160782" y="177800"/>
                    <a:pt x="139700" y="177800"/>
                  </a:cubicBezTo>
                  <a:lnTo>
                    <a:pt x="38100" y="177800"/>
                  </a:lnTo>
                  <a:cubicBezTo>
                    <a:pt x="17018" y="177800"/>
                    <a:pt x="0" y="160782"/>
                    <a:pt x="0" y="139700"/>
                  </a:cubicBezTo>
                  <a:close/>
                </a:path>
              </a:pathLst>
            </a:custGeom>
            <a:solidFill>
              <a:srgbClr val="F2B4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11253" y="9869491"/>
            <a:ext cx="4081920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3.2.3. Các loại Widget trong Flutter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475991" y="9869491"/>
            <a:ext cx="2127371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https://huit.edu.vn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28750"/>
            <a:chOff x="0" y="0"/>
            <a:chExt cx="24384000" cy="190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05000"/>
            </a:xfrm>
            <a:custGeom>
              <a:avLst/>
              <a:gdLst/>
              <a:ahLst/>
              <a:cxnLst/>
              <a:rect l="l" t="t" r="r" b="b"/>
              <a:pathLst>
                <a:path w="24384000" h="1905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F5F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838200" y="0"/>
                  </a:lnTo>
                  <a:cubicBezTo>
                    <a:pt x="908304" y="0"/>
                    <a:pt x="965200" y="56896"/>
                    <a:pt x="965200" y="127000"/>
                  </a:cubicBezTo>
                  <a:lnTo>
                    <a:pt x="965200" y="838200"/>
                  </a:lnTo>
                  <a:cubicBezTo>
                    <a:pt x="965200" y="908304"/>
                    <a:pt x="908304" y="965200"/>
                    <a:pt x="838200" y="965200"/>
                  </a:cubicBezTo>
                  <a:lnTo>
                    <a:pt x="127000" y="965200"/>
                  </a:lnTo>
                  <a:cubicBezTo>
                    <a:pt x="56896" y="965200"/>
                    <a:pt x="0" y="908304"/>
                    <a:pt x="0" y="8382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0"/>
                  </a:moveTo>
                  <a:lnTo>
                    <a:pt x="965200" y="0"/>
                  </a:lnTo>
                  <a:lnTo>
                    <a:pt x="9652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73253" y="320678"/>
            <a:ext cx="4433573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144">
                <a:solidFill>
                  <a:srgbClr val="F2B400"/>
                </a:solidFill>
                <a:latin typeface="Arial Bold"/>
                <a:ea typeface="Arial Bold"/>
                <a:cs typeface="Arial Bold"/>
                <a:sym typeface="Arial Bold"/>
              </a:rPr>
              <a:t>3.2.3.1 · CONTAINER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73253" y="644528"/>
            <a:ext cx="4433573" cy="482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3"/>
              </a:lnSpc>
            </a:pPr>
            <a:r>
              <a:rPr lang="en-US" sz="3052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BoxDecoration chi tiết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57250" y="1847850"/>
            <a:ext cx="16573500" cy="3619500"/>
            <a:chOff x="0" y="0"/>
            <a:chExt cx="22098000" cy="4826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98000" cy="4826000"/>
            </a:xfrm>
            <a:custGeom>
              <a:avLst/>
              <a:gdLst/>
              <a:ahLst/>
              <a:cxnLst/>
              <a:rect l="l" t="t" r="r" b="b"/>
              <a:pathLst>
                <a:path w="22098000" h="48260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21920200" y="0"/>
                  </a:lnTo>
                  <a:cubicBezTo>
                    <a:pt x="22018371" y="0"/>
                    <a:pt x="22098000" y="79629"/>
                    <a:pt x="22098000" y="177800"/>
                  </a:cubicBezTo>
                  <a:lnTo>
                    <a:pt x="22098000" y="4648200"/>
                  </a:lnTo>
                  <a:cubicBezTo>
                    <a:pt x="22098000" y="4746371"/>
                    <a:pt x="22018371" y="4826000"/>
                    <a:pt x="21920200" y="4826000"/>
                  </a:cubicBezTo>
                  <a:lnTo>
                    <a:pt x="177800" y="4826000"/>
                  </a:lnTo>
                  <a:cubicBezTo>
                    <a:pt x="79629" y="4826000"/>
                    <a:pt x="0" y="4746371"/>
                    <a:pt x="0" y="4648200"/>
                  </a:cubicBezTo>
                  <a:close/>
                </a:path>
              </a:pathLst>
            </a:custGeom>
            <a:solidFill>
              <a:srgbClr val="101C2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06503" y="2092328"/>
            <a:ext cx="16372208" cy="2907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BoxDecoration(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color: Colors.white,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image: DecorationImage(image: NetworkImage('https://...'), fit: BoxFit.cover),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border: Border.all(color: Colors.grey, width: 1),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borderRadius: BorderRadius.circular(16),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gradient: LinearGradient(colors: [Colors.purple, Colors.blue], begin: Alignment.topLeft, end: Alignment.bottomRight),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boxShadow: [BoxShadow(color: Colors.black26, blurRadius: 10)],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shape: BoxShape.rectangle, // hoặc BoxShape.circle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82653" y="5711828"/>
            <a:ext cx="18180053" cy="320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shape: BoxShape.circle giúp tạo hình tròn (khi dùng circle, không dùng borderRadius)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0" y="9705975"/>
            <a:ext cx="18288000" cy="9525"/>
            <a:chOff x="0" y="0"/>
            <a:chExt cx="24384000" cy="127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384000" cy="12700"/>
            </a:xfrm>
            <a:custGeom>
              <a:avLst/>
              <a:gdLst/>
              <a:ahLst/>
              <a:cxnLst/>
              <a:rect l="l" t="t" r="r" b="b"/>
              <a:pathLst>
                <a:path w="24384000" h="127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57250" y="9934575"/>
            <a:ext cx="133350" cy="133350"/>
            <a:chOff x="0" y="0"/>
            <a:chExt cx="177800" cy="177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39700" y="0"/>
                  </a:lnTo>
                  <a:cubicBezTo>
                    <a:pt x="160782" y="0"/>
                    <a:pt x="177800" y="17018"/>
                    <a:pt x="177800" y="38100"/>
                  </a:cubicBezTo>
                  <a:lnTo>
                    <a:pt x="177800" y="139700"/>
                  </a:lnTo>
                  <a:cubicBezTo>
                    <a:pt x="177800" y="160782"/>
                    <a:pt x="160782" y="177800"/>
                    <a:pt x="139700" y="177800"/>
                  </a:cubicBezTo>
                  <a:lnTo>
                    <a:pt x="38100" y="177800"/>
                  </a:lnTo>
                  <a:cubicBezTo>
                    <a:pt x="17018" y="177800"/>
                    <a:pt x="0" y="160782"/>
                    <a:pt x="0" y="139700"/>
                  </a:cubicBezTo>
                  <a:close/>
                </a:path>
              </a:pathLst>
            </a:custGeom>
            <a:solidFill>
              <a:srgbClr val="F2B4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11253" y="9869491"/>
            <a:ext cx="4081920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3.2.3. Các loại Widget trong Flutter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475991" y="9869491"/>
            <a:ext cx="2127371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https://huit.edu.vn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28750"/>
            <a:chOff x="0" y="0"/>
            <a:chExt cx="24384000" cy="190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05000"/>
            </a:xfrm>
            <a:custGeom>
              <a:avLst/>
              <a:gdLst/>
              <a:ahLst/>
              <a:cxnLst/>
              <a:rect l="l" t="t" r="r" b="b"/>
              <a:pathLst>
                <a:path w="24384000" h="1905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F5F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838200" y="0"/>
                  </a:lnTo>
                  <a:cubicBezTo>
                    <a:pt x="908304" y="0"/>
                    <a:pt x="965200" y="56896"/>
                    <a:pt x="965200" y="127000"/>
                  </a:cubicBezTo>
                  <a:lnTo>
                    <a:pt x="965200" y="838200"/>
                  </a:lnTo>
                  <a:cubicBezTo>
                    <a:pt x="965200" y="908304"/>
                    <a:pt x="908304" y="965200"/>
                    <a:pt x="838200" y="965200"/>
                  </a:cubicBezTo>
                  <a:lnTo>
                    <a:pt x="127000" y="965200"/>
                  </a:lnTo>
                  <a:cubicBezTo>
                    <a:pt x="56896" y="965200"/>
                    <a:pt x="0" y="908304"/>
                    <a:pt x="0" y="8382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0"/>
                  </a:moveTo>
                  <a:lnTo>
                    <a:pt x="965200" y="0"/>
                  </a:lnTo>
                  <a:lnTo>
                    <a:pt x="9652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73253" y="320678"/>
            <a:ext cx="5869476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144">
                <a:solidFill>
                  <a:srgbClr val="F2B400"/>
                </a:solidFill>
                <a:latin typeface="Arial Bold"/>
                <a:ea typeface="Arial Bold"/>
                <a:cs typeface="Arial Bold"/>
                <a:sym typeface="Arial Bold"/>
              </a:rPr>
              <a:t>3.2.3.1 · CONTAINER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73253" y="635003"/>
            <a:ext cx="5869476" cy="49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Phân biệt Padding và Margin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68403" y="1882778"/>
            <a:ext cx="7610161" cy="762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8"/>
              </a:lnSpc>
            </a:pPr>
            <a:r>
              <a:rPr lang="en-US" sz="2100" b="1">
                <a:solidFill>
                  <a:srgbClr val="3A4C58"/>
                </a:solidFill>
                <a:latin typeface="Arial Bold"/>
                <a:ea typeface="Arial Bold"/>
                <a:cs typeface="Arial Bold"/>
                <a:sym typeface="Arial Bold"/>
              </a:rPr>
              <a:t>Padding </a:t>
            </a:r>
            <a:r>
              <a:rPr lang="en-US" sz="21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: khoảng cách bên trong Container, giữa border và nội dung (child)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68403" y="2762650"/>
            <a:ext cx="7610161" cy="762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8"/>
              </a:lnSpc>
            </a:pPr>
            <a:r>
              <a:rPr lang="en-US" sz="2100" b="1">
                <a:solidFill>
                  <a:srgbClr val="3A4C58"/>
                </a:solidFill>
                <a:latin typeface="Arial Bold"/>
                <a:ea typeface="Arial Bold"/>
                <a:cs typeface="Arial Bold"/>
                <a:sym typeface="Arial Bold"/>
              </a:rPr>
              <a:t>Margin </a:t>
            </a:r>
            <a:r>
              <a:rPr lang="en-US" sz="21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: khoảng cách bên ngoài Container, giữa Container và widget khác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857250" y="3702844"/>
            <a:ext cx="7715250" cy="638175"/>
            <a:chOff x="0" y="0"/>
            <a:chExt cx="10287000" cy="8509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287000" cy="850900"/>
            </a:xfrm>
            <a:custGeom>
              <a:avLst/>
              <a:gdLst/>
              <a:ahLst/>
              <a:cxnLst/>
              <a:rect l="l" t="t" r="r" b="b"/>
              <a:pathLst>
                <a:path w="10287000" h="8509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10160000" y="0"/>
                  </a:lnTo>
                  <a:cubicBezTo>
                    <a:pt x="10230104" y="0"/>
                    <a:pt x="10287000" y="56896"/>
                    <a:pt x="10287000" y="127000"/>
                  </a:cubicBezTo>
                  <a:lnTo>
                    <a:pt x="10287000" y="723900"/>
                  </a:lnTo>
                  <a:cubicBezTo>
                    <a:pt x="10287000" y="794004"/>
                    <a:pt x="10230104" y="850900"/>
                    <a:pt x="10160000" y="850900"/>
                  </a:cubicBezTo>
                  <a:lnTo>
                    <a:pt x="127000" y="850900"/>
                  </a:lnTo>
                  <a:cubicBezTo>
                    <a:pt x="56896" y="850900"/>
                    <a:pt x="0" y="794004"/>
                    <a:pt x="0" y="723900"/>
                  </a:cubicBezTo>
                  <a:close/>
                </a:path>
              </a:pathLst>
            </a:custGeom>
            <a:solidFill>
              <a:srgbClr val="F0F5F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92203" y="3890172"/>
            <a:ext cx="7476811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23A63"/>
                </a:solidFill>
                <a:latin typeface="Courier New"/>
                <a:ea typeface="Courier New"/>
                <a:cs typeface="Courier New"/>
                <a:sym typeface="Courier New"/>
              </a:rPr>
              <a:t>[ Margin [ Border [ Padding [ Child ] ] ] ]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105900" y="1885950"/>
            <a:ext cx="8324850" cy="2247900"/>
            <a:chOff x="0" y="0"/>
            <a:chExt cx="11099800" cy="2997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099800" cy="2997200"/>
            </a:xfrm>
            <a:custGeom>
              <a:avLst/>
              <a:gdLst/>
              <a:ahLst/>
              <a:cxnLst/>
              <a:rect l="l" t="t" r="r" b="b"/>
              <a:pathLst>
                <a:path w="11099800" h="29972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10922000" y="0"/>
                  </a:lnTo>
                  <a:cubicBezTo>
                    <a:pt x="11020171" y="0"/>
                    <a:pt x="11099800" y="79629"/>
                    <a:pt x="11099800" y="177800"/>
                  </a:cubicBezTo>
                  <a:lnTo>
                    <a:pt x="11099800" y="2819400"/>
                  </a:lnTo>
                  <a:cubicBezTo>
                    <a:pt x="11099800" y="2917571"/>
                    <a:pt x="11020171" y="2997200"/>
                    <a:pt x="10922000" y="2997200"/>
                  </a:cubicBezTo>
                  <a:lnTo>
                    <a:pt x="177800" y="2997200"/>
                  </a:lnTo>
                  <a:cubicBezTo>
                    <a:pt x="79629" y="2997200"/>
                    <a:pt x="0" y="2917571"/>
                    <a:pt x="0" y="2819400"/>
                  </a:cubicBezTo>
                  <a:close/>
                </a:path>
              </a:pathLst>
            </a:custGeom>
            <a:solidFill>
              <a:srgbClr val="101C2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436103" y="2130428"/>
            <a:ext cx="7914199" cy="1749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Container(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margin: EdgeInsets.all(20),  // ra ngoài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padding: EdgeInsets.all(16), // vào trong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child: Text('Nội dung'),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0" y="9705975"/>
            <a:ext cx="18288000" cy="9525"/>
            <a:chOff x="0" y="0"/>
            <a:chExt cx="24384000" cy="127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384000" cy="12700"/>
            </a:xfrm>
            <a:custGeom>
              <a:avLst/>
              <a:gdLst/>
              <a:ahLst/>
              <a:cxnLst/>
              <a:rect l="l" t="t" r="r" b="b"/>
              <a:pathLst>
                <a:path w="24384000" h="127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57250" y="9934575"/>
            <a:ext cx="133350" cy="133350"/>
            <a:chOff x="0" y="0"/>
            <a:chExt cx="177800" cy="177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39700" y="0"/>
                  </a:lnTo>
                  <a:cubicBezTo>
                    <a:pt x="160782" y="0"/>
                    <a:pt x="177800" y="17018"/>
                    <a:pt x="177800" y="38100"/>
                  </a:cubicBezTo>
                  <a:lnTo>
                    <a:pt x="177800" y="139700"/>
                  </a:lnTo>
                  <a:cubicBezTo>
                    <a:pt x="177800" y="160782"/>
                    <a:pt x="160782" y="177800"/>
                    <a:pt x="139700" y="177800"/>
                  </a:cubicBezTo>
                  <a:lnTo>
                    <a:pt x="38100" y="177800"/>
                  </a:lnTo>
                  <a:cubicBezTo>
                    <a:pt x="17018" y="177800"/>
                    <a:pt x="0" y="160782"/>
                    <a:pt x="0" y="139700"/>
                  </a:cubicBezTo>
                  <a:close/>
                </a:path>
              </a:pathLst>
            </a:custGeom>
            <a:solidFill>
              <a:srgbClr val="F2B4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111253" y="9869491"/>
            <a:ext cx="4081920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3.2.3. Các loại Widget trong Flutter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475991" y="9869491"/>
            <a:ext cx="2127371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https://huit.edu.vn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28750"/>
            <a:chOff x="0" y="0"/>
            <a:chExt cx="24384000" cy="190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05000"/>
            </a:xfrm>
            <a:custGeom>
              <a:avLst/>
              <a:gdLst/>
              <a:ahLst/>
              <a:cxnLst/>
              <a:rect l="l" t="t" r="r" b="b"/>
              <a:pathLst>
                <a:path w="24384000" h="1905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F5F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838200" y="0"/>
                  </a:lnTo>
                  <a:cubicBezTo>
                    <a:pt x="908304" y="0"/>
                    <a:pt x="965200" y="56896"/>
                    <a:pt x="965200" y="127000"/>
                  </a:cubicBezTo>
                  <a:lnTo>
                    <a:pt x="965200" y="838200"/>
                  </a:lnTo>
                  <a:cubicBezTo>
                    <a:pt x="965200" y="908304"/>
                    <a:pt x="908304" y="965200"/>
                    <a:pt x="838200" y="965200"/>
                  </a:cubicBezTo>
                  <a:lnTo>
                    <a:pt x="127000" y="965200"/>
                  </a:lnTo>
                  <a:cubicBezTo>
                    <a:pt x="56896" y="965200"/>
                    <a:pt x="0" y="908304"/>
                    <a:pt x="0" y="8382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0"/>
                  </a:moveTo>
                  <a:lnTo>
                    <a:pt x="965200" y="0"/>
                  </a:lnTo>
                  <a:lnTo>
                    <a:pt x="9652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73253" y="320678"/>
            <a:ext cx="6986483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144">
                <a:solidFill>
                  <a:srgbClr val="F2B400"/>
                </a:solidFill>
                <a:latin typeface="Arial Bold"/>
                <a:ea typeface="Arial Bold"/>
                <a:cs typeface="Arial Bold"/>
                <a:sym typeface="Arial Bold"/>
              </a:rPr>
              <a:t>3.2.3.1 · CONTAINER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73253" y="635003"/>
            <a:ext cx="6986483" cy="49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Constraints — giới hạn kích thước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57200" y="2014970"/>
            <a:ext cx="8839200" cy="4081696"/>
            <a:chOff x="0" y="0"/>
            <a:chExt cx="11099800" cy="4826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099800" cy="4826000"/>
            </a:xfrm>
            <a:custGeom>
              <a:avLst/>
              <a:gdLst/>
              <a:ahLst/>
              <a:cxnLst/>
              <a:rect l="l" t="t" r="r" b="b"/>
              <a:pathLst>
                <a:path w="11099800" h="48260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10922000" y="0"/>
                  </a:lnTo>
                  <a:cubicBezTo>
                    <a:pt x="11020171" y="0"/>
                    <a:pt x="11099800" y="79629"/>
                    <a:pt x="11099800" y="177800"/>
                  </a:cubicBezTo>
                  <a:lnTo>
                    <a:pt x="11099800" y="4648200"/>
                  </a:lnTo>
                  <a:cubicBezTo>
                    <a:pt x="11099800" y="4746371"/>
                    <a:pt x="11020171" y="4826000"/>
                    <a:pt x="10922000" y="4826000"/>
                  </a:cubicBezTo>
                  <a:lnTo>
                    <a:pt x="177800" y="4826000"/>
                  </a:lnTo>
                  <a:cubicBezTo>
                    <a:pt x="79629" y="4826000"/>
                    <a:pt x="0" y="4746371"/>
                    <a:pt x="0" y="4648200"/>
                  </a:cubicBezTo>
                  <a:close/>
                </a:path>
              </a:pathLst>
            </a:custGeom>
            <a:solidFill>
              <a:srgbClr val="101C2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822327" y="2247900"/>
            <a:ext cx="8037409" cy="2986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2000" dirty="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Container(</a:t>
            </a:r>
          </a:p>
          <a:p>
            <a:pPr algn="l">
              <a:lnSpc>
                <a:spcPts val="2592"/>
              </a:lnSpc>
            </a:pPr>
            <a:r>
              <a:rPr lang="en-US" sz="2000" dirty="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constraints: </a:t>
            </a:r>
            <a:r>
              <a:rPr lang="en-US" sz="2000" dirty="0" err="1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BoxConstraints</a:t>
            </a:r>
            <a:r>
              <a:rPr lang="en-US" sz="2000" dirty="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</a:p>
          <a:p>
            <a:pPr algn="l">
              <a:lnSpc>
                <a:spcPts val="2592"/>
              </a:lnSpc>
            </a:pPr>
            <a:r>
              <a:rPr lang="en-US" sz="2000" dirty="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000" dirty="0" err="1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minWidth</a:t>
            </a:r>
            <a:r>
              <a:rPr lang="en-US" sz="2000" dirty="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: 100,</a:t>
            </a:r>
          </a:p>
          <a:p>
            <a:pPr algn="l">
              <a:lnSpc>
                <a:spcPts val="2592"/>
              </a:lnSpc>
            </a:pPr>
            <a:r>
              <a:rPr lang="en-US" sz="2000" dirty="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000" dirty="0" err="1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maxWidth</a:t>
            </a:r>
            <a:r>
              <a:rPr lang="en-US" sz="2000" dirty="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: 300,</a:t>
            </a:r>
          </a:p>
          <a:p>
            <a:pPr algn="l">
              <a:lnSpc>
                <a:spcPts val="2592"/>
              </a:lnSpc>
            </a:pPr>
            <a:r>
              <a:rPr lang="en-US" sz="2000" dirty="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000" dirty="0" err="1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minHeight</a:t>
            </a:r>
            <a:r>
              <a:rPr lang="en-US" sz="2000" dirty="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: 50,</a:t>
            </a:r>
          </a:p>
          <a:p>
            <a:pPr algn="l">
              <a:lnSpc>
                <a:spcPts val="2592"/>
              </a:lnSpc>
            </a:pPr>
            <a:r>
              <a:rPr lang="en-US" sz="2000" dirty="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000" dirty="0" err="1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maxHeight</a:t>
            </a:r>
            <a:r>
              <a:rPr lang="en-US" sz="2000" dirty="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: 150,</a:t>
            </a:r>
          </a:p>
          <a:p>
            <a:pPr algn="l">
              <a:lnSpc>
                <a:spcPts val="2592"/>
              </a:lnSpc>
            </a:pPr>
            <a:r>
              <a:rPr lang="en-US" sz="2000" dirty="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),</a:t>
            </a:r>
          </a:p>
          <a:p>
            <a:pPr algn="l">
              <a:lnSpc>
                <a:spcPts val="2592"/>
              </a:lnSpc>
            </a:pPr>
            <a:r>
              <a:rPr lang="en-US" sz="2000" dirty="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child: Text('</a:t>
            </a:r>
            <a:r>
              <a:rPr lang="en-US" sz="2000" dirty="0" err="1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Nội</a:t>
            </a:r>
            <a:r>
              <a:rPr lang="en-US" sz="2000" dirty="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dung co </a:t>
            </a:r>
            <a:r>
              <a:rPr lang="en-US" sz="2000" dirty="0" err="1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giãn</a:t>
            </a:r>
            <a:r>
              <a:rPr lang="en-US" sz="2000" dirty="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dirty="0" err="1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theo</a:t>
            </a:r>
            <a:r>
              <a:rPr lang="en-US" sz="2000" dirty="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constraints'),</a:t>
            </a:r>
          </a:p>
          <a:p>
            <a:pPr algn="l">
              <a:lnSpc>
                <a:spcPts val="2592"/>
              </a:lnSpc>
            </a:pPr>
            <a:r>
              <a:rPr lang="en-US" sz="2000" dirty="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01652" y="2063146"/>
            <a:ext cx="9033948" cy="40335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5839" lvl="1" indent="-372920" algn="l">
              <a:lnSpc>
                <a:spcPts val="3970"/>
              </a:lnSpc>
              <a:buFont typeface="Arial"/>
              <a:buChar char="•"/>
            </a:pPr>
            <a:r>
              <a:rPr lang="en-US" sz="2700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width/height </a:t>
            </a:r>
            <a:r>
              <a:rPr lang="en-US" sz="2700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được</a:t>
            </a:r>
            <a:r>
              <a:rPr lang="en-US" sz="2700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gộp</a:t>
            </a:r>
            <a:r>
              <a:rPr lang="en-US" sz="2700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vào</a:t>
            </a:r>
            <a:r>
              <a:rPr lang="en-US" sz="2700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constraints </a:t>
            </a:r>
            <a:r>
              <a:rPr lang="en-US" sz="2700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2700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b="1" dirty="0" err="1">
                <a:solidFill>
                  <a:srgbClr val="1F5FA0"/>
                </a:solidFill>
                <a:latin typeface="Arial"/>
                <a:ea typeface="Arial"/>
                <a:cs typeface="Arial"/>
                <a:sym typeface="Arial"/>
              </a:rPr>
              <a:t>bị</a:t>
            </a:r>
            <a:r>
              <a:rPr lang="en-US" sz="2700" b="1" dirty="0">
                <a:solidFill>
                  <a:srgbClr val="1F5FA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b="1" dirty="0" err="1">
                <a:solidFill>
                  <a:srgbClr val="1F5FA0"/>
                </a:solidFill>
                <a:latin typeface="Arial"/>
                <a:ea typeface="Arial"/>
                <a:cs typeface="Arial"/>
                <a:sym typeface="Arial"/>
              </a:rPr>
              <a:t>kẹp</a:t>
            </a:r>
            <a:r>
              <a:rPr lang="en-US" sz="2700" b="1" dirty="0">
                <a:solidFill>
                  <a:srgbClr val="1F5FA0"/>
                </a:solidFill>
                <a:latin typeface="Arial"/>
                <a:ea typeface="Arial"/>
                <a:cs typeface="Arial"/>
                <a:sym typeface="Arial"/>
              </a:rPr>
              <a:t> (clamp)</a:t>
            </a:r>
            <a:r>
              <a:rPr lang="en-US" sz="2700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vào</a:t>
            </a:r>
            <a:r>
              <a:rPr lang="en-US" sz="2700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khoảng</a:t>
            </a:r>
            <a:r>
              <a:rPr lang="en-US" sz="2700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min–max</a:t>
            </a:r>
          </a:p>
          <a:p>
            <a:pPr marL="745839" lvl="1" indent="-372920" algn="l">
              <a:lnSpc>
                <a:spcPts val="3970"/>
              </a:lnSpc>
              <a:buFont typeface="Arial"/>
              <a:buChar char="•"/>
            </a:pPr>
            <a:r>
              <a:rPr lang="en-US" sz="2700" b="1" dirty="0" err="1">
                <a:solidFill>
                  <a:srgbClr val="1F5FA0"/>
                </a:solidFill>
                <a:latin typeface="Arial"/>
                <a:ea typeface="Arial"/>
                <a:cs typeface="Arial"/>
                <a:sym typeface="Arial"/>
              </a:rPr>
              <a:t>Ưu</a:t>
            </a:r>
            <a:r>
              <a:rPr lang="en-US" sz="2700" b="1" dirty="0">
                <a:solidFill>
                  <a:srgbClr val="1F5FA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b="1" dirty="0" err="1">
                <a:solidFill>
                  <a:srgbClr val="1F5FA0"/>
                </a:solidFill>
                <a:latin typeface="Arial"/>
                <a:ea typeface="Arial"/>
                <a:cs typeface="Arial"/>
                <a:sym typeface="Arial"/>
              </a:rPr>
              <a:t>tiên</a:t>
            </a:r>
            <a:r>
              <a:rPr lang="en-US" sz="2700" b="1" dirty="0">
                <a:solidFill>
                  <a:srgbClr val="1F5FA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700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constraints </a:t>
            </a:r>
            <a:r>
              <a:rPr lang="en-US" sz="2700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của</a:t>
            </a:r>
            <a:r>
              <a:rPr lang="en-US" sz="2700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widget cha &gt; constraints </a:t>
            </a:r>
            <a:r>
              <a:rPr lang="en-US" sz="2700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của</a:t>
            </a:r>
            <a:r>
              <a:rPr lang="en-US" sz="2700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Container &gt; width/height</a:t>
            </a:r>
          </a:p>
          <a:p>
            <a:pPr marL="745839" lvl="1" indent="-372920" algn="l">
              <a:lnSpc>
                <a:spcPts val="3970"/>
              </a:lnSpc>
              <a:buFont typeface="Arial"/>
              <a:buChar char="•"/>
            </a:pPr>
            <a:r>
              <a:rPr lang="en-US" sz="2700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VD: width: 500 + </a:t>
            </a:r>
            <a:r>
              <a:rPr lang="en-US" sz="2700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maxWidth</a:t>
            </a:r>
            <a:r>
              <a:rPr lang="en-US" sz="2700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: 300 → </a:t>
            </a:r>
            <a:r>
              <a:rPr lang="en-US" sz="2700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kết</a:t>
            </a:r>
            <a:r>
              <a:rPr lang="en-US" sz="2700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quả</a:t>
            </a:r>
            <a:r>
              <a:rPr lang="en-US" sz="2700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b="1" dirty="0">
                <a:solidFill>
                  <a:srgbClr val="1F5FA0"/>
                </a:solidFill>
                <a:latin typeface="Arial"/>
                <a:ea typeface="Arial"/>
                <a:cs typeface="Arial"/>
                <a:sym typeface="Arial"/>
              </a:rPr>
              <a:t>300</a:t>
            </a:r>
            <a:r>
              <a:rPr lang="en-US" sz="2700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lang="en-US" sz="2700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còn</a:t>
            </a:r>
            <a:r>
              <a:rPr lang="en-US" sz="2700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width: 200 → </a:t>
            </a:r>
            <a:r>
              <a:rPr lang="en-US" sz="2700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giữ</a:t>
            </a:r>
            <a:r>
              <a:rPr lang="en-US" sz="2700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nguyên</a:t>
            </a:r>
            <a:r>
              <a:rPr lang="en-US" sz="2700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b="1" dirty="0">
                <a:solidFill>
                  <a:srgbClr val="1F5FA0"/>
                </a:solidFill>
                <a:latin typeface="Arial"/>
                <a:ea typeface="Arial"/>
                <a:cs typeface="Arial"/>
                <a:sym typeface="Arial"/>
              </a:rPr>
              <a:t>200</a:t>
            </a:r>
          </a:p>
          <a:p>
            <a:pPr marL="745839" lvl="1" indent="-372920" algn="l">
              <a:lnSpc>
                <a:spcPts val="3970"/>
              </a:lnSpc>
              <a:buFont typeface="Arial"/>
              <a:buChar char="•"/>
            </a:pPr>
            <a:r>
              <a:rPr lang="en-US" sz="2700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Hữu </a:t>
            </a:r>
            <a:r>
              <a:rPr lang="en-US" sz="2700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ích</a:t>
            </a:r>
            <a:r>
              <a:rPr lang="en-US" sz="2700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khi</a:t>
            </a:r>
            <a:r>
              <a:rPr lang="en-US" sz="2700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muốn</a:t>
            </a:r>
            <a:r>
              <a:rPr lang="en-US" sz="2700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Container co </a:t>
            </a:r>
            <a:r>
              <a:rPr lang="en-US" sz="2700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giãn</a:t>
            </a:r>
            <a:r>
              <a:rPr lang="en-US" sz="2700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linh</a:t>
            </a:r>
            <a:r>
              <a:rPr lang="en-US" sz="2700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hoạt</a:t>
            </a:r>
            <a:r>
              <a:rPr lang="en-US" sz="2700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trong</a:t>
            </a:r>
            <a:r>
              <a:rPr lang="en-US" sz="2700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khoảng</a:t>
            </a:r>
            <a:r>
              <a:rPr lang="en-US" sz="2700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cho</a:t>
            </a:r>
            <a:r>
              <a:rPr lang="en-US" sz="2700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700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phép</a:t>
            </a:r>
            <a:endParaRPr lang="en-US" sz="2700" dirty="0">
              <a:solidFill>
                <a:srgbClr val="3A4C5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0" y="9705975"/>
            <a:ext cx="18288000" cy="9525"/>
            <a:chOff x="0" y="0"/>
            <a:chExt cx="24384000" cy="127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384000" cy="12700"/>
            </a:xfrm>
            <a:custGeom>
              <a:avLst/>
              <a:gdLst/>
              <a:ahLst/>
              <a:cxnLst/>
              <a:rect l="l" t="t" r="r" b="b"/>
              <a:pathLst>
                <a:path w="24384000" h="127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57250" y="9934575"/>
            <a:ext cx="133350" cy="133350"/>
            <a:chOff x="0" y="0"/>
            <a:chExt cx="177800" cy="177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39700" y="0"/>
                  </a:lnTo>
                  <a:cubicBezTo>
                    <a:pt x="160782" y="0"/>
                    <a:pt x="177800" y="17018"/>
                    <a:pt x="177800" y="38100"/>
                  </a:cubicBezTo>
                  <a:lnTo>
                    <a:pt x="177800" y="139700"/>
                  </a:lnTo>
                  <a:cubicBezTo>
                    <a:pt x="177800" y="160782"/>
                    <a:pt x="160782" y="177800"/>
                    <a:pt x="139700" y="177800"/>
                  </a:cubicBezTo>
                  <a:lnTo>
                    <a:pt x="38100" y="177800"/>
                  </a:lnTo>
                  <a:cubicBezTo>
                    <a:pt x="17018" y="177800"/>
                    <a:pt x="0" y="160782"/>
                    <a:pt x="0" y="139700"/>
                  </a:cubicBezTo>
                  <a:close/>
                </a:path>
              </a:pathLst>
            </a:custGeom>
            <a:solidFill>
              <a:srgbClr val="F2B4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11253" y="9869491"/>
            <a:ext cx="4081920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3.2.3. Các loại Widget trong Flutter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475991" y="9869491"/>
            <a:ext cx="2127371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https://huit.edu.vn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28750"/>
            <a:chOff x="0" y="0"/>
            <a:chExt cx="24384000" cy="190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05000"/>
            </a:xfrm>
            <a:custGeom>
              <a:avLst/>
              <a:gdLst/>
              <a:ahLst/>
              <a:cxnLst/>
              <a:rect l="l" t="t" r="r" b="b"/>
              <a:pathLst>
                <a:path w="24384000" h="1905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F5F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838200" y="0"/>
                  </a:lnTo>
                  <a:cubicBezTo>
                    <a:pt x="908304" y="0"/>
                    <a:pt x="965200" y="56896"/>
                    <a:pt x="965200" y="127000"/>
                  </a:cubicBezTo>
                  <a:lnTo>
                    <a:pt x="965200" y="838200"/>
                  </a:lnTo>
                  <a:cubicBezTo>
                    <a:pt x="965200" y="908304"/>
                    <a:pt x="908304" y="965200"/>
                    <a:pt x="838200" y="965200"/>
                  </a:cubicBezTo>
                  <a:lnTo>
                    <a:pt x="127000" y="965200"/>
                  </a:lnTo>
                  <a:cubicBezTo>
                    <a:pt x="56896" y="965200"/>
                    <a:pt x="0" y="908304"/>
                    <a:pt x="0" y="8382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0"/>
                  </a:moveTo>
                  <a:lnTo>
                    <a:pt x="965200" y="0"/>
                  </a:lnTo>
                  <a:lnTo>
                    <a:pt x="9652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73253" y="320678"/>
            <a:ext cx="5305168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144">
                <a:solidFill>
                  <a:srgbClr val="F2B400"/>
                </a:solidFill>
                <a:latin typeface="Arial Bold"/>
                <a:ea typeface="Arial Bold"/>
                <a:cs typeface="Arial Bold"/>
                <a:sym typeface="Arial Bold"/>
              </a:rPr>
              <a:t>3.2.3.1 · CONTAINER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73253" y="644528"/>
            <a:ext cx="5305168" cy="482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3"/>
              </a:lnSpc>
            </a:pPr>
            <a:r>
              <a:rPr lang="en-US" sz="3052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Alignment trong Container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57250" y="1885950"/>
            <a:ext cx="8324850" cy="2933700"/>
            <a:chOff x="0" y="0"/>
            <a:chExt cx="11099800" cy="3911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099800" cy="3911600"/>
            </a:xfrm>
            <a:custGeom>
              <a:avLst/>
              <a:gdLst/>
              <a:ahLst/>
              <a:cxnLst/>
              <a:rect l="l" t="t" r="r" b="b"/>
              <a:pathLst>
                <a:path w="11099800" h="39116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10922000" y="0"/>
                  </a:lnTo>
                  <a:cubicBezTo>
                    <a:pt x="11020171" y="0"/>
                    <a:pt x="11099800" y="79629"/>
                    <a:pt x="11099800" y="177800"/>
                  </a:cubicBezTo>
                  <a:lnTo>
                    <a:pt x="11099800" y="3733800"/>
                  </a:lnTo>
                  <a:cubicBezTo>
                    <a:pt x="11099800" y="3831971"/>
                    <a:pt x="11020171" y="3911600"/>
                    <a:pt x="10922000" y="3911600"/>
                  </a:cubicBezTo>
                  <a:lnTo>
                    <a:pt x="177800" y="3911600"/>
                  </a:lnTo>
                  <a:cubicBezTo>
                    <a:pt x="79629" y="3911600"/>
                    <a:pt x="0" y="3831971"/>
                    <a:pt x="0" y="3733800"/>
                  </a:cubicBezTo>
                  <a:close/>
                </a:path>
              </a:pathLst>
            </a:custGeom>
            <a:solidFill>
              <a:srgbClr val="101C2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87453" y="2130428"/>
            <a:ext cx="7914199" cy="2435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Container(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width: 300,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height: 300,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color: Colors.grey[200],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alignment: Alignment.bottomRight,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child: Icon(Icons.star, size: 50),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40903" y="1892303"/>
            <a:ext cx="8435978" cy="330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123A63"/>
                </a:solidFill>
                <a:latin typeface="Arial Bold"/>
                <a:ea typeface="Arial Bold"/>
                <a:cs typeface="Arial Bold"/>
                <a:sym typeface="Arial Bold"/>
              </a:rPr>
              <a:t>Các giá trị phổ biến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715500" y="2381250"/>
            <a:ext cx="1303134" cy="485775"/>
            <a:chOff x="0" y="0"/>
            <a:chExt cx="1737512" cy="6477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37487" cy="647700"/>
            </a:xfrm>
            <a:custGeom>
              <a:avLst/>
              <a:gdLst/>
              <a:ahLst/>
              <a:cxnLst/>
              <a:rect l="l" t="t" r="r" b="b"/>
              <a:pathLst>
                <a:path w="1737487" h="6477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635887" y="0"/>
                  </a:lnTo>
                  <a:cubicBezTo>
                    <a:pt x="1692021" y="0"/>
                    <a:pt x="1737487" y="45466"/>
                    <a:pt x="1737487" y="101600"/>
                  </a:cubicBezTo>
                  <a:lnTo>
                    <a:pt x="1737487" y="546100"/>
                  </a:lnTo>
                  <a:cubicBezTo>
                    <a:pt x="1737487" y="602234"/>
                    <a:pt x="1692021" y="647700"/>
                    <a:pt x="1635887" y="647700"/>
                  </a:cubicBezTo>
                  <a:lnTo>
                    <a:pt x="101600" y="647700"/>
                  </a:lnTo>
                  <a:cubicBezTo>
                    <a:pt x="45466" y="647700"/>
                    <a:pt x="0" y="602234"/>
                    <a:pt x="0" y="546100"/>
                  </a:cubicBezTo>
                  <a:close/>
                </a:path>
              </a:pathLst>
            </a:custGeom>
            <a:solidFill>
              <a:srgbClr val="F0F5F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912353" y="2492378"/>
            <a:ext cx="985637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23A63"/>
                </a:solidFill>
                <a:latin typeface="Courier New"/>
                <a:ea typeface="Courier New"/>
                <a:cs typeface="Courier New"/>
                <a:sym typeface="Courier New"/>
              </a:rPr>
              <a:t>topLeft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1132934" y="2381250"/>
            <a:ext cx="1577426" cy="485775"/>
            <a:chOff x="0" y="0"/>
            <a:chExt cx="2103234" cy="6477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03247" cy="647700"/>
            </a:xfrm>
            <a:custGeom>
              <a:avLst/>
              <a:gdLst/>
              <a:ahLst/>
              <a:cxnLst/>
              <a:rect l="l" t="t" r="r" b="b"/>
              <a:pathLst>
                <a:path w="2103247" h="6477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2001647" y="0"/>
                  </a:lnTo>
                  <a:cubicBezTo>
                    <a:pt x="2057781" y="0"/>
                    <a:pt x="2103247" y="45466"/>
                    <a:pt x="2103247" y="101600"/>
                  </a:cubicBezTo>
                  <a:lnTo>
                    <a:pt x="2103247" y="546100"/>
                  </a:lnTo>
                  <a:cubicBezTo>
                    <a:pt x="2103247" y="602234"/>
                    <a:pt x="2057781" y="647700"/>
                    <a:pt x="2001647" y="647700"/>
                  </a:cubicBezTo>
                  <a:lnTo>
                    <a:pt x="101600" y="647700"/>
                  </a:lnTo>
                  <a:cubicBezTo>
                    <a:pt x="45466" y="647700"/>
                    <a:pt x="0" y="602234"/>
                    <a:pt x="0" y="546100"/>
                  </a:cubicBezTo>
                  <a:close/>
                </a:path>
              </a:pathLst>
            </a:custGeom>
            <a:solidFill>
              <a:srgbClr val="F0F5F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329787" y="2492378"/>
            <a:ext cx="1259929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23A63"/>
                </a:solidFill>
                <a:latin typeface="Courier New"/>
                <a:ea typeface="Courier New"/>
                <a:cs typeface="Courier New"/>
                <a:sym typeface="Courier New"/>
              </a:rPr>
              <a:t>topCenter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2824670" y="2381250"/>
            <a:ext cx="1440209" cy="485775"/>
            <a:chOff x="0" y="0"/>
            <a:chExt cx="1920278" cy="6477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920240" cy="647700"/>
            </a:xfrm>
            <a:custGeom>
              <a:avLst/>
              <a:gdLst/>
              <a:ahLst/>
              <a:cxnLst/>
              <a:rect l="l" t="t" r="r" b="b"/>
              <a:pathLst>
                <a:path w="1920240" h="6477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818640" y="0"/>
                  </a:lnTo>
                  <a:cubicBezTo>
                    <a:pt x="1874774" y="0"/>
                    <a:pt x="1920240" y="45466"/>
                    <a:pt x="1920240" y="101600"/>
                  </a:cubicBezTo>
                  <a:lnTo>
                    <a:pt x="1920240" y="546100"/>
                  </a:lnTo>
                  <a:cubicBezTo>
                    <a:pt x="1920240" y="602234"/>
                    <a:pt x="1874774" y="647700"/>
                    <a:pt x="1818640" y="647700"/>
                  </a:cubicBezTo>
                  <a:lnTo>
                    <a:pt x="101600" y="647700"/>
                  </a:lnTo>
                  <a:cubicBezTo>
                    <a:pt x="45466" y="647700"/>
                    <a:pt x="0" y="602234"/>
                    <a:pt x="0" y="546100"/>
                  </a:cubicBezTo>
                  <a:close/>
                </a:path>
              </a:pathLst>
            </a:custGeom>
            <a:solidFill>
              <a:srgbClr val="F0F5F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3021523" y="2492378"/>
            <a:ext cx="1122712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23A63"/>
                </a:solidFill>
                <a:latin typeface="Courier New"/>
                <a:ea typeface="Courier New"/>
                <a:cs typeface="Courier New"/>
                <a:sym typeface="Courier New"/>
              </a:rPr>
              <a:t>topRight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4379178" y="2381250"/>
            <a:ext cx="1714500" cy="485775"/>
            <a:chOff x="0" y="0"/>
            <a:chExt cx="2286000" cy="6477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286000" cy="647700"/>
            </a:xfrm>
            <a:custGeom>
              <a:avLst/>
              <a:gdLst/>
              <a:ahLst/>
              <a:cxnLst/>
              <a:rect l="l" t="t" r="r" b="b"/>
              <a:pathLst>
                <a:path w="2286000" h="6477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2184400" y="0"/>
                  </a:lnTo>
                  <a:cubicBezTo>
                    <a:pt x="2240534" y="0"/>
                    <a:pt x="2286000" y="45466"/>
                    <a:pt x="2286000" y="101600"/>
                  </a:cubicBezTo>
                  <a:lnTo>
                    <a:pt x="2286000" y="546100"/>
                  </a:lnTo>
                  <a:cubicBezTo>
                    <a:pt x="2286000" y="602234"/>
                    <a:pt x="2240534" y="647700"/>
                    <a:pt x="2184400" y="647700"/>
                  </a:cubicBezTo>
                  <a:lnTo>
                    <a:pt x="101600" y="647700"/>
                  </a:lnTo>
                  <a:cubicBezTo>
                    <a:pt x="45466" y="647700"/>
                    <a:pt x="0" y="602234"/>
                    <a:pt x="0" y="546100"/>
                  </a:cubicBezTo>
                  <a:close/>
                </a:path>
              </a:pathLst>
            </a:custGeom>
            <a:solidFill>
              <a:srgbClr val="F0F5F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4576031" y="2492378"/>
            <a:ext cx="1397003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23A63"/>
                </a:solidFill>
                <a:latin typeface="Courier New"/>
                <a:ea typeface="Courier New"/>
                <a:cs typeface="Courier New"/>
                <a:sym typeface="Courier New"/>
              </a:rPr>
              <a:t>centerLeft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6207978" y="2381250"/>
            <a:ext cx="1165917" cy="485775"/>
            <a:chOff x="0" y="0"/>
            <a:chExt cx="1554556" cy="6477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554607" cy="647700"/>
            </a:xfrm>
            <a:custGeom>
              <a:avLst/>
              <a:gdLst/>
              <a:ahLst/>
              <a:cxnLst/>
              <a:rect l="l" t="t" r="r" b="b"/>
              <a:pathLst>
                <a:path w="1554607" h="6477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453007" y="0"/>
                  </a:lnTo>
                  <a:cubicBezTo>
                    <a:pt x="1509141" y="0"/>
                    <a:pt x="1554607" y="45466"/>
                    <a:pt x="1554607" y="101600"/>
                  </a:cubicBezTo>
                  <a:lnTo>
                    <a:pt x="1554607" y="546100"/>
                  </a:lnTo>
                  <a:cubicBezTo>
                    <a:pt x="1554607" y="602234"/>
                    <a:pt x="1509141" y="647700"/>
                    <a:pt x="1453007" y="647700"/>
                  </a:cubicBezTo>
                  <a:lnTo>
                    <a:pt x="101600" y="647700"/>
                  </a:lnTo>
                  <a:cubicBezTo>
                    <a:pt x="45466" y="647700"/>
                    <a:pt x="0" y="602234"/>
                    <a:pt x="0" y="546100"/>
                  </a:cubicBezTo>
                  <a:close/>
                </a:path>
              </a:pathLst>
            </a:custGeom>
            <a:solidFill>
              <a:srgbClr val="F0F5F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6404831" y="2492378"/>
            <a:ext cx="848420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23A63"/>
                </a:solidFill>
                <a:latin typeface="Courier New"/>
                <a:ea typeface="Courier New"/>
                <a:cs typeface="Courier New"/>
                <a:sym typeface="Courier New"/>
              </a:rPr>
              <a:t>center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9715500" y="2981325"/>
            <a:ext cx="1851717" cy="485775"/>
            <a:chOff x="0" y="0"/>
            <a:chExt cx="2468956" cy="6477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469007" cy="647700"/>
            </a:xfrm>
            <a:custGeom>
              <a:avLst/>
              <a:gdLst/>
              <a:ahLst/>
              <a:cxnLst/>
              <a:rect l="l" t="t" r="r" b="b"/>
              <a:pathLst>
                <a:path w="2469007" h="6477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2367407" y="0"/>
                  </a:lnTo>
                  <a:cubicBezTo>
                    <a:pt x="2423541" y="0"/>
                    <a:pt x="2469007" y="45466"/>
                    <a:pt x="2469007" y="101600"/>
                  </a:cubicBezTo>
                  <a:lnTo>
                    <a:pt x="2469007" y="546100"/>
                  </a:lnTo>
                  <a:cubicBezTo>
                    <a:pt x="2469007" y="602234"/>
                    <a:pt x="2423541" y="647700"/>
                    <a:pt x="2367407" y="647700"/>
                  </a:cubicBezTo>
                  <a:lnTo>
                    <a:pt x="101600" y="647700"/>
                  </a:lnTo>
                  <a:cubicBezTo>
                    <a:pt x="45466" y="647700"/>
                    <a:pt x="0" y="602234"/>
                    <a:pt x="0" y="546100"/>
                  </a:cubicBezTo>
                  <a:close/>
                </a:path>
              </a:pathLst>
            </a:custGeom>
            <a:solidFill>
              <a:srgbClr val="F0F5F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9912353" y="3092453"/>
            <a:ext cx="1534220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23A63"/>
                </a:solidFill>
                <a:latin typeface="Courier New"/>
                <a:ea typeface="Courier New"/>
                <a:cs typeface="Courier New"/>
                <a:sym typeface="Courier New"/>
              </a:rPr>
              <a:t>centerRight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1681517" y="2981325"/>
            <a:ext cx="1714500" cy="485775"/>
            <a:chOff x="0" y="0"/>
            <a:chExt cx="2286000" cy="6477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286000" cy="647700"/>
            </a:xfrm>
            <a:custGeom>
              <a:avLst/>
              <a:gdLst/>
              <a:ahLst/>
              <a:cxnLst/>
              <a:rect l="l" t="t" r="r" b="b"/>
              <a:pathLst>
                <a:path w="2286000" h="6477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2184400" y="0"/>
                  </a:lnTo>
                  <a:cubicBezTo>
                    <a:pt x="2240534" y="0"/>
                    <a:pt x="2286000" y="45466"/>
                    <a:pt x="2286000" y="101600"/>
                  </a:cubicBezTo>
                  <a:lnTo>
                    <a:pt x="2286000" y="546100"/>
                  </a:lnTo>
                  <a:cubicBezTo>
                    <a:pt x="2286000" y="602234"/>
                    <a:pt x="2240534" y="647700"/>
                    <a:pt x="2184400" y="647700"/>
                  </a:cubicBezTo>
                  <a:lnTo>
                    <a:pt x="101600" y="647700"/>
                  </a:lnTo>
                  <a:cubicBezTo>
                    <a:pt x="45466" y="647700"/>
                    <a:pt x="0" y="602234"/>
                    <a:pt x="0" y="546100"/>
                  </a:cubicBezTo>
                  <a:close/>
                </a:path>
              </a:pathLst>
            </a:custGeom>
            <a:solidFill>
              <a:srgbClr val="F0F5F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878370" y="3092453"/>
            <a:ext cx="1397003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23A63"/>
                </a:solidFill>
                <a:latin typeface="Courier New"/>
                <a:ea typeface="Courier New"/>
                <a:cs typeface="Courier New"/>
                <a:sym typeface="Courier New"/>
              </a:rPr>
              <a:t>bottomLeft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3510317" y="2981325"/>
            <a:ext cx="1988934" cy="485775"/>
            <a:chOff x="0" y="0"/>
            <a:chExt cx="2651912" cy="6477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651887" cy="647700"/>
            </a:xfrm>
            <a:custGeom>
              <a:avLst/>
              <a:gdLst/>
              <a:ahLst/>
              <a:cxnLst/>
              <a:rect l="l" t="t" r="r" b="b"/>
              <a:pathLst>
                <a:path w="2651887" h="6477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2550287" y="0"/>
                  </a:lnTo>
                  <a:cubicBezTo>
                    <a:pt x="2606421" y="0"/>
                    <a:pt x="2651887" y="45466"/>
                    <a:pt x="2651887" y="101600"/>
                  </a:cubicBezTo>
                  <a:lnTo>
                    <a:pt x="2651887" y="546100"/>
                  </a:lnTo>
                  <a:cubicBezTo>
                    <a:pt x="2651887" y="602234"/>
                    <a:pt x="2606421" y="647700"/>
                    <a:pt x="2550287" y="647700"/>
                  </a:cubicBezTo>
                  <a:lnTo>
                    <a:pt x="101600" y="647700"/>
                  </a:lnTo>
                  <a:cubicBezTo>
                    <a:pt x="45466" y="647700"/>
                    <a:pt x="0" y="602234"/>
                    <a:pt x="0" y="546100"/>
                  </a:cubicBezTo>
                  <a:close/>
                </a:path>
              </a:pathLst>
            </a:custGeom>
            <a:solidFill>
              <a:srgbClr val="F0F5F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3707170" y="3092453"/>
            <a:ext cx="1671437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23A63"/>
                </a:solidFill>
                <a:latin typeface="Courier New"/>
                <a:ea typeface="Courier New"/>
                <a:cs typeface="Courier New"/>
                <a:sym typeface="Courier New"/>
              </a:rPr>
              <a:t>bottomCenter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9715500" y="3581400"/>
            <a:ext cx="1851717" cy="485775"/>
            <a:chOff x="0" y="0"/>
            <a:chExt cx="2468956" cy="6477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469007" cy="647700"/>
            </a:xfrm>
            <a:custGeom>
              <a:avLst/>
              <a:gdLst/>
              <a:ahLst/>
              <a:cxnLst/>
              <a:rect l="l" t="t" r="r" b="b"/>
              <a:pathLst>
                <a:path w="2469007" h="6477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2367407" y="0"/>
                  </a:lnTo>
                  <a:cubicBezTo>
                    <a:pt x="2423541" y="0"/>
                    <a:pt x="2469007" y="45466"/>
                    <a:pt x="2469007" y="101600"/>
                  </a:cubicBezTo>
                  <a:lnTo>
                    <a:pt x="2469007" y="546100"/>
                  </a:lnTo>
                  <a:cubicBezTo>
                    <a:pt x="2469007" y="602234"/>
                    <a:pt x="2423541" y="647700"/>
                    <a:pt x="2367407" y="647700"/>
                  </a:cubicBezTo>
                  <a:lnTo>
                    <a:pt x="101600" y="647700"/>
                  </a:lnTo>
                  <a:cubicBezTo>
                    <a:pt x="45466" y="647700"/>
                    <a:pt x="0" y="602234"/>
                    <a:pt x="0" y="546100"/>
                  </a:cubicBezTo>
                  <a:close/>
                </a:path>
              </a:pathLst>
            </a:custGeom>
            <a:solidFill>
              <a:srgbClr val="F0F5F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9912353" y="3692528"/>
            <a:ext cx="1534220" cy="292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23A63"/>
                </a:solidFill>
                <a:latin typeface="Courier New"/>
                <a:ea typeface="Courier New"/>
                <a:cs typeface="Courier New"/>
                <a:sym typeface="Courier New"/>
              </a:rPr>
              <a:t>bottomRight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0" y="9705975"/>
            <a:ext cx="18288000" cy="9525"/>
            <a:chOff x="0" y="0"/>
            <a:chExt cx="24384000" cy="127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4384000" cy="12700"/>
            </a:xfrm>
            <a:custGeom>
              <a:avLst/>
              <a:gdLst/>
              <a:ahLst/>
              <a:cxnLst/>
              <a:rect l="l" t="t" r="r" b="b"/>
              <a:pathLst>
                <a:path w="24384000" h="127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57250" y="9934575"/>
            <a:ext cx="133350" cy="133350"/>
            <a:chOff x="0" y="0"/>
            <a:chExt cx="177800" cy="1778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39700" y="0"/>
                  </a:lnTo>
                  <a:cubicBezTo>
                    <a:pt x="160782" y="0"/>
                    <a:pt x="177800" y="17018"/>
                    <a:pt x="177800" y="38100"/>
                  </a:cubicBezTo>
                  <a:lnTo>
                    <a:pt x="177800" y="139700"/>
                  </a:lnTo>
                  <a:cubicBezTo>
                    <a:pt x="177800" y="160782"/>
                    <a:pt x="160782" y="177800"/>
                    <a:pt x="139700" y="177800"/>
                  </a:cubicBezTo>
                  <a:lnTo>
                    <a:pt x="38100" y="177800"/>
                  </a:lnTo>
                  <a:cubicBezTo>
                    <a:pt x="17018" y="177800"/>
                    <a:pt x="0" y="160782"/>
                    <a:pt x="0" y="139700"/>
                  </a:cubicBezTo>
                  <a:close/>
                </a:path>
              </a:pathLst>
            </a:custGeom>
            <a:solidFill>
              <a:srgbClr val="F2B4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111253" y="9869491"/>
            <a:ext cx="4081920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3.2.3. Các loại Widget trong Flutter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5475991" y="9869491"/>
            <a:ext cx="2127371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https://huit.edu.vn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28750"/>
            <a:chOff x="0" y="0"/>
            <a:chExt cx="24384000" cy="190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05000"/>
            </a:xfrm>
            <a:custGeom>
              <a:avLst/>
              <a:gdLst/>
              <a:ahLst/>
              <a:cxnLst/>
              <a:rect l="l" t="t" r="r" b="b"/>
              <a:pathLst>
                <a:path w="24384000" h="1905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F5F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838200" y="0"/>
                  </a:lnTo>
                  <a:cubicBezTo>
                    <a:pt x="908304" y="0"/>
                    <a:pt x="965200" y="56896"/>
                    <a:pt x="965200" y="127000"/>
                  </a:cubicBezTo>
                  <a:lnTo>
                    <a:pt x="965200" y="838200"/>
                  </a:lnTo>
                  <a:cubicBezTo>
                    <a:pt x="965200" y="908304"/>
                    <a:pt x="908304" y="965200"/>
                    <a:pt x="838200" y="965200"/>
                  </a:cubicBezTo>
                  <a:lnTo>
                    <a:pt x="127000" y="965200"/>
                  </a:lnTo>
                  <a:cubicBezTo>
                    <a:pt x="56896" y="965200"/>
                    <a:pt x="0" y="908304"/>
                    <a:pt x="0" y="8382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0"/>
                  </a:moveTo>
                  <a:lnTo>
                    <a:pt x="965200" y="0"/>
                  </a:lnTo>
                  <a:lnTo>
                    <a:pt x="9652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73253" y="320678"/>
            <a:ext cx="3573599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144">
                <a:solidFill>
                  <a:srgbClr val="F2B400"/>
                </a:solidFill>
                <a:latin typeface="Arial Bold"/>
                <a:ea typeface="Arial Bold"/>
                <a:cs typeface="Arial Bold"/>
                <a:sym typeface="Arial Bold"/>
              </a:rPr>
              <a:t>3.2.3.1 · CONTAINER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73253" y="635003"/>
            <a:ext cx="3573599" cy="49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Ứng dụng thực tế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6506" y="2523240"/>
            <a:ext cx="7991113" cy="2925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30"/>
              </a:lnSpc>
            </a:pPr>
            <a:r>
              <a:rPr lang="en-US" sz="315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Tạo Card tùy chỉnh, Banner, Button tùy biến</a:t>
            </a:r>
          </a:p>
          <a:p>
            <a:pPr algn="l">
              <a:lnSpc>
                <a:spcPts val="4630"/>
              </a:lnSpc>
            </a:pPr>
            <a:r>
              <a:rPr lang="en-US" sz="315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Tạo khung ảnh có bo góc + đổ bóng</a:t>
            </a:r>
          </a:p>
          <a:p>
            <a:pPr algn="l">
              <a:lnSpc>
                <a:spcPts val="4630"/>
              </a:lnSpc>
            </a:pPr>
            <a:r>
              <a:rPr lang="en-US" sz="315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Tạo background gradient cho toàn màn hình</a:t>
            </a:r>
          </a:p>
          <a:p>
            <a:pPr algn="l">
              <a:lnSpc>
                <a:spcPts val="4630"/>
              </a:lnSpc>
            </a:pPr>
            <a:r>
              <a:rPr lang="en-US" sz="315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Kết hợp với GestureDetector để tạo button bấm được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105900" y="1885950"/>
            <a:ext cx="8324850" cy="4305300"/>
            <a:chOff x="0" y="0"/>
            <a:chExt cx="11099800" cy="5740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099800" cy="5740400"/>
            </a:xfrm>
            <a:custGeom>
              <a:avLst/>
              <a:gdLst/>
              <a:ahLst/>
              <a:cxnLst/>
              <a:rect l="l" t="t" r="r" b="b"/>
              <a:pathLst>
                <a:path w="11099800" h="57404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10922000" y="0"/>
                  </a:lnTo>
                  <a:cubicBezTo>
                    <a:pt x="11020171" y="0"/>
                    <a:pt x="11099800" y="79629"/>
                    <a:pt x="11099800" y="177800"/>
                  </a:cubicBezTo>
                  <a:lnTo>
                    <a:pt x="11099800" y="5562600"/>
                  </a:lnTo>
                  <a:cubicBezTo>
                    <a:pt x="11099800" y="5660771"/>
                    <a:pt x="11020171" y="5740400"/>
                    <a:pt x="10922000" y="5740400"/>
                  </a:cubicBezTo>
                  <a:lnTo>
                    <a:pt x="177800" y="5740400"/>
                  </a:lnTo>
                  <a:cubicBezTo>
                    <a:pt x="79629" y="5740400"/>
                    <a:pt x="0" y="5660771"/>
                    <a:pt x="0" y="5562600"/>
                  </a:cubicBezTo>
                  <a:close/>
                </a:path>
              </a:pathLst>
            </a:custGeom>
            <a:solidFill>
              <a:srgbClr val="101C2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436103" y="2130428"/>
            <a:ext cx="7914199" cy="3806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GestureDetector(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onTap: () =&gt; print('Đã bấm'),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child: Container(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padding: EdgeInsets.symmetric(horizontal: 24, vertical: 12),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decoration: BoxDecoration(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color: Colors.blue,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borderRadius: BorderRadius.circular(30),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),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child: Text('Nhấn vào đây', style: TextStyle(color: Colors.white)),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),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0" y="9705975"/>
            <a:ext cx="18288000" cy="9525"/>
            <a:chOff x="0" y="0"/>
            <a:chExt cx="24384000" cy="127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384000" cy="12700"/>
            </a:xfrm>
            <a:custGeom>
              <a:avLst/>
              <a:gdLst/>
              <a:ahLst/>
              <a:cxnLst/>
              <a:rect l="l" t="t" r="r" b="b"/>
              <a:pathLst>
                <a:path w="24384000" h="127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57250" y="9934575"/>
            <a:ext cx="133350" cy="133350"/>
            <a:chOff x="0" y="0"/>
            <a:chExt cx="177800" cy="177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39700" y="0"/>
                  </a:lnTo>
                  <a:cubicBezTo>
                    <a:pt x="160782" y="0"/>
                    <a:pt x="177800" y="17018"/>
                    <a:pt x="177800" y="38100"/>
                  </a:cubicBezTo>
                  <a:lnTo>
                    <a:pt x="177800" y="139700"/>
                  </a:lnTo>
                  <a:cubicBezTo>
                    <a:pt x="177800" y="160782"/>
                    <a:pt x="160782" y="177800"/>
                    <a:pt x="139700" y="177800"/>
                  </a:cubicBezTo>
                  <a:lnTo>
                    <a:pt x="38100" y="177800"/>
                  </a:lnTo>
                  <a:cubicBezTo>
                    <a:pt x="17018" y="177800"/>
                    <a:pt x="0" y="160782"/>
                    <a:pt x="0" y="139700"/>
                  </a:cubicBezTo>
                  <a:close/>
                </a:path>
              </a:pathLst>
            </a:custGeom>
            <a:solidFill>
              <a:srgbClr val="F2B4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11253" y="9869491"/>
            <a:ext cx="4081920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3.2.3. Các loại Widget trong Flutter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475991" y="9869491"/>
            <a:ext cx="2127371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https://huit.edu.vn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571500"/>
            <a:ext cx="571500" cy="571500"/>
            <a:chOff x="0" y="0"/>
            <a:chExt cx="762000" cy="762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60400" y="0"/>
                  </a:lnTo>
                  <a:cubicBezTo>
                    <a:pt x="716534" y="0"/>
                    <a:pt x="762000" y="45466"/>
                    <a:pt x="762000" y="101600"/>
                  </a:cubicBezTo>
                  <a:lnTo>
                    <a:pt x="762000" y="660400"/>
                  </a:lnTo>
                  <a:cubicBezTo>
                    <a:pt x="762000" y="716534"/>
                    <a:pt x="716534" y="762000"/>
                    <a:pt x="660400" y="762000"/>
                  </a:cubicBezTo>
                  <a:lnTo>
                    <a:pt x="101600" y="762000"/>
                  </a:lnTo>
                  <a:cubicBezTo>
                    <a:pt x="45466" y="762000"/>
                    <a:pt x="0" y="716534"/>
                    <a:pt x="0" y="6604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571500"/>
            <a:ext cx="571500" cy="571500"/>
            <a:chOff x="0" y="0"/>
            <a:chExt cx="762000" cy="762000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06553" y="725491"/>
            <a:ext cx="5627351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89">
                <a:solidFill>
                  <a:srgbClr val="CFE0F2"/>
                </a:solidFill>
                <a:latin typeface="Arial"/>
                <a:ea typeface="Arial"/>
                <a:cs typeface="Arial"/>
                <a:sym typeface="Arial"/>
              </a:rPr>
              <a:t>TRƯỜNG ĐẠI HỌC CÔNG THƯƠNG TP.HCM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58903" y="4088701"/>
            <a:ext cx="17132303" cy="349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192">
                <a:solidFill>
                  <a:srgbClr val="F2B400"/>
                </a:solidFill>
                <a:latin typeface="Arial Bold"/>
                <a:ea typeface="Arial Bold"/>
                <a:cs typeface="Arial Bold"/>
                <a:sym typeface="Arial Bold"/>
              </a:rPr>
              <a:t>3.2.3.2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58903" y="4860227"/>
            <a:ext cx="17132303" cy="7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03"/>
              </a:lnSpc>
            </a:pPr>
            <a:r>
              <a:rPr lang="en-US" sz="72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Stack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58903" y="5858418"/>
            <a:ext cx="13569953" cy="368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C9DAEA"/>
                </a:solidFill>
                <a:latin typeface="Arial"/>
                <a:ea typeface="Arial"/>
                <a:cs typeface="Arial"/>
                <a:sym typeface="Arial"/>
              </a:rPr>
              <a:t>Xếp chồng nhiều widget theo trục Z để tạo overlay, badge và hiệu ứng lớp.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0" y="10153650"/>
            <a:ext cx="18288000" cy="133350"/>
            <a:chOff x="0" y="0"/>
            <a:chExt cx="24384000" cy="177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384000" cy="177800"/>
            </a:xfrm>
            <a:custGeom>
              <a:avLst/>
              <a:gdLst/>
              <a:ahLst/>
              <a:cxnLst/>
              <a:rect l="l" t="t" r="r" b="b"/>
              <a:pathLst>
                <a:path w="24384000" h="1778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F2B400"/>
            </a:solid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28750"/>
            <a:chOff x="0" y="0"/>
            <a:chExt cx="24384000" cy="190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05000"/>
            </a:xfrm>
            <a:custGeom>
              <a:avLst/>
              <a:gdLst/>
              <a:ahLst/>
              <a:cxnLst/>
              <a:rect l="l" t="t" r="r" b="b"/>
              <a:pathLst>
                <a:path w="24384000" h="1905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F5F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838200" y="0"/>
                  </a:lnTo>
                  <a:cubicBezTo>
                    <a:pt x="908304" y="0"/>
                    <a:pt x="965200" y="56896"/>
                    <a:pt x="965200" y="127000"/>
                  </a:cubicBezTo>
                  <a:lnTo>
                    <a:pt x="965200" y="838200"/>
                  </a:lnTo>
                  <a:cubicBezTo>
                    <a:pt x="965200" y="908304"/>
                    <a:pt x="908304" y="965200"/>
                    <a:pt x="838200" y="965200"/>
                  </a:cubicBezTo>
                  <a:lnTo>
                    <a:pt x="127000" y="965200"/>
                  </a:lnTo>
                  <a:cubicBezTo>
                    <a:pt x="56896" y="965200"/>
                    <a:pt x="0" y="908304"/>
                    <a:pt x="0" y="8382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0"/>
                  </a:moveTo>
                  <a:lnTo>
                    <a:pt x="965200" y="0"/>
                  </a:lnTo>
                  <a:lnTo>
                    <a:pt x="9652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73253" y="320678"/>
            <a:ext cx="3223908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144">
                <a:solidFill>
                  <a:srgbClr val="F2B400"/>
                </a:solidFill>
                <a:latin typeface="Arial Bold"/>
                <a:ea typeface="Arial Bold"/>
                <a:cs typeface="Arial Bold"/>
                <a:sym typeface="Arial Bold"/>
              </a:rPr>
              <a:t>3.2.3.2 · STACK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73253" y="635003"/>
            <a:ext cx="3223908" cy="49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Giới thiệu Stack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6258" y="1968503"/>
            <a:ext cx="15444082" cy="530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3357" b="1">
                <a:solidFill>
                  <a:srgbClr val="123A63"/>
                </a:solidFill>
                <a:latin typeface="Arial Bold"/>
                <a:ea typeface="Arial Bold"/>
                <a:cs typeface="Arial Bold"/>
                <a:sym typeface="Arial Bold"/>
              </a:rPr>
              <a:t>Stack là gì?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5963" y="2650342"/>
            <a:ext cx="14497014" cy="2911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06"/>
              </a:lnSpc>
            </a:pPr>
            <a:r>
              <a:rPr lang="en-US" sz="3133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Widget dùng để xếp chồng (overlap) nhiều widget con lên nhau theo trục Z (chiều sâu)</a:t>
            </a:r>
          </a:p>
          <a:p>
            <a:pPr algn="l">
              <a:lnSpc>
                <a:spcPts val="4606"/>
              </a:lnSpc>
            </a:pPr>
            <a:r>
              <a:rPr lang="en-US" sz="3133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Các widget con được vẽ theo thứ tự trong children: widget đầu tiên ở dưới cùng, cuối cùng ở trên cùng</a:t>
            </a:r>
          </a:p>
          <a:p>
            <a:pPr algn="l">
              <a:lnSpc>
                <a:spcPts val="4606"/>
              </a:lnSpc>
            </a:pPr>
            <a:r>
              <a:rPr lang="en-US" sz="3133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Tương tự khái niệm "Layer" trong Photoshop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5594" y="5900192"/>
            <a:ext cx="15444082" cy="530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3357" b="1">
                <a:solidFill>
                  <a:srgbClr val="123A63"/>
                </a:solidFill>
                <a:latin typeface="Arial Bold"/>
                <a:ea typeface="Arial Bold"/>
                <a:cs typeface="Arial Bold"/>
                <a:sym typeface="Arial Bold"/>
              </a:rPr>
              <a:t>Khi nào dùng Stack?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5300" y="6582031"/>
            <a:ext cx="14497014" cy="2328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06"/>
              </a:lnSpc>
            </a:pPr>
            <a:r>
              <a:rPr lang="en-US" sz="3133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Hiển thị badge/thông báo trên icon</a:t>
            </a:r>
          </a:p>
          <a:p>
            <a:pPr algn="l">
              <a:lnSpc>
                <a:spcPts val="4606"/>
              </a:lnSpc>
            </a:pPr>
            <a:r>
              <a:rPr lang="en-US" sz="3133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Tạo hiệu ứng chữ đè lên ảnh</a:t>
            </a:r>
          </a:p>
          <a:p>
            <a:pPr algn="l">
              <a:lnSpc>
                <a:spcPts val="4606"/>
              </a:lnSpc>
            </a:pPr>
            <a:r>
              <a:rPr lang="en-US" sz="3133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Tạo nút Floating Action Button đè lên nội dung</a:t>
            </a:r>
          </a:p>
          <a:p>
            <a:pPr algn="l">
              <a:lnSpc>
                <a:spcPts val="4606"/>
              </a:lnSpc>
            </a:pPr>
            <a:r>
              <a:rPr lang="en-US" sz="3133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Thiết kế Splash screen, Card có nhãn (label)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0" y="9705975"/>
            <a:ext cx="18288000" cy="9525"/>
            <a:chOff x="0" y="0"/>
            <a:chExt cx="24384000" cy="127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384000" cy="12700"/>
            </a:xfrm>
            <a:custGeom>
              <a:avLst/>
              <a:gdLst/>
              <a:ahLst/>
              <a:cxnLst/>
              <a:rect l="l" t="t" r="r" b="b"/>
              <a:pathLst>
                <a:path w="24384000" h="127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57250" y="9934575"/>
            <a:ext cx="133350" cy="133350"/>
            <a:chOff x="0" y="0"/>
            <a:chExt cx="177800" cy="177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39700" y="0"/>
                  </a:lnTo>
                  <a:cubicBezTo>
                    <a:pt x="160782" y="0"/>
                    <a:pt x="177800" y="17018"/>
                    <a:pt x="177800" y="38100"/>
                  </a:cubicBezTo>
                  <a:lnTo>
                    <a:pt x="177800" y="139700"/>
                  </a:lnTo>
                  <a:cubicBezTo>
                    <a:pt x="177800" y="160782"/>
                    <a:pt x="160782" y="177800"/>
                    <a:pt x="139700" y="177800"/>
                  </a:cubicBezTo>
                  <a:lnTo>
                    <a:pt x="38100" y="177800"/>
                  </a:lnTo>
                  <a:cubicBezTo>
                    <a:pt x="17018" y="177800"/>
                    <a:pt x="0" y="160782"/>
                    <a:pt x="0" y="139700"/>
                  </a:cubicBezTo>
                  <a:close/>
                </a:path>
              </a:pathLst>
            </a:custGeom>
            <a:solidFill>
              <a:srgbClr val="F2B4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11253" y="9869491"/>
            <a:ext cx="4081920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3.2.3. Các loại Widget trong Flutter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475991" y="9869491"/>
            <a:ext cx="2127371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https://huit.edu.vn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28750"/>
            <a:chOff x="0" y="0"/>
            <a:chExt cx="24384000" cy="190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05000"/>
            </a:xfrm>
            <a:custGeom>
              <a:avLst/>
              <a:gdLst/>
              <a:ahLst/>
              <a:cxnLst/>
              <a:rect l="l" t="t" r="r" b="b"/>
              <a:pathLst>
                <a:path w="24384000" h="1905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F5F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838200" y="0"/>
                  </a:lnTo>
                  <a:cubicBezTo>
                    <a:pt x="908304" y="0"/>
                    <a:pt x="965200" y="56896"/>
                    <a:pt x="965200" y="127000"/>
                  </a:cubicBezTo>
                  <a:lnTo>
                    <a:pt x="965200" y="838200"/>
                  </a:lnTo>
                  <a:cubicBezTo>
                    <a:pt x="965200" y="908304"/>
                    <a:pt x="908304" y="965200"/>
                    <a:pt x="838200" y="965200"/>
                  </a:cubicBezTo>
                  <a:lnTo>
                    <a:pt x="127000" y="965200"/>
                  </a:lnTo>
                  <a:cubicBezTo>
                    <a:pt x="56896" y="965200"/>
                    <a:pt x="0" y="908304"/>
                    <a:pt x="0" y="8382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0"/>
                  </a:moveTo>
                  <a:lnTo>
                    <a:pt x="965200" y="0"/>
                  </a:lnTo>
                  <a:lnTo>
                    <a:pt x="9652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73253" y="320678"/>
            <a:ext cx="3249778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144">
                <a:solidFill>
                  <a:srgbClr val="F2B400"/>
                </a:solidFill>
                <a:latin typeface="Arial Bold"/>
                <a:ea typeface="Arial Bold"/>
                <a:cs typeface="Arial Bold"/>
                <a:sym typeface="Arial Bold"/>
              </a:rPr>
              <a:t>3.2.3.2 · STACK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73253" y="635003"/>
            <a:ext cx="3249778" cy="49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Cấu trúc cơ bản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57250" y="1885950"/>
            <a:ext cx="16573500" cy="3209925"/>
            <a:chOff x="0" y="0"/>
            <a:chExt cx="22098000" cy="42799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98000" cy="4279900"/>
            </a:xfrm>
            <a:custGeom>
              <a:avLst/>
              <a:gdLst/>
              <a:ahLst/>
              <a:cxnLst/>
              <a:rect l="l" t="t" r="r" b="b"/>
              <a:pathLst>
                <a:path w="22098000" h="42799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21920200" y="0"/>
                  </a:lnTo>
                  <a:cubicBezTo>
                    <a:pt x="22018371" y="0"/>
                    <a:pt x="22098000" y="79629"/>
                    <a:pt x="22098000" y="177800"/>
                  </a:cubicBezTo>
                  <a:lnTo>
                    <a:pt x="22098000" y="4102100"/>
                  </a:lnTo>
                  <a:cubicBezTo>
                    <a:pt x="22098000" y="4200271"/>
                    <a:pt x="22018371" y="4279900"/>
                    <a:pt x="21920200" y="4279900"/>
                  </a:cubicBezTo>
                  <a:lnTo>
                    <a:pt x="177800" y="4279900"/>
                  </a:lnTo>
                  <a:cubicBezTo>
                    <a:pt x="79629" y="4279900"/>
                    <a:pt x="0" y="4200271"/>
                    <a:pt x="0" y="4102100"/>
                  </a:cubicBezTo>
                  <a:close/>
                </a:path>
              </a:pathLst>
            </a:custGeom>
            <a:solidFill>
              <a:srgbClr val="101C2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25553" y="2168528"/>
            <a:ext cx="16334108" cy="2635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7"/>
              </a:lnSpc>
            </a:pPr>
            <a:r>
              <a:rPr lang="en-US" sz="19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Stack(</a:t>
            </a:r>
          </a:p>
          <a:p>
            <a:pPr algn="l">
              <a:lnSpc>
                <a:spcPts val="2737"/>
              </a:lnSpc>
            </a:pPr>
            <a:r>
              <a:rPr lang="en-US" sz="19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children: [</a:t>
            </a:r>
          </a:p>
          <a:p>
            <a:pPr algn="l">
              <a:lnSpc>
                <a:spcPts val="2737"/>
              </a:lnSpc>
            </a:pPr>
            <a:r>
              <a:rPr lang="en-US" sz="19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Container(width: 200, height: 200, color: Colors.blue),</a:t>
            </a:r>
          </a:p>
          <a:p>
            <a:pPr algn="l">
              <a:lnSpc>
                <a:spcPts val="2737"/>
              </a:lnSpc>
            </a:pPr>
            <a:r>
              <a:rPr lang="en-US" sz="19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Container(width: 150, height: 150, color: Colors.red),</a:t>
            </a:r>
          </a:p>
          <a:p>
            <a:pPr algn="l">
              <a:lnSpc>
                <a:spcPts val="2737"/>
              </a:lnSpc>
            </a:pPr>
            <a:r>
              <a:rPr lang="en-US" sz="19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Container(width: 100, height: 100, color: Colors.green),</a:t>
            </a:r>
          </a:p>
          <a:p>
            <a:pPr algn="l">
              <a:lnSpc>
                <a:spcPts val="2737"/>
              </a:lnSpc>
            </a:pPr>
            <a:r>
              <a:rPr lang="en-US" sz="19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],</a:t>
            </a:r>
          </a:p>
          <a:p>
            <a:pPr algn="l">
              <a:lnSpc>
                <a:spcPts val="2737"/>
              </a:lnSpc>
            </a:pPr>
            <a:r>
              <a:rPr lang="en-US" sz="19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82653" y="5340353"/>
            <a:ext cx="18180053" cy="320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Kết quả: 3 hình vuông chồng lên nhau — xanh dương dưới cùng, xanh lá trên cùng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0" y="9705975"/>
            <a:ext cx="18288000" cy="9525"/>
            <a:chOff x="0" y="0"/>
            <a:chExt cx="24384000" cy="127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384000" cy="12700"/>
            </a:xfrm>
            <a:custGeom>
              <a:avLst/>
              <a:gdLst/>
              <a:ahLst/>
              <a:cxnLst/>
              <a:rect l="l" t="t" r="r" b="b"/>
              <a:pathLst>
                <a:path w="24384000" h="127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57250" y="9934575"/>
            <a:ext cx="133350" cy="133350"/>
            <a:chOff x="0" y="0"/>
            <a:chExt cx="177800" cy="177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39700" y="0"/>
                  </a:lnTo>
                  <a:cubicBezTo>
                    <a:pt x="160782" y="0"/>
                    <a:pt x="177800" y="17018"/>
                    <a:pt x="177800" y="38100"/>
                  </a:cubicBezTo>
                  <a:lnTo>
                    <a:pt x="177800" y="139700"/>
                  </a:lnTo>
                  <a:cubicBezTo>
                    <a:pt x="177800" y="160782"/>
                    <a:pt x="160782" y="177800"/>
                    <a:pt x="139700" y="177800"/>
                  </a:cubicBezTo>
                  <a:lnTo>
                    <a:pt x="38100" y="177800"/>
                  </a:lnTo>
                  <a:cubicBezTo>
                    <a:pt x="17018" y="177800"/>
                    <a:pt x="0" y="160782"/>
                    <a:pt x="0" y="139700"/>
                  </a:cubicBezTo>
                  <a:close/>
                </a:path>
              </a:pathLst>
            </a:custGeom>
            <a:solidFill>
              <a:srgbClr val="F2B4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11253" y="9869491"/>
            <a:ext cx="4081920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3.2.3. Các loại Widget trong Flutter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475991" y="9869491"/>
            <a:ext cx="2127371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https://huit.edu.vn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28750"/>
            <a:chOff x="0" y="0"/>
            <a:chExt cx="24384000" cy="190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05000"/>
            </a:xfrm>
            <a:custGeom>
              <a:avLst/>
              <a:gdLst/>
              <a:ahLst/>
              <a:cxnLst/>
              <a:rect l="l" t="t" r="r" b="b"/>
              <a:pathLst>
                <a:path w="24384000" h="1905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F5F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838200" y="0"/>
                  </a:lnTo>
                  <a:cubicBezTo>
                    <a:pt x="908304" y="0"/>
                    <a:pt x="965200" y="56896"/>
                    <a:pt x="965200" y="127000"/>
                  </a:cubicBezTo>
                  <a:lnTo>
                    <a:pt x="965200" y="838200"/>
                  </a:lnTo>
                  <a:cubicBezTo>
                    <a:pt x="965200" y="908304"/>
                    <a:pt x="908304" y="965200"/>
                    <a:pt x="838200" y="965200"/>
                  </a:cubicBezTo>
                  <a:lnTo>
                    <a:pt x="127000" y="965200"/>
                  </a:lnTo>
                  <a:cubicBezTo>
                    <a:pt x="56896" y="965200"/>
                    <a:pt x="0" y="908304"/>
                    <a:pt x="0" y="8382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0"/>
                  </a:moveTo>
                  <a:lnTo>
                    <a:pt x="965200" y="0"/>
                  </a:lnTo>
                  <a:lnTo>
                    <a:pt x="9652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73253" y="320678"/>
            <a:ext cx="4177856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144">
                <a:solidFill>
                  <a:srgbClr val="F2B400"/>
                </a:solidFill>
                <a:latin typeface="Arial Bold"/>
                <a:ea typeface="Arial Bold"/>
                <a:cs typeface="Arial Bold"/>
                <a:sym typeface="Arial Bold"/>
              </a:rPr>
              <a:t>3.2.3.2 · STACK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73253" y="635003"/>
            <a:ext cx="4177856" cy="49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Các thuộc tính chính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57250" y="1847850"/>
            <a:ext cx="7715250" cy="561975"/>
            <a:chOff x="0" y="0"/>
            <a:chExt cx="10287000" cy="7493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287000" cy="749300"/>
            </a:xfrm>
            <a:custGeom>
              <a:avLst/>
              <a:gdLst/>
              <a:ahLst/>
              <a:cxnLst/>
              <a:rect l="l" t="t" r="r" b="b"/>
              <a:pathLst>
                <a:path w="10287000" h="749300">
                  <a:moveTo>
                    <a:pt x="0" y="0"/>
                  </a:moveTo>
                  <a:lnTo>
                    <a:pt x="10287000" y="0"/>
                  </a:lnTo>
                  <a:lnTo>
                    <a:pt x="10287000" y="749300"/>
                  </a:lnTo>
                  <a:lnTo>
                    <a:pt x="0" y="749300"/>
                  </a:lnTo>
                  <a:close/>
                </a:path>
              </a:pathLst>
            </a:custGeom>
            <a:solidFill>
              <a:srgbClr val="1F5F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47750" y="1981200"/>
            <a:ext cx="1859309" cy="333375"/>
            <a:chOff x="0" y="0"/>
            <a:chExt cx="2479078" cy="4445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79080" cy="444500"/>
            </a:xfrm>
            <a:custGeom>
              <a:avLst/>
              <a:gdLst/>
              <a:ahLst/>
              <a:cxnLst/>
              <a:rect l="l" t="t" r="r" b="b"/>
              <a:pathLst>
                <a:path w="2479080" h="444500">
                  <a:moveTo>
                    <a:pt x="0" y="0"/>
                  </a:moveTo>
                  <a:lnTo>
                    <a:pt x="2479080" y="0"/>
                  </a:lnTo>
                  <a:lnTo>
                    <a:pt x="2479080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672" b="-5867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479078" cy="463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Thuộc tính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211859" y="1981200"/>
            <a:ext cx="5336677" cy="333375"/>
            <a:chOff x="0" y="0"/>
            <a:chExt cx="7115569" cy="4445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115566" cy="444500"/>
            </a:xfrm>
            <a:custGeom>
              <a:avLst/>
              <a:gdLst/>
              <a:ahLst/>
              <a:cxnLst/>
              <a:rect l="l" t="t" r="r" b="b"/>
              <a:pathLst>
                <a:path w="7115566" h="444500">
                  <a:moveTo>
                    <a:pt x="0" y="0"/>
                  </a:moveTo>
                  <a:lnTo>
                    <a:pt x="7115566" y="0"/>
                  </a:lnTo>
                  <a:lnTo>
                    <a:pt x="7115566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1917" b="-26191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7115569" cy="463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Mô tả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57250" y="2967038"/>
            <a:ext cx="7715250" cy="9525"/>
            <a:chOff x="0" y="0"/>
            <a:chExt cx="10287000" cy="127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287000" cy="12700"/>
            </a:xfrm>
            <a:custGeom>
              <a:avLst/>
              <a:gdLst/>
              <a:ahLst/>
              <a:cxnLst/>
              <a:rect l="l" t="t" r="r" b="b"/>
              <a:pathLst>
                <a:path w="10287000" h="12700">
                  <a:moveTo>
                    <a:pt x="0" y="0"/>
                  </a:moveTo>
                  <a:lnTo>
                    <a:pt x="10287000" y="0"/>
                  </a:lnTo>
                  <a:lnTo>
                    <a:pt x="10287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47750" y="2524125"/>
            <a:ext cx="1859309" cy="376238"/>
            <a:chOff x="0" y="0"/>
            <a:chExt cx="2479078" cy="50165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479080" cy="501651"/>
            </a:xfrm>
            <a:custGeom>
              <a:avLst/>
              <a:gdLst/>
              <a:ahLst/>
              <a:cxnLst/>
              <a:rect l="l" t="t" r="r" b="b"/>
              <a:pathLst>
                <a:path w="2479080" h="501651">
                  <a:moveTo>
                    <a:pt x="0" y="0"/>
                  </a:moveTo>
                  <a:lnTo>
                    <a:pt x="2479080" y="0"/>
                  </a:lnTo>
                  <a:lnTo>
                    <a:pt x="2479080" y="501651"/>
                  </a:lnTo>
                  <a:lnTo>
                    <a:pt x="0" y="501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292" b="-462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2479078" cy="5111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23A6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children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211859" y="2524125"/>
            <a:ext cx="5336677" cy="376238"/>
            <a:chOff x="0" y="0"/>
            <a:chExt cx="7115569" cy="5016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115566" cy="501651"/>
            </a:xfrm>
            <a:custGeom>
              <a:avLst/>
              <a:gdLst/>
              <a:ahLst/>
              <a:cxnLst/>
              <a:rect l="l" t="t" r="r" b="b"/>
              <a:pathLst>
                <a:path w="7115566" h="501651">
                  <a:moveTo>
                    <a:pt x="0" y="0"/>
                  </a:moveTo>
                  <a:lnTo>
                    <a:pt x="7115566" y="0"/>
                  </a:lnTo>
                  <a:lnTo>
                    <a:pt x="7115566" y="501651"/>
                  </a:lnTo>
                  <a:lnTo>
                    <a:pt x="0" y="501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381" b="-22638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7115569" cy="520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Danh sách widget con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57250" y="2976562"/>
            <a:ext cx="7715250" cy="828675"/>
            <a:chOff x="0" y="0"/>
            <a:chExt cx="10287000" cy="11049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287000" cy="1104900"/>
            </a:xfrm>
            <a:custGeom>
              <a:avLst/>
              <a:gdLst/>
              <a:ahLst/>
              <a:cxnLst/>
              <a:rect l="l" t="t" r="r" b="b"/>
              <a:pathLst>
                <a:path w="10287000" h="1104900">
                  <a:moveTo>
                    <a:pt x="0" y="0"/>
                  </a:moveTo>
                  <a:lnTo>
                    <a:pt x="10287000" y="0"/>
                  </a:lnTo>
                  <a:lnTo>
                    <a:pt x="102870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57250" y="3795712"/>
            <a:ext cx="7715250" cy="9525"/>
            <a:chOff x="0" y="0"/>
            <a:chExt cx="10287000" cy="127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287000" cy="12700"/>
            </a:xfrm>
            <a:custGeom>
              <a:avLst/>
              <a:gdLst/>
              <a:ahLst/>
              <a:cxnLst/>
              <a:rect l="l" t="t" r="r" b="b"/>
              <a:pathLst>
                <a:path w="10287000" h="12700">
                  <a:moveTo>
                    <a:pt x="0" y="0"/>
                  </a:moveTo>
                  <a:lnTo>
                    <a:pt x="10287000" y="0"/>
                  </a:lnTo>
                  <a:lnTo>
                    <a:pt x="10287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47750" y="3090862"/>
            <a:ext cx="1859309" cy="638175"/>
            <a:chOff x="0" y="0"/>
            <a:chExt cx="2479078" cy="8509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479080" cy="850900"/>
            </a:xfrm>
            <a:custGeom>
              <a:avLst/>
              <a:gdLst/>
              <a:ahLst/>
              <a:cxnLst/>
              <a:rect l="l" t="t" r="r" b="b"/>
              <a:pathLst>
                <a:path w="2479080" h="850900">
                  <a:moveTo>
                    <a:pt x="0" y="0"/>
                  </a:moveTo>
                  <a:lnTo>
                    <a:pt x="2479080" y="0"/>
                  </a:lnTo>
                  <a:lnTo>
                    <a:pt x="2479080" y="850900"/>
                  </a:lnTo>
                  <a:lnTo>
                    <a:pt x="0" y="850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69" b="-676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2479078" cy="8604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23A6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alignment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211859" y="3090862"/>
            <a:ext cx="5336677" cy="638175"/>
            <a:chOff x="0" y="0"/>
            <a:chExt cx="7115569" cy="8509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115566" cy="850900"/>
            </a:xfrm>
            <a:custGeom>
              <a:avLst/>
              <a:gdLst/>
              <a:ahLst/>
              <a:cxnLst/>
              <a:rect l="l" t="t" r="r" b="b"/>
              <a:pathLst>
                <a:path w="7115566" h="850900">
                  <a:moveTo>
                    <a:pt x="0" y="0"/>
                  </a:moveTo>
                  <a:lnTo>
                    <a:pt x="7115566" y="0"/>
                  </a:lnTo>
                  <a:lnTo>
                    <a:pt x="7115566" y="850900"/>
                  </a:lnTo>
                  <a:lnTo>
                    <a:pt x="0" y="850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941" b="-11294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7115569" cy="869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Căn chỉnh mặc định cho widget không dùng Positioned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57250" y="4624388"/>
            <a:ext cx="7715250" cy="9525"/>
            <a:chOff x="0" y="0"/>
            <a:chExt cx="10287000" cy="127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287000" cy="12700"/>
            </a:xfrm>
            <a:custGeom>
              <a:avLst/>
              <a:gdLst/>
              <a:ahLst/>
              <a:cxnLst/>
              <a:rect l="l" t="t" r="r" b="b"/>
              <a:pathLst>
                <a:path w="10287000" h="12700">
                  <a:moveTo>
                    <a:pt x="0" y="0"/>
                  </a:moveTo>
                  <a:lnTo>
                    <a:pt x="10287000" y="0"/>
                  </a:lnTo>
                  <a:lnTo>
                    <a:pt x="10287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47750" y="3919538"/>
            <a:ext cx="1859309" cy="638175"/>
            <a:chOff x="0" y="0"/>
            <a:chExt cx="2479078" cy="8509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479080" cy="850900"/>
            </a:xfrm>
            <a:custGeom>
              <a:avLst/>
              <a:gdLst/>
              <a:ahLst/>
              <a:cxnLst/>
              <a:rect l="l" t="t" r="r" b="b"/>
              <a:pathLst>
                <a:path w="2479080" h="850900">
                  <a:moveTo>
                    <a:pt x="0" y="0"/>
                  </a:moveTo>
                  <a:lnTo>
                    <a:pt x="2479080" y="0"/>
                  </a:lnTo>
                  <a:lnTo>
                    <a:pt x="2479080" y="850900"/>
                  </a:lnTo>
                  <a:lnTo>
                    <a:pt x="0" y="850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69" b="-676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2479078" cy="8604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23A6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fit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3211859" y="3919538"/>
            <a:ext cx="5336677" cy="638175"/>
            <a:chOff x="0" y="0"/>
            <a:chExt cx="7115569" cy="8509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115566" cy="850900"/>
            </a:xfrm>
            <a:custGeom>
              <a:avLst/>
              <a:gdLst/>
              <a:ahLst/>
              <a:cxnLst/>
              <a:rect l="l" t="t" r="r" b="b"/>
              <a:pathLst>
                <a:path w="7115566" h="850900">
                  <a:moveTo>
                    <a:pt x="0" y="0"/>
                  </a:moveTo>
                  <a:lnTo>
                    <a:pt x="7115566" y="0"/>
                  </a:lnTo>
                  <a:lnTo>
                    <a:pt x="7115566" y="850900"/>
                  </a:lnTo>
                  <a:lnTo>
                    <a:pt x="0" y="850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941" b="-11294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7115569" cy="869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Cách widget con lấp đầy Stack (loose, expand, passthrough)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47750" y="4748212"/>
            <a:ext cx="1859309" cy="633412"/>
            <a:chOff x="0" y="0"/>
            <a:chExt cx="2479078" cy="84455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479080" cy="844549"/>
            </a:xfrm>
            <a:custGeom>
              <a:avLst/>
              <a:gdLst/>
              <a:ahLst/>
              <a:cxnLst/>
              <a:rect l="l" t="t" r="r" b="b"/>
              <a:pathLst>
                <a:path w="2479080" h="844549">
                  <a:moveTo>
                    <a:pt x="0" y="0"/>
                  </a:moveTo>
                  <a:lnTo>
                    <a:pt x="2479080" y="0"/>
                  </a:lnTo>
                  <a:lnTo>
                    <a:pt x="2479080" y="844549"/>
                  </a:lnTo>
                  <a:lnTo>
                    <a:pt x="0" y="8445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96" b="-719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2479078" cy="854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23A6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clipBehavior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211859" y="4748212"/>
            <a:ext cx="5336677" cy="633412"/>
            <a:chOff x="0" y="0"/>
            <a:chExt cx="7115569" cy="84455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7115566" cy="844549"/>
            </a:xfrm>
            <a:custGeom>
              <a:avLst/>
              <a:gdLst/>
              <a:ahLst/>
              <a:cxnLst/>
              <a:rect l="l" t="t" r="r" b="b"/>
              <a:pathLst>
                <a:path w="7115566" h="844549">
                  <a:moveTo>
                    <a:pt x="0" y="0"/>
                  </a:moveTo>
                  <a:lnTo>
                    <a:pt x="7115566" y="0"/>
                  </a:lnTo>
                  <a:lnTo>
                    <a:pt x="7115566" y="844549"/>
                  </a:lnTo>
                  <a:lnTo>
                    <a:pt x="0" y="8445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4166" b="-11416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7115569" cy="863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Có cắt phần widget con tràn ra ngoài Stack hay không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105900" y="1847850"/>
            <a:ext cx="8324850" cy="2590800"/>
            <a:chOff x="0" y="0"/>
            <a:chExt cx="11099800" cy="34544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1099800" cy="3454400"/>
            </a:xfrm>
            <a:custGeom>
              <a:avLst/>
              <a:gdLst/>
              <a:ahLst/>
              <a:cxnLst/>
              <a:rect l="l" t="t" r="r" b="b"/>
              <a:pathLst>
                <a:path w="11099800" h="34544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10922000" y="0"/>
                  </a:lnTo>
                  <a:cubicBezTo>
                    <a:pt x="11020171" y="0"/>
                    <a:pt x="11099800" y="79629"/>
                    <a:pt x="11099800" y="177800"/>
                  </a:cubicBezTo>
                  <a:lnTo>
                    <a:pt x="11099800" y="3276600"/>
                  </a:lnTo>
                  <a:cubicBezTo>
                    <a:pt x="11099800" y="3374771"/>
                    <a:pt x="11020171" y="3454400"/>
                    <a:pt x="10922000" y="3454400"/>
                  </a:cubicBezTo>
                  <a:lnTo>
                    <a:pt x="177800" y="3454400"/>
                  </a:lnTo>
                  <a:cubicBezTo>
                    <a:pt x="79629" y="3454400"/>
                    <a:pt x="0" y="3374771"/>
                    <a:pt x="0" y="3276600"/>
                  </a:cubicBezTo>
                  <a:close/>
                </a:path>
              </a:pathLst>
            </a:custGeom>
            <a:solidFill>
              <a:srgbClr val="101C2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9436103" y="2092328"/>
            <a:ext cx="7914199" cy="2092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Stack(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alignment: Alignment.center,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fit: StackFit.expand,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clipBehavior: Clip.hardEdge,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children: [...],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0" y="9705975"/>
            <a:ext cx="18288000" cy="9525"/>
            <a:chOff x="0" y="0"/>
            <a:chExt cx="24384000" cy="127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4384000" cy="12700"/>
            </a:xfrm>
            <a:custGeom>
              <a:avLst/>
              <a:gdLst/>
              <a:ahLst/>
              <a:cxnLst/>
              <a:rect l="l" t="t" r="r" b="b"/>
              <a:pathLst>
                <a:path w="24384000" h="127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57250" y="9934575"/>
            <a:ext cx="133350" cy="133350"/>
            <a:chOff x="0" y="0"/>
            <a:chExt cx="177800" cy="1778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39700" y="0"/>
                  </a:lnTo>
                  <a:cubicBezTo>
                    <a:pt x="160782" y="0"/>
                    <a:pt x="177800" y="17018"/>
                    <a:pt x="177800" y="38100"/>
                  </a:cubicBezTo>
                  <a:lnTo>
                    <a:pt x="177800" y="139700"/>
                  </a:lnTo>
                  <a:cubicBezTo>
                    <a:pt x="177800" y="160782"/>
                    <a:pt x="160782" y="177800"/>
                    <a:pt x="139700" y="177800"/>
                  </a:cubicBezTo>
                  <a:lnTo>
                    <a:pt x="38100" y="177800"/>
                  </a:lnTo>
                  <a:cubicBezTo>
                    <a:pt x="17018" y="177800"/>
                    <a:pt x="0" y="160782"/>
                    <a:pt x="0" y="139700"/>
                  </a:cubicBezTo>
                  <a:close/>
                </a:path>
              </a:pathLst>
            </a:custGeom>
            <a:solidFill>
              <a:srgbClr val="F2B4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111253" y="9869491"/>
            <a:ext cx="4081920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3.2.3. Các loại Widget trong Flutter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5475991" y="9869491"/>
            <a:ext cx="2127371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https://huit.edu.vn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28750"/>
            <a:chOff x="0" y="0"/>
            <a:chExt cx="24384000" cy="190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05000"/>
            </a:xfrm>
            <a:custGeom>
              <a:avLst/>
              <a:gdLst/>
              <a:ahLst/>
              <a:cxnLst/>
              <a:rect l="l" t="t" r="r" b="b"/>
              <a:pathLst>
                <a:path w="24384000" h="1905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F5F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838200" y="0"/>
                  </a:lnTo>
                  <a:cubicBezTo>
                    <a:pt x="908304" y="0"/>
                    <a:pt x="965200" y="56896"/>
                    <a:pt x="965200" y="127000"/>
                  </a:cubicBezTo>
                  <a:lnTo>
                    <a:pt x="965200" y="838200"/>
                  </a:lnTo>
                  <a:cubicBezTo>
                    <a:pt x="965200" y="908304"/>
                    <a:pt x="908304" y="965200"/>
                    <a:pt x="838200" y="965200"/>
                  </a:cubicBezTo>
                  <a:lnTo>
                    <a:pt x="127000" y="965200"/>
                  </a:lnTo>
                  <a:cubicBezTo>
                    <a:pt x="56896" y="965200"/>
                    <a:pt x="0" y="908304"/>
                    <a:pt x="0" y="8382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0"/>
                  </a:moveTo>
                  <a:lnTo>
                    <a:pt x="965200" y="0"/>
                  </a:lnTo>
                  <a:lnTo>
                    <a:pt x="9652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73253" y="320678"/>
            <a:ext cx="3665115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144">
                <a:solidFill>
                  <a:srgbClr val="F2B400"/>
                </a:solidFill>
                <a:latin typeface="Arial Bold"/>
                <a:ea typeface="Arial Bold"/>
                <a:cs typeface="Arial Bold"/>
                <a:sym typeface="Arial Bold"/>
              </a:rPr>
              <a:t>3.2.3.2 · STACK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73253" y="635003"/>
            <a:ext cx="3665115" cy="49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Widget Positioned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2653" y="1778003"/>
            <a:ext cx="18180053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Positioned định vị chính xác widget con bên trong Stack (chỉ hoạt động trong Stack): top, bottom, left, right, width, height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857250" y="2219325"/>
            <a:ext cx="16573500" cy="7296150"/>
            <a:chOff x="0" y="0"/>
            <a:chExt cx="22098000" cy="9728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098000" cy="9728200"/>
            </a:xfrm>
            <a:custGeom>
              <a:avLst/>
              <a:gdLst/>
              <a:ahLst/>
              <a:cxnLst/>
              <a:rect l="l" t="t" r="r" b="b"/>
              <a:pathLst>
                <a:path w="22098000" h="97282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21920200" y="0"/>
                  </a:lnTo>
                  <a:cubicBezTo>
                    <a:pt x="22018371" y="0"/>
                    <a:pt x="22098000" y="79629"/>
                    <a:pt x="22098000" y="177800"/>
                  </a:cubicBezTo>
                  <a:lnTo>
                    <a:pt x="22098000" y="9550400"/>
                  </a:lnTo>
                  <a:cubicBezTo>
                    <a:pt x="22098000" y="9648571"/>
                    <a:pt x="22018371" y="9728200"/>
                    <a:pt x="21920200" y="9728200"/>
                  </a:cubicBezTo>
                  <a:lnTo>
                    <a:pt x="177800" y="9728200"/>
                  </a:lnTo>
                  <a:cubicBezTo>
                    <a:pt x="79629" y="9728200"/>
                    <a:pt x="0" y="9648571"/>
                    <a:pt x="0" y="9550400"/>
                  </a:cubicBezTo>
                  <a:close/>
                </a:path>
              </a:pathLst>
            </a:custGeom>
            <a:solidFill>
              <a:srgbClr val="101C2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87453" y="2416178"/>
            <a:ext cx="16410308" cy="6883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Stack(</a:t>
            </a:r>
          </a:p>
          <a:p>
            <a:pPr algn="l">
              <a:lnSpc>
                <a:spcPts val="2474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children: [</a:t>
            </a:r>
          </a:p>
          <a:p>
            <a:pPr algn="l">
              <a:lnSpc>
                <a:spcPts val="2474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Container(width: 200, height: 200, color: Colors.grey[300]),</a:t>
            </a:r>
          </a:p>
          <a:p>
            <a:pPr algn="l">
              <a:lnSpc>
                <a:spcPts val="2474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Positioned(</a:t>
            </a:r>
          </a:p>
          <a:p>
            <a:pPr algn="l">
              <a:lnSpc>
                <a:spcPts val="2474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top: 10, right: 10,</a:t>
            </a:r>
          </a:p>
          <a:p>
            <a:pPr algn="l">
              <a:lnSpc>
                <a:spcPts val="2474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child: Icon(Icons.favorite, color: Colors.red),</a:t>
            </a:r>
          </a:p>
          <a:p>
            <a:pPr algn="l">
              <a:lnSpc>
                <a:spcPts val="2474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),</a:t>
            </a:r>
          </a:p>
          <a:p>
            <a:pPr algn="l">
              <a:lnSpc>
                <a:spcPts val="2474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Positioned(</a:t>
            </a:r>
          </a:p>
          <a:p>
            <a:pPr algn="l">
              <a:lnSpc>
                <a:spcPts val="2474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bottom: 0, left: 0, right: 0,</a:t>
            </a:r>
          </a:p>
          <a:p>
            <a:pPr algn="l">
              <a:lnSpc>
                <a:spcPts val="2474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child: Container(</a:t>
            </a:r>
          </a:p>
          <a:p>
            <a:pPr algn="l">
              <a:lnSpc>
                <a:spcPts val="2474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color: Colors.black54,</a:t>
            </a:r>
          </a:p>
          <a:p>
            <a:pPr algn="l">
              <a:lnSpc>
                <a:spcPts val="2474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padding: EdgeInsets.all(8),</a:t>
            </a:r>
          </a:p>
          <a:p>
            <a:pPr algn="l">
              <a:lnSpc>
                <a:spcPts val="2474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child: Text('Nhãn', style: TextStyle(color: Colors.white)),</a:t>
            </a:r>
          </a:p>
          <a:p>
            <a:pPr algn="l">
              <a:lnSpc>
                <a:spcPts val="2474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),</a:t>
            </a:r>
          </a:p>
          <a:p>
            <a:pPr algn="l">
              <a:lnSpc>
                <a:spcPts val="2474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),</a:t>
            </a:r>
          </a:p>
          <a:p>
            <a:pPr algn="l">
              <a:lnSpc>
                <a:spcPts val="2474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],</a:t>
            </a:r>
          </a:p>
          <a:p>
            <a:pPr algn="l">
              <a:lnSpc>
                <a:spcPts val="2474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0" y="9705975"/>
            <a:ext cx="18288000" cy="9525"/>
            <a:chOff x="0" y="0"/>
            <a:chExt cx="24384000" cy="127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384000" cy="12700"/>
            </a:xfrm>
            <a:custGeom>
              <a:avLst/>
              <a:gdLst/>
              <a:ahLst/>
              <a:cxnLst/>
              <a:rect l="l" t="t" r="r" b="b"/>
              <a:pathLst>
                <a:path w="24384000" h="127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57250" y="9934575"/>
            <a:ext cx="133350" cy="133350"/>
            <a:chOff x="0" y="0"/>
            <a:chExt cx="177800" cy="177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39700" y="0"/>
                  </a:lnTo>
                  <a:cubicBezTo>
                    <a:pt x="160782" y="0"/>
                    <a:pt x="177800" y="17018"/>
                    <a:pt x="177800" y="38100"/>
                  </a:cubicBezTo>
                  <a:lnTo>
                    <a:pt x="177800" y="139700"/>
                  </a:lnTo>
                  <a:cubicBezTo>
                    <a:pt x="177800" y="160782"/>
                    <a:pt x="160782" y="177800"/>
                    <a:pt x="139700" y="177800"/>
                  </a:cubicBezTo>
                  <a:lnTo>
                    <a:pt x="38100" y="177800"/>
                  </a:lnTo>
                  <a:cubicBezTo>
                    <a:pt x="17018" y="177800"/>
                    <a:pt x="0" y="160782"/>
                    <a:pt x="0" y="139700"/>
                  </a:cubicBezTo>
                  <a:close/>
                </a:path>
              </a:pathLst>
            </a:custGeom>
            <a:solidFill>
              <a:srgbClr val="F2B4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11253" y="9869491"/>
            <a:ext cx="4081920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3.2.3. Các loại Widget trong Flutter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475991" y="9869491"/>
            <a:ext cx="2127371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https://huit.edu.vn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28750"/>
            <a:chOff x="0" y="0"/>
            <a:chExt cx="24384000" cy="190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05000"/>
            </a:xfrm>
            <a:custGeom>
              <a:avLst/>
              <a:gdLst/>
              <a:ahLst/>
              <a:cxnLst/>
              <a:rect l="l" t="t" r="r" b="b"/>
              <a:pathLst>
                <a:path w="24384000" h="1905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F5F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838200" y="0"/>
                  </a:lnTo>
                  <a:cubicBezTo>
                    <a:pt x="908304" y="0"/>
                    <a:pt x="965200" y="56896"/>
                    <a:pt x="965200" y="127000"/>
                  </a:cubicBezTo>
                  <a:lnTo>
                    <a:pt x="965200" y="838200"/>
                  </a:lnTo>
                  <a:cubicBezTo>
                    <a:pt x="965200" y="908304"/>
                    <a:pt x="908304" y="965200"/>
                    <a:pt x="838200" y="965200"/>
                  </a:cubicBezTo>
                  <a:lnTo>
                    <a:pt x="127000" y="965200"/>
                  </a:lnTo>
                  <a:cubicBezTo>
                    <a:pt x="56896" y="965200"/>
                    <a:pt x="0" y="908304"/>
                    <a:pt x="0" y="8382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0"/>
                  </a:moveTo>
                  <a:lnTo>
                    <a:pt x="965200" y="0"/>
                  </a:lnTo>
                  <a:lnTo>
                    <a:pt x="9652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73253" y="320678"/>
            <a:ext cx="6536436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144">
                <a:solidFill>
                  <a:srgbClr val="F2B400"/>
                </a:solidFill>
                <a:latin typeface="Arial Bold"/>
                <a:ea typeface="Arial Bold"/>
                <a:cs typeface="Arial Bold"/>
                <a:sym typeface="Arial Bold"/>
              </a:rPr>
              <a:t>3.2.3.2 · STACK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73253" y="635003"/>
            <a:ext cx="6536436" cy="49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Ví dụ thực tế — Badge trên icon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57250" y="1771650"/>
            <a:ext cx="16573500" cy="7296150"/>
            <a:chOff x="0" y="0"/>
            <a:chExt cx="22098000" cy="9728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98000" cy="9728200"/>
            </a:xfrm>
            <a:custGeom>
              <a:avLst/>
              <a:gdLst/>
              <a:ahLst/>
              <a:cxnLst/>
              <a:rect l="l" t="t" r="r" b="b"/>
              <a:pathLst>
                <a:path w="22098000" h="97282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21920200" y="0"/>
                  </a:lnTo>
                  <a:cubicBezTo>
                    <a:pt x="22018371" y="0"/>
                    <a:pt x="22098000" y="79629"/>
                    <a:pt x="22098000" y="177800"/>
                  </a:cubicBezTo>
                  <a:lnTo>
                    <a:pt x="22098000" y="9550400"/>
                  </a:lnTo>
                  <a:cubicBezTo>
                    <a:pt x="22098000" y="9648571"/>
                    <a:pt x="22018371" y="9728200"/>
                    <a:pt x="21920200" y="9728200"/>
                  </a:cubicBezTo>
                  <a:lnTo>
                    <a:pt x="177800" y="9728200"/>
                  </a:lnTo>
                  <a:cubicBezTo>
                    <a:pt x="79629" y="9728200"/>
                    <a:pt x="0" y="9648571"/>
                    <a:pt x="0" y="9550400"/>
                  </a:cubicBezTo>
                  <a:close/>
                </a:path>
              </a:pathLst>
            </a:custGeom>
            <a:solidFill>
              <a:srgbClr val="101C2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87453" y="1987553"/>
            <a:ext cx="16410308" cy="6845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Stack(</a:t>
            </a:r>
          </a:p>
          <a:p>
            <a:pPr algn="l">
              <a:lnSpc>
                <a:spcPts val="2600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clipBehavior: Clip.none,</a:t>
            </a:r>
          </a:p>
          <a:p>
            <a:pPr algn="l">
              <a:lnSpc>
                <a:spcPts val="2600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children: [</a:t>
            </a:r>
          </a:p>
          <a:p>
            <a:pPr algn="l">
              <a:lnSpc>
                <a:spcPts val="2600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Icon(Icons.notifications, size: 40),</a:t>
            </a:r>
          </a:p>
          <a:p>
            <a:pPr algn="l">
              <a:lnSpc>
                <a:spcPts val="2600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Positioned(</a:t>
            </a:r>
          </a:p>
          <a:p>
            <a:pPr algn="l">
              <a:lnSpc>
                <a:spcPts val="2600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top: -4, right: -4,</a:t>
            </a:r>
          </a:p>
          <a:p>
            <a:pPr algn="l">
              <a:lnSpc>
                <a:spcPts val="2600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child: Container(</a:t>
            </a:r>
          </a:p>
          <a:p>
            <a:pPr algn="l">
              <a:lnSpc>
                <a:spcPts val="2600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padding: EdgeInsets.all(4),</a:t>
            </a:r>
          </a:p>
          <a:p>
            <a:pPr algn="l">
              <a:lnSpc>
                <a:spcPts val="2600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decoration: BoxDecoration(color: Colors.red, shape: BoxShape.circle),</a:t>
            </a:r>
          </a:p>
          <a:p>
            <a:pPr algn="l">
              <a:lnSpc>
                <a:spcPts val="2600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constraints: BoxConstraints(minWidth: 18, minHeight: 18),</a:t>
            </a:r>
          </a:p>
          <a:p>
            <a:pPr algn="l">
              <a:lnSpc>
                <a:spcPts val="2600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child: Text('9', style: TextStyle(color: Colors.white, fontSize: 10), textAlign: TextAlign.center),</a:t>
            </a:r>
          </a:p>
          <a:p>
            <a:pPr algn="l">
              <a:lnSpc>
                <a:spcPts val="2600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),</a:t>
            </a:r>
          </a:p>
          <a:p>
            <a:pPr algn="l">
              <a:lnSpc>
                <a:spcPts val="2600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),</a:t>
            </a:r>
          </a:p>
          <a:p>
            <a:pPr algn="l">
              <a:lnSpc>
                <a:spcPts val="2600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],</a:t>
            </a:r>
          </a:p>
          <a:p>
            <a:pPr algn="l">
              <a:lnSpc>
                <a:spcPts val="2600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82653" y="9226553"/>
            <a:ext cx="18180053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Đây là pattern rất phổ biến để hiển thị số thông báo chưa đọc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0" y="9705975"/>
            <a:ext cx="18288000" cy="9525"/>
            <a:chOff x="0" y="0"/>
            <a:chExt cx="24384000" cy="127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384000" cy="12700"/>
            </a:xfrm>
            <a:custGeom>
              <a:avLst/>
              <a:gdLst/>
              <a:ahLst/>
              <a:cxnLst/>
              <a:rect l="l" t="t" r="r" b="b"/>
              <a:pathLst>
                <a:path w="24384000" h="127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57250" y="9934575"/>
            <a:ext cx="133350" cy="133350"/>
            <a:chOff x="0" y="0"/>
            <a:chExt cx="177800" cy="177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39700" y="0"/>
                  </a:lnTo>
                  <a:cubicBezTo>
                    <a:pt x="160782" y="0"/>
                    <a:pt x="177800" y="17018"/>
                    <a:pt x="177800" y="38100"/>
                  </a:cubicBezTo>
                  <a:lnTo>
                    <a:pt x="177800" y="139700"/>
                  </a:lnTo>
                  <a:cubicBezTo>
                    <a:pt x="177800" y="160782"/>
                    <a:pt x="160782" y="177800"/>
                    <a:pt x="139700" y="177800"/>
                  </a:cubicBezTo>
                  <a:lnTo>
                    <a:pt x="38100" y="177800"/>
                  </a:lnTo>
                  <a:cubicBezTo>
                    <a:pt x="17018" y="177800"/>
                    <a:pt x="0" y="160782"/>
                    <a:pt x="0" y="139700"/>
                  </a:cubicBezTo>
                  <a:close/>
                </a:path>
              </a:pathLst>
            </a:custGeom>
            <a:solidFill>
              <a:srgbClr val="F2B4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11253" y="9869491"/>
            <a:ext cx="4081920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3.2.3. Các loại Widget trong Flutter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475991" y="9869491"/>
            <a:ext cx="2127371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https://huit.edu.vn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28750"/>
            <a:chOff x="0" y="0"/>
            <a:chExt cx="24384000" cy="190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05000"/>
            </a:xfrm>
            <a:custGeom>
              <a:avLst/>
              <a:gdLst/>
              <a:ahLst/>
              <a:cxnLst/>
              <a:rect l="l" t="t" r="r" b="b"/>
              <a:pathLst>
                <a:path w="24384000" h="1905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F5F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838200" y="0"/>
                  </a:lnTo>
                  <a:cubicBezTo>
                    <a:pt x="908304" y="0"/>
                    <a:pt x="965200" y="56896"/>
                    <a:pt x="965200" y="127000"/>
                  </a:cubicBezTo>
                  <a:lnTo>
                    <a:pt x="965200" y="838200"/>
                  </a:lnTo>
                  <a:cubicBezTo>
                    <a:pt x="965200" y="908304"/>
                    <a:pt x="908304" y="965200"/>
                    <a:pt x="838200" y="965200"/>
                  </a:cubicBezTo>
                  <a:lnTo>
                    <a:pt x="127000" y="965200"/>
                  </a:lnTo>
                  <a:cubicBezTo>
                    <a:pt x="56896" y="965200"/>
                    <a:pt x="0" y="908304"/>
                    <a:pt x="0" y="8382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0"/>
                  </a:moveTo>
                  <a:lnTo>
                    <a:pt x="965200" y="0"/>
                  </a:lnTo>
                  <a:lnTo>
                    <a:pt x="9652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73253" y="320678"/>
            <a:ext cx="6740909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144">
                <a:solidFill>
                  <a:srgbClr val="F2B400"/>
                </a:solidFill>
                <a:latin typeface="Arial Bold"/>
                <a:ea typeface="Arial Bold"/>
                <a:cs typeface="Arial Bold"/>
                <a:sym typeface="Arial Bold"/>
              </a:rPr>
              <a:t>3.2.3.2 · STACK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73253" y="635003"/>
            <a:ext cx="6740909" cy="49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Ảnh có chữ đè lên (Card overlay)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57250" y="1809750"/>
            <a:ext cx="16573500" cy="7610475"/>
            <a:chOff x="0" y="0"/>
            <a:chExt cx="22098000" cy="101473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98000" cy="10147300"/>
            </a:xfrm>
            <a:custGeom>
              <a:avLst/>
              <a:gdLst/>
              <a:ahLst/>
              <a:cxnLst/>
              <a:rect l="l" t="t" r="r" b="b"/>
              <a:pathLst>
                <a:path w="22098000" h="101473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21920200" y="0"/>
                  </a:lnTo>
                  <a:cubicBezTo>
                    <a:pt x="22018371" y="0"/>
                    <a:pt x="22098000" y="79629"/>
                    <a:pt x="22098000" y="177800"/>
                  </a:cubicBezTo>
                  <a:lnTo>
                    <a:pt x="22098000" y="9969500"/>
                  </a:lnTo>
                  <a:cubicBezTo>
                    <a:pt x="22098000" y="10067671"/>
                    <a:pt x="22018371" y="10147300"/>
                    <a:pt x="21920200" y="10147300"/>
                  </a:cubicBezTo>
                  <a:lnTo>
                    <a:pt x="177800" y="10147300"/>
                  </a:lnTo>
                  <a:cubicBezTo>
                    <a:pt x="79629" y="10147300"/>
                    <a:pt x="0" y="10067671"/>
                    <a:pt x="0" y="9969500"/>
                  </a:cubicBezTo>
                  <a:close/>
                </a:path>
              </a:pathLst>
            </a:custGeom>
            <a:solidFill>
              <a:srgbClr val="101C2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87453" y="2044703"/>
            <a:ext cx="16410308" cy="7121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5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Stack(</a:t>
            </a:r>
          </a:p>
          <a:p>
            <a:pPr algn="l">
              <a:lnSpc>
                <a:spcPts val="2655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children: [</a:t>
            </a:r>
          </a:p>
          <a:p>
            <a:pPr algn="l">
              <a:lnSpc>
                <a:spcPts val="2655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ClipRRect(</a:t>
            </a:r>
          </a:p>
          <a:p>
            <a:pPr algn="l">
              <a:lnSpc>
                <a:spcPts val="2655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borderRadius: BorderRadius.circular(12),</a:t>
            </a:r>
          </a:p>
          <a:p>
            <a:pPr algn="l">
              <a:lnSpc>
                <a:spcPts val="2655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child: Image.network('https://...', height: 200, fit: BoxFit.cover, width: double.infinity),</a:t>
            </a:r>
          </a:p>
          <a:p>
            <a:pPr algn="l">
              <a:lnSpc>
                <a:spcPts val="2655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),</a:t>
            </a:r>
          </a:p>
          <a:p>
            <a:pPr algn="l">
              <a:lnSpc>
                <a:spcPts val="2655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Positioned(</a:t>
            </a:r>
          </a:p>
          <a:p>
            <a:pPr algn="l">
              <a:lnSpc>
                <a:spcPts val="2655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bottom: 0, left: 0, right: 0,</a:t>
            </a:r>
          </a:p>
          <a:p>
            <a:pPr algn="l">
              <a:lnSpc>
                <a:spcPts val="2655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child: Container(</a:t>
            </a:r>
          </a:p>
          <a:p>
            <a:pPr algn="l">
              <a:lnSpc>
                <a:spcPts val="2655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padding: EdgeInsets.all(12),</a:t>
            </a:r>
          </a:p>
          <a:p>
            <a:pPr algn="l">
              <a:lnSpc>
                <a:spcPts val="2655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decoration: BoxDecoration(</a:t>
            </a:r>
          </a:p>
          <a:p>
            <a:pPr algn="l">
              <a:lnSpc>
                <a:spcPts val="2655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gradient: LinearGradient(begin: Alignment.topCenter, end: Alignment.bottomCenter,</a:t>
            </a:r>
          </a:p>
          <a:p>
            <a:pPr algn="l">
              <a:lnSpc>
                <a:spcPts val="2655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colors: [Colors.transparent, Colors.black87]),</a:t>
            </a:r>
          </a:p>
          <a:p>
            <a:pPr algn="l">
              <a:lnSpc>
                <a:spcPts val="2655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),</a:t>
            </a:r>
          </a:p>
          <a:p>
            <a:pPr algn="l">
              <a:lnSpc>
                <a:spcPts val="2655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child: Text('Tiêu đề bài viết', style: TextStyle(color: Colors.white, fontSize: 18)),</a:t>
            </a:r>
          </a:p>
          <a:p>
            <a:pPr algn="l">
              <a:lnSpc>
                <a:spcPts val="2655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),</a:t>
            </a:r>
          </a:p>
          <a:p>
            <a:pPr algn="l">
              <a:lnSpc>
                <a:spcPts val="2655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),</a:t>
            </a:r>
          </a:p>
          <a:p>
            <a:pPr algn="l">
              <a:lnSpc>
                <a:spcPts val="2655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],</a:t>
            </a:r>
          </a:p>
          <a:p>
            <a:pPr algn="l">
              <a:lnSpc>
                <a:spcPts val="2655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0" y="9705975"/>
            <a:ext cx="18288000" cy="9525"/>
            <a:chOff x="0" y="0"/>
            <a:chExt cx="24384000" cy="127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384000" cy="12700"/>
            </a:xfrm>
            <a:custGeom>
              <a:avLst/>
              <a:gdLst/>
              <a:ahLst/>
              <a:cxnLst/>
              <a:rect l="l" t="t" r="r" b="b"/>
              <a:pathLst>
                <a:path w="24384000" h="127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57250" y="9934575"/>
            <a:ext cx="133350" cy="133350"/>
            <a:chOff x="0" y="0"/>
            <a:chExt cx="177800" cy="177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39700" y="0"/>
                  </a:lnTo>
                  <a:cubicBezTo>
                    <a:pt x="160782" y="0"/>
                    <a:pt x="177800" y="17018"/>
                    <a:pt x="177800" y="38100"/>
                  </a:cubicBezTo>
                  <a:lnTo>
                    <a:pt x="177800" y="139700"/>
                  </a:lnTo>
                  <a:cubicBezTo>
                    <a:pt x="177800" y="160782"/>
                    <a:pt x="160782" y="177800"/>
                    <a:pt x="139700" y="177800"/>
                  </a:cubicBezTo>
                  <a:lnTo>
                    <a:pt x="38100" y="177800"/>
                  </a:lnTo>
                  <a:cubicBezTo>
                    <a:pt x="17018" y="177800"/>
                    <a:pt x="0" y="160782"/>
                    <a:pt x="0" y="139700"/>
                  </a:cubicBezTo>
                  <a:close/>
                </a:path>
              </a:pathLst>
            </a:custGeom>
            <a:solidFill>
              <a:srgbClr val="F2B4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11253" y="9869491"/>
            <a:ext cx="4081920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3.2.3. Các loại Widget trong Flutter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475991" y="9869491"/>
            <a:ext cx="2127371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https://huit.edu.vn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28750"/>
            <a:chOff x="0" y="0"/>
            <a:chExt cx="24384000" cy="190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05000"/>
            </a:xfrm>
            <a:custGeom>
              <a:avLst/>
              <a:gdLst/>
              <a:ahLst/>
              <a:cxnLst/>
              <a:rect l="l" t="t" r="r" b="b"/>
              <a:pathLst>
                <a:path w="24384000" h="1905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F5F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838200" y="0"/>
                  </a:lnTo>
                  <a:cubicBezTo>
                    <a:pt x="908304" y="0"/>
                    <a:pt x="965200" y="56896"/>
                    <a:pt x="965200" y="127000"/>
                  </a:cubicBezTo>
                  <a:lnTo>
                    <a:pt x="965200" y="838200"/>
                  </a:lnTo>
                  <a:cubicBezTo>
                    <a:pt x="965200" y="908304"/>
                    <a:pt x="908304" y="965200"/>
                    <a:pt x="838200" y="965200"/>
                  </a:cubicBezTo>
                  <a:lnTo>
                    <a:pt x="127000" y="965200"/>
                  </a:lnTo>
                  <a:cubicBezTo>
                    <a:pt x="56896" y="965200"/>
                    <a:pt x="0" y="908304"/>
                    <a:pt x="0" y="8382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0"/>
                  </a:moveTo>
                  <a:lnTo>
                    <a:pt x="965200" y="0"/>
                  </a:lnTo>
                  <a:lnTo>
                    <a:pt x="9652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73253" y="320678"/>
            <a:ext cx="2742762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144">
                <a:solidFill>
                  <a:srgbClr val="F2B400"/>
                </a:solidFill>
                <a:latin typeface="Arial Bold"/>
                <a:ea typeface="Arial Bold"/>
                <a:cs typeface="Arial Bold"/>
                <a:sym typeface="Arial Bold"/>
              </a:rPr>
              <a:t>3.2.3.2 · STACK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73253" y="635003"/>
            <a:ext cx="2742762" cy="49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IndexedStack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6607" y="3535248"/>
            <a:ext cx="8063019" cy="3085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2479" lvl="1" indent="-301240" algn="l">
              <a:lnSpc>
                <a:spcPts val="4102"/>
              </a:lnSpc>
              <a:buFont typeface="Arial"/>
              <a:buChar char="•"/>
            </a:pPr>
            <a:r>
              <a:rPr lang="en-US" sz="279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Biến thể của Stack, chỉ hiển thị một widget con tại một thời điểm (theo index)</a:t>
            </a:r>
          </a:p>
          <a:p>
            <a:pPr marL="602479" lvl="1" indent="-301240" algn="l">
              <a:lnSpc>
                <a:spcPts val="4102"/>
              </a:lnSpc>
              <a:buFont typeface="Arial"/>
              <a:buChar char="•"/>
            </a:pPr>
            <a:r>
              <a:rPr lang="en-US" sz="279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Các widget khác vẫn tồn tại trong cây widget (giữ trạng thái) nhưng bị ẩn</a:t>
            </a:r>
          </a:p>
          <a:p>
            <a:pPr marL="602479" lvl="1" indent="-301240" algn="l">
              <a:lnSpc>
                <a:spcPts val="4102"/>
              </a:lnSpc>
              <a:buFont typeface="Arial"/>
              <a:buChar char="•"/>
            </a:pPr>
            <a:r>
              <a:rPr lang="en-US" sz="279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Thường dùng cho BottomNavigationBar để giữ state khi chuyển tab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186543" y="3397253"/>
            <a:ext cx="8324850" cy="3505200"/>
            <a:chOff x="0" y="0"/>
            <a:chExt cx="11099800" cy="4673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099800" cy="4673600"/>
            </a:xfrm>
            <a:custGeom>
              <a:avLst/>
              <a:gdLst/>
              <a:ahLst/>
              <a:cxnLst/>
              <a:rect l="l" t="t" r="r" b="b"/>
              <a:pathLst>
                <a:path w="11099800" h="46736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10922000" y="0"/>
                  </a:lnTo>
                  <a:cubicBezTo>
                    <a:pt x="11020171" y="0"/>
                    <a:pt x="11099800" y="79629"/>
                    <a:pt x="11099800" y="177800"/>
                  </a:cubicBezTo>
                  <a:lnTo>
                    <a:pt x="11099800" y="4495800"/>
                  </a:lnTo>
                  <a:cubicBezTo>
                    <a:pt x="11099800" y="4593971"/>
                    <a:pt x="11020171" y="4673600"/>
                    <a:pt x="10922000" y="4673600"/>
                  </a:cubicBezTo>
                  <a:lnTo>
                    <a:pt x="177800" y="4673600"/>
                  </a:lnTo>
                  <a:cubicBezTo>
                    <a:pt x="79629" y="4673600"/>
                    <a:pt x="0" y="4593971"/>
                    <a:pt x="0" y="4495800"/>
                  </a:cubicBezTo>
                  <a:close/>
                </a:path>
              </a:pathLst>
            </a:custGeom>
            <a:solidFill>
              <a:srgbClr val="101C2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516747" y="3641731"/>
            <a:ext cx="7914199" cy="3006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7"/>
              </a:lnSpc>
            </a:pPr>
            <a:r>
              <a:rPr lang="en-US" sz="19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IndexedStack(</a:t>
            </a:r>
          </a:p>
          <a:p>
            <a:pPr algn="l">
              <a:lnSpc>
                <a:spcPts val="2737"/>
              </a:lnSpc>
            </a:pPr>
            <a:r>
              <a:rPr lang="en-US" sz="19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index: _currentIndex,</a:t>
            </a:r>
          </a:p>
          <a:p>
            <a:pPr algn="l">
              <a:lnSpc>
                <a:spcPts val="2737"/>
              </a:lnSpc>
            </a:pPr>
            <a:r>
              <a:rPr lang="en-US" sz="19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children: [</a:t>
            </a:r>
          </a:p>
          <a:p>
            <a:pPr algn="l">
              <a:lnSpc>
                <a:spcPts val="2737"/>
              </a:lnSpc>
            </a:pPr>
            <a:r>
              <a:rPr lang="en-US" sz="19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HomeScreen(),</a:t>
            </a:r>
          </a:p>
          <a:p>
            <a:pPr algn="l">
              <a:lnSpc>
                <a:spcPts val="2737"/>
              </a:lnSpc>
            </a:pPr>
            <a:r>
              <a:rPr lang="en-US" sz="19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SearchScreen(),</a:t>
            </a:r>
          </a:p>
          <a:p>
            <a:pPr algn="l">
              <a:lnSpc>
                <a:spcPts val="2737"/>
              </a:lnSpc>
            </a:pPr>
            <a:r>
              <a:rPr lang="en-US" sz="19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ProfileScreen(),</a:t>
            </a:r>
          </a:p>
          <a:p>
            <a:pPr algn="l">
              <a:lnSpc>
                <a:spcPts val="2737"/>
              </a:lnSpc>
            </a:pPr>
            <a:r>
              <a:rPr lang="en-US" sz="19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],</a:t>
            </a:r>
          </a:p>
          <a:p>
            <a:pPr algn="l">
              <a:lnSpc>
                <a:spcPts val="2737"/>
              </a:lnSpc>
            </a:pPr>
            <a:r>
              <a:rPr lang="en-US" sz="19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0" y="9705975"/>
            <a:ext cx="18288000" cy="9525"/>
            <a:chOff x="0" y="0"/>
            <a:chExt cx="24384000" cy="127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384000" cy="12700"/>
            </a:xfrm>
            <a:custGeom>
              <a:avLst/>
              <a:gdLst/>
              <a:ahLst/>
              <a:cxnLst/>
              <a:rect l="l" t="t" r="r" b="b"/>
              <a:pathLst>
                <a:path w="24384000" h="127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57250" y="9934575"/>
            <a:ext cx="133350" cy="133350"/>
            <a:chOff x="0" y="0"/>
            <a:chExt cx="177800" cy="177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39700" y="0"/>
                  </a:lnTo>
                  <a:cubicBezTo>
                    <a:pt x="160782" y="0"/>
                    <a:pt x="177800" y="17018"/>
                    <a:pt x="177800" y="38100"/>
                  </a:cubicBezTo>
                  <a:lnTo>
                    <a:pt x="177800" y="139700"/>
                  </a:lnTo>
                  <a:cubicBezTo>
                    <a:pt x="177800" y="160782"/>
                    <a:pt x="160782" y="177800"/>
                    <a:pt x="139700" y="177800"/>
                  </a:cubicBezTo>
                  <a:lnTo>
                    <a:pt x="38100" y="177800"/>
                  </a:lnTo>
                  <a:cubicBezTo>
                    <a:pt x="17018" y="177800"/>
                    <a:pt x="0" y="160782"/>
                    <a:pt x="0" y="139700"/>
                  </a:cubicBezTo>
                  <a:close/>
                </a:path>
              </a:pathLst>
            </a:custGeom>
            <a:solidFill>
              <a:srgbClr val="F2B4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11253" y="9869491"/>
            <a:ext cx="4081920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3.2.3. Các loại Widget trong Flutter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475991" y="9869491"/>
            <a:ext cx="2127371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https://huit.edu.vn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28750"/>
            <a:chOff x="0" y="0"/>
            <a:chExt cx="24384000" cy="190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05000"/>
            </a:xfrm>
            <a:custGeom>
              <a:avLst/>
              <a:gdLst/>
              <a:ahLst/>
              <a:cxnLst/>
              <a:rect l="l" t="t" r="r" b="b"/>
              <a:pathLst>
                <a:path w="24384000" h="1905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F5F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838200" y="0"/>
                  </a:lnTo>
                  <a:cubicBezTo>
                    <a:pt x="908304" y="0"/>
                    <a:pt x="965200" y="56896"/>
                    <a:pt x="965200" y="127000"/>
                  </a:cubicBezTo>
                  <a:lnTo>
                    <a:pt x="965200" y="838200"/>
                  </a:lnTo>
                  <a:cubicBezTo>
                    <a:pt x="965200" y="908304"/>
                    <a:pt x="908304" y="965200"/>
                    <a:pt x="838200" y="965200"/>
                  </a:cubicBezTo>
                  <a:lnTo>
                    <a:pt x="127000" y="965200"/>
                  </a:lnTo>
                  <a:cubicBezTo>
                    <a:pt x="56896" y="965200"/>
                    <a:pt x="0" y="908304"/>
                    <a:pt x="0" y="8382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0"/>
                  </a:moveTo>
                  <a:lnTo>
                    <a:pt x="965200" y="0"/>
                  </a:lnTo>
                  <a:lnTo>
                    <a:pt x="9652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73253" y="320678"/>
            <a:ext cx="6278099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144">
                <a:solidFill>
                  <a:srgbClr val="F2B400"/>
                </a:solidFill>
                <a:latin typeface="Arial Bold"/>
                <a:ea typeface="Arial Bold"/>
                <a:cs typeface="Arial Bold"/>
                <a:sym typeface="Arial Bold"/>
              </a:rPr>
              <a:t>3.2.3.2 · STACK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73253" y="635003"/>
            <a:ext cx="6278099" cy="49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So sánh Stack vs Column/Row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57250" y="1885950"/>
            <a:ext cx="16881589" cy="874043"/>
            <a:chOff x="0" y="0"/>
            <a:chExt cx="15453434" cy="8001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453433" cy="800100"/>
            </a:xfrm>
            <a:custGeom>
              <a:avLst/>
              <a:gdLst/>
              <a:ahLst/>
              <a:cxnLst/>
              <a:rect l="l" t="t" r="r" b="b"/>
              <a:pathLst>
                <a:path w="15453433" h="800100">
                  <a:moveTo>
                    <a:pt x="0" y="0"/>
                  </a:moveTo>
                  <a:lnTo>
                    <a:pt x="15453433" y="0"/>
                  </a:lnTo>
                  <a:lnTo>
                    <a:pt x="15453433" y="800100"/>
                  </a:lnTo>
                  <a:lnTo>
                    <a:pt x="0" y="800100"/>
                  </a:lnTo>
                  <a:close/>
                </a:path>
              </a:pathLst>
            </a:custGeom>
            <a:solidFill>
              <a:srgbClr val="1F5F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70695" y="2047804"/>
            <a:ext cx="8267127" cy="605829"/>
            <a:chOff x="0" y="0"/>
            <a:chExt cx="7567742" cy="55457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567742" cy="554577"/>
            </a:xfrm>
            <a:custGeom>
              <a:avLst/>
              <a:gdLst/>
              <a:ahLst/>
              <a:cxnLst/>
              <a:rect l="l" t="t" r="r" b="b"/>
              <a:pathLst>
                <a:path w="7567742" h="554577">
                  <a:moveTo>
                    <a:pt x="0" y="0"/>
                  </a:moveTo>
                  <a:lnTo>
                    <a:pt x="7567742" y="0"/>
                  </a:lnTo>
                  <a:lnTo>
                    <a:pt x="7567742" y="554577"/>
                  </a:lnTo>
                  <a:lnTo>
                    <a:pt x="0" y="5545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0143" r="-42997" b="-3202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567742" cy="5641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Stack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511490" y="2047804"/>
            <a:ext cx="8267127" cy="605829"/>
            <a:chOff x="0" y="0"/>
            <a:chExt cx="7567742" cy="55457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567742" cy="554577"/>
            </a:xfrm>
            <a:custGeom>
              <a:avLst/>
              <a:gdLst/>
              <a:ahLst/>
              <a:cxnLst/>
              <a:rect l="l" t="t" r="r" b="b"/>
              <a:pathLst>
                <a:path w="7567742" h="554577">
                  <a:moveTo>
                    <a:pt x="0" y="0"/>
                  </a:moveTo>
                  <a:lnTo>
                    <a:pt x="7567742" y="0"/>
                  </a:lnTo>
                  <a:lnTo>
                    <a:pt x="7567742" y="554577"/>
                  </a:lnTo>
                  <a:lnTo>
                    <a:pt x="0" y="5545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0143" r="-42997" b="-3202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7567742" cy="5641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Column / Row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57250" y="3599351"/>
            <a:ext cx="16881589" cy="13874"/>
            <a:chOff x="0" y="0"/>
            <a:chExt cx="15453434" cy="127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453433" cy="12700"/>
            </a:xfrm>
            <a:custGeom>
              <a:avLst/>
              <a:gdLst/>
              <a:ahLst/>
              <a:cxnLst/>
              <a:rect l="l" t="t" r="r" b="b"/>
              <a:pathLst>
                <a:path w="15453433" h="12700">
                  <a:moveTo>
                    <a:pt x="0" y="0"/>
                  </a:moveTo>
                  <a:lnTo>
                    <a:pt x="15453433" y="0"/>
                  </a:lnTo>
                  <a:lnTo>
                    <a:pt x="15453433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70695" y="2911441"/>
            <a:ext cx="8267127" cy="605829"/>
            <a:chOff x="0" y="0"/>
            <a:chExt cx="7567742" cy="55457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567742" cy="554578"/>
            </a:xfrm>
            <a:custGeom>
              <a:avLst/>
              <a:gdLst/>
              <a:ahLst/>
              <a:cxnLst/>
              <a:rect l="l" t="t" r="r" b="b"/>
              <a:pathLst>
                <a:path w="7567742" h="554578">
                  <a:moveTo>
                    <a:pt x="0" y="0"/>
                  </a:moveTo>
                  <a:lnTo>
                    <a:pt x="7567742" y="0"/>
                  </a:lnTo>
                  <a:lnTo>
                    <a:pt x="7567742" y="554578"/>
                  </a:lnTo>
                  <a:lnTo>
                    <a:pt x="0" y="5545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7280" r="-42997" b="-32315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7567742" cy="5641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Xếp chồng theo trục Z (overlap)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1490" y="2911441"/>
            <a:ext cx="8267127" cy="605829"/>
            <a:chOff x="0" y="0"/>
            <a:chExt cx="7567742" cy="55457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567742" cy="554578"/>
            </a:xfrm>
            <a:custGeom>
              <a:avLst/>
              <a:gdLst/>
              <a:ahLst/>
              <a:cxnLst/>
              <a:rect l="l" t="t" r="r" b="b"/>
              <a:pathLst>
                <a:path w="7567742" h="554578">
                  <a:moveTo>
                    <a:pt x="0" y="0"/>
                  </a:moveTo>
                  <a:lnTo>
                    <a:pt x="7567742" y="0"/>
                  </a:lnTo>
                  <a:lnTo>
                    <a:pt x="7567742" y="554578"/>
                  </a:lnTo>
                  <a:lnTo>
                    <a:pt x="0" y="5545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7280" r="-42997" b="-32315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7567742" cy="5641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Xếp tuần tự theo trục dọc/ngang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57250" y="3613225"/>
            <a:ext cx="16881589" cy="860169"/>
            <a:chOff x="0" y="0"/>
            <a:chExt cx="15453434" cy="7874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5453433" cy="787400"/>
            </a:xfrm>
            <a:custGeom>
              <a:avLst/>
              <a:gdLst/>
              <a:ahLst/>
              <a:cxnLst/>
              <a:rect l="l" t="t" r="r" b="b"/>
              <a:pathLst>
                <a:path w="15453433" h="787400">
                  <a:moveTo>
                    <a:pt x="0" y="0"/>
                  </a:moveTo>
                  <a:lnTo>
                    <a:pt x="15453433" y="0"/>
                  </a:lnTo>
                  <a:lnTo>
                    <a:pt x="15453433" y="787400"/>
                  </a:lnTo>
                  <a:lnTo>
                    <a:pt x="0" y="78740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57250" y="4459520"/>
            <a:ext cx="16881589" cy="13874"/>
            <a:chOff x="0" y="0"/>
            <a:chExt cx="15453434" cy="127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5453433" cy="12700"/>
            </a:xfrm>
            <a:custGeom>
              <a:avLst/>
              <a:gdLst/>
              <a:ahLst/>
              <a:cxnLst/>
              <a:rect l="l" t="t" r="r" b="b"/>
              <a:pathLst>
                <a:path w="15453433" h="12700">
                  <a:moveTo>
                    <a:pt x="0" y="0"/>
                  </a:moveTo>
                  <a:lnTo>
                    <a:pt x="15453433" y="0"/>
                  </a:lnTo>
                  <a:lnTo>
                    <a:pt x="15453433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70695" y="3768142"/>
            <a:ext cx="8267127" cy="605829"/>
            <a:chOff x="0" y="0"/>
            <a:chExt cx="7567742" cy="554577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567742" cy="554577"/>
            </a:xfrm>
            <a:custGeom>
              <a:avLst/>
              <a:gdLst/>
              <a:ahLst/>
              <a:cxnLst/>
              <a:rect l="l" t="t" r="r" b="b"/>
              <a:pathLst>
                <a:path w="7567742" h="554577">
                  <a:moveTo>
                    <a:pt x="0" y="0"/>
                  </a:moveTo>
                  <a:lnTo>
                    <a:pt x="7567742" y="0"/>
                  </a:lnTo>
                  <a:lnTo>
                    <a:pt x="7567742" y="554577"/>
                  </a:lnTo>
                  <a:lnTo>
                    <a:pt x="0" y="5545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6708" r="-42997" b="-32372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7567742" cy="5641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Widget con có thể đè lên nhau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511490" y="3768142"/>
            <a:ext cx="8267127" cy="605829"/>
            <a:chOff x="0" y="0"/>
            <a:chExt cx="7567742" cy="55457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567742" cy="554577"/>
            </a:xfrm>
            <a:custGeom>
              <a:avLst/>
              <a:gdLst/>
              <a:ahLst/>
              <a:cxnLst/>
              <a:rect l="l" t="t" r="r" b="b"/>
              <a:pathLst>
                <a:path w="7567742" h="554577">
                  <a:moveTo>
                    <a:pt x="0" y="0"/>
                  </a:moveTo>
                  <a:lnTo>
                    <a:pt x="7567742" y="0"/>
                  </a:lnTo>
                  <a:lnTo>
                    <a:pt x="7567742" y="554577"/>
                  </a:lnTo>
                  <a:lnTo>
                    <a:pt x="0" y="5545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6708" r="-42997" b="-32372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7567742" cy="5641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Widget con không đè lên nhau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57250" y="5319689"/>
            <a:ext cx="16881589" cy="13874"/>
            <a:chOff x="0" y="0"/>
            <a:chExt cx="15453434" cy="127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5453433" cy="12700"/>
            </a:xfrm>
            <a:custGeom>
              <a:avLst/>
              <a:gdLst/>
              <a:ahLst/>
              <a:cxnLst/>
              <a:rect l="l" t="t" r="r" b="b"/>
              <a:pathLst>
                <a:path w="15453433" h="12700">
                  <a:moveTo>
                    <a:pt x="0" y="0"/>
                  </a:moveTo>
                  <a:lnTo>
                    <a:pt x="15453433" y="0"/>
                  </a:lnTo>
                  <a:lnTo>
                    <a:pt x="15453433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70695" y="4628311"/>
            <a:ext cx="8267127" cy="605829"/>
            <a:chOff x="0" y="0"/>
            <a:chExt cx="7567742" cy="554577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567742" cy="554577"/>
            </a:xfrm>
            <a:custGeom>
              <a:avLst/>
              <a:gdLst/>
              <a:ahLst/>
              <a:cxnLst/>
              <a:rect l="l" t="t" r="r" b="b"/>
              <a:pathLst>
                <a:path w="7567742" h="554577">
                  <a:moveTo>
                    <a:pt x="0" y="0"/>
                  </a:moveTo>
                  <a:lnTo>
                    <a:pt x="7567742" y="0"/>
                  </a:lnTo>
                  <a:lnTo>
                    <a:pt x="7567742" y="554577"/>
                  </a:lnTo>
                  <a:lnTo>
                    <a:pt x="0" y="5545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6708" r="-42997" b="-32372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7567742" cy="5641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Dùng Positioned để định vị tự do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1490" y="4628311"/>
            <a:ext cx="8267127" cy="605829"/>
            <a:chOff x="0" y="0"/>
            <a:chExt cx="7567742" cy="554577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567742" cy="554577"/>
            </a:xfrm>
            <a:custGeom>
              <a:avLst/>
              <a:gdLst/>
              <a:ahLst/>
              <a:cxnLst/>
              <a:rect l="l" t="t" r="r" b="b"/>
              <a:pathLst>
                <a:path w="7567742" h="554577">
                  <a:moveTo>
                    <a:pt x="0" y="0"/>
                  </a:moveTo>
                  <a:lnTo>
                    <a:pt x="7567742" y="0"/>
                  </a:lnTo>
                  <a:lnTo>
                    <a:pt x="7567742" y="554577"/>
                  </a:lnTo>
                  <a:lnTo>
                    <a:pt x="0" y="5545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6708" r="-42997" b="-32372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7567742" cy="5641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Dùng MainAxisAlignment, CrossAxisAlignment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70695" y="5485011"/>
            <a:ext cx="8267127" cy="605829"/>
            <a:chOff x="0" y="0"/>
            <a:chExt cx="7567742" cy="554577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7567742" cy="554578"/>
            </a:xfrm>
            <a:custGeom>
              <a:avLst/>
              <a:gdLst/>
              <a:ahLst/>
              <a:cxnLst/>
              <a:rect l="l" t="t" r="r" b="b"/>
              <a:pathLst>
                <a:path w="7567742" h="554578">
                  <a:moveTo>
                    <a:pt x="0" y="0"/>
                  </a:moveTo>
                  <a:lnTo>
                    <a:pt x="7567742" y="0"/>
                  </a:lnTo>
                  <a:lnTo>
                    <a:pt x="7567742" y="554578"/>
                  </a:lnTo>
                  <a:lnTo>
                    <a:pt x="0" y="5545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7280" r="-42997" b="-32315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7567742" cy="5641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Dùng cho overlay, badge, background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511490" y="5485011"/>
            <a:ext cx="8267127" cy="605829"/>
            <a:chOff x="0" y="0"/>
            <a:chExt cx="7567742" cy="554577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7567742" cy="554578"/>
            </a:xfrm>
            <a:custGeom>
              <a:avLst/>
              <a:gdLst/>
              <a:ahLst/>
              <a:cxnLst/>
              <a:rect l="l" t="t" r="r" b="b"/>
              <a:pathLst>
                <a:path w="7567742" h="554578">
                  <a:moveTo>
                    <a:pt x="0" y="0"/>
                  </a:moveTo>
                  <a:lnTo>
                    <a:pt x="7567742" y="0"/>
                  </a:lnTo>
                  <a:lnTo>
                    <a:pt x="7567742" y="554578"/>
                  </a:lnTo>
                  <a:lnTo>
                    <a:pt x="0" y="5545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7280" r="-42997" b="-32315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7567742" cy="5641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Dùng cho layout tuyến tính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0" y="9705975"/>
            <a:ext cx="18288000" cy="9525"/>
            <a:chOff x="0" y="0"/>
            <a:chExt cx="24384000" cy="127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4384000" cy="12700"/>
            </a:xfrm>
            <a:custGeom>
              <a:avLst/>
              <a:gdLst/>
              <a:ahLst/>
              <a:cxnLst/>
              <a:rect l="l" t="t" r="r" b="b"/>
              <a:pathLst>
                <a:path w="24384000" h="127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857250" y="9934575"/>
            <a:ext cx="133350" cy="133350"/>
            <a:chOff x="0" y="0"/>
            <a:chExt cx="177800" cy="1778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39700" y="0"/>
                  </a:lnTo>
                  <a:cubicBezTo>
                    <a:pt x="160782" y="0"/>
                    <a:pt x="177800" y="17018"/>
                    <a:pt x="177800" y="38100"/>
                  </a:cubicBezTo>
                  <a:lnTo>
                    <a:pt x="177800" y="139700"/>
                  </a:lnTo>
                  <a:cubicBezTo>
                    <a:pt x="177800" y="160782"/>
                    <a:pt x="160782" y="177800"/>
                    <a:pt x="139700" y="177800"/>
                  </a:cubicBezTo>
                  <a:lnTo>
                    <a:pt x="38100" y="177800"/>
                  </a:lnTo>
                  <a:cubicBezTo>
                    <a:pt x="17018" y="177800"/>
                    <a:pt x="0" y="160782"/>
                    <a:pt x="0" y="139700"/>
                  </a:cubicBezTo>
                  <a:close/>
                </a:path>
              </a:pathLst>
            </a:custGeom>
            <a:solidFill>
              <a:srgbClr val="F2B4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111253" y="9869491"/>
            <a:ext cx="4081920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3.2.3. Các loại Widget trong Flutter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5475991" y="9869491"/>
            <a:ext cx="2127371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https://huit.edu.vn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571500"/>
            <a:ext cx="571500" cy="571500"/>
            <a:chOff x="0" y="0"/>
            <a:chExt cx="762000" cy="762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60400" y="0"/>
                  </a:lnTo>
                  <a:cubicBezTo>
                    <a:pt x="716534" y="0"/>
                    <a:pt x="762000" y="45466"/>
                    <a:pt x="762000" y="101600"/>
                  </a:cubicBezTo>
                  <a:lnTo>
                    <a:pt x="762000" y="660400"/>
                  </a:lnTo>
                  <a:cubicBezTo>
                    <a:pt x="762000" y="716534"/>
                    <a:pt x="716534" y="762000"/>
                    <a:pt x="660400" y="762000"/>
                  </a:cubicBezTo>
                  <a:lnTo>
                    <a:pt x="101600" y="762000"/>
                  </a:lnTo>
                  <a:cubicBezTo>
                    <a:pt x="45466" y="762000"/>
                    <a:pt x="0" y="716534"/>
                    <a:pt x="0" y="6604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571500"/>
            <a:ext cx="571500" cy="571500"/>
            <a:chOff x="0" y="0"/>
            <a:chExt cx="762000" cy="762000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06553" y="725491"/>
            <a:ext cx="5627351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89">
                <a:solidFill>
                  <a:srgbClr val="CFE0F2"/>
                </a:solidFill>
                <a:latin typeface="Arial"/>
                <a:ea typeface="Arial"/>
                <a:cs typeface="Arial"/>
                <a:sym typeface="Arial"/>
              </a:rPr>
              <a:t>TRƯỜNG ĐẠI HỌC CÔNG THƯƠNG TP.HCM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58903" y="4088701"/>
            <a:ext cx="17132303" cy="349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192">
                <a:solidFill>
                  <a:srgbClr val="F2B400"/>
                </a:solidFill>
                <a:latin typeface="Arial Bold"/>
                <a:ea typeface="Arial Bold"/>
                <a:cs typeface="Arial Bold"/>
                <a:sym typeface="Arial Bold"/>
              </a:rPr>
              <a:t>3.2.3.3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58903" y="4860227"/>
            <a:ext cx="17132303" cy="7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03"/>
              </a:lnSpc>
            </a:pPr>
            <a:r>
              <a:rPr lang="en-US" sz="72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Dialog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58903" y="5858418"/>
            <a:ext cx="13569953" cy="368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C9DAEA"/>
                </a:solidFill>
                <a:latin typeface="Arial"/>
                <a:ea typeface="Arial"/>
                <a:cs typeface="Arial"/>
                <a:sym typeface="Arial"/>
              </a:rPr>
              <a:t>Hộp thoại tương tác giúp xác nhận, thông báo và thu thập lựa chọn của người dùng.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0" y="10153650"/>
            <a:ext cx="18288000" cy="133350"/>
            <a:chOff x="0" y="0"/>
            <a:chExt cx="24384000" cy="177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384000" cy="177800"/>
            </a:xfrm>
            <a:custGeom>
              <a:avLst/>
              <a:gdLst/>
              <a:ahLst/>
              <a:cxnLst/>
              <a:rect l="l" t="t" r="r" b="b"/>
              <a:pathLst>
                <a:path w="24384000" h="1778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F2B400"/>
            </a:solid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28750"/>
            <a:chOff x="0" y="0"/>
            <a:chExt cx="24384000" cy="190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05000"/>
            </a:xfrm>
            <a:custGeom>
              <a:avLst/>
              <a:gdLst/>
              <a:ahLst/>
              <a:cxnLst/>
              <a:rect l="l" t="t" r="r" b="b"/>
              <a:pathLst>
                <a:path w="24384000" h="1905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F5F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838200" y="0"/>
                  </a:lnTo>
                  <a:cubicBezTo>
                    <a:pt x="908304" y="0"/>
                    <a:pt x="965200" y="56896"/>
                    <a:pt x="965200" y="127000"/>
                  </a:cubicBezTo>
                  <a:lnTo>
                    <a:pt x="965200" y="838200"/>
                  </a:lnTo>
                  <a:cubicBezTo>
                    <a:pt x="965200" y="908304"/>
                    <a:pt x="908304" y="965200"/>
                    <a:pt x="838200" y="965200"/>
                  </a:cubicBezTo>
                  <a:lnTo>
                    <a:pt x="127000" y="965200"/>
                  </a:lnTo>
                  <a:cubicBezTo>
                    <a:pt x="56896" y="965200"/>
                    <a:pt x="0" y="908304"/>
                    <a:pt x="0" y="8382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0"/>
                  </a:moveTo>
                  <a:lnTo>
                    <a:pt x="965200" y="0"/>
                  </a:lnTo>
                  <a:lnTo>
                    <a:pt x="9652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73253" y="320678"/>
            <a:ext cx="3377794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144">
                <a:solidFill>
                  <a:srgbClr val="F2B400"/>
                </a:solidFill>
                <a:latin typeface="Arial Bold"/>
                <a:ea typeface="Arial Bold"/>
                <a:cs typeface="Arial Bold"/>
                <a:sym typeface="Arial Bold"/>
              </a:rPr>
              <a:t>3.2.3.3 · DIALOG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73253" y="635003"/>
            <a:ext cx="3377794" cy="49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Giới thiệu Dialog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6072" y="1880768"/>
            <a:ext cx="8259641" cy="2734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409" lvl="1" indent="-267205" algn="l">
              <a:lnSpc>
                <a:spcPts val="3638"/>
              </a:lnSpc>
              <a:buFont typeface="Arial"/>
              <a:buChar char="•"/>
            </a:pPr>
            <a:r>
              <a:rPr lang="en-US" sz="2475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Là một cửa sổ nhỏ nổi lên trên nội dung hiện tại, yêu cầu người dùng đưa ra quyết định hoặc nhập thông tin</a:t>
            </a:r>
          </a:p>
          <a:p>
            <a:pPr marL="534409" lvl="1" indent="-267205" algn="l">
              <a:lnSpc>
                <a:spcPts val="3638"/>
              </a:lnSpc>
              <a:buFont typeface="Arial"/>
              <a:buChar char="•"/>
            </a:pPr>
            <a:r>
              <a:rPr lang="en-US" sz="2475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Làm gián đoạn luồng chính của ứng dụng (modal), thường có lớp nền mờ (scrim) phía sau</a:t>
            </a:r>
          </a:p>
          <a:p>
            <a:pPr marL="534409" lvl="1" indent="-267205" algn="l">
              <a:lnSpc>
                <a:spcPts val="3638"/>
              </a:lnSpc>
              <a:buFont typeface="Arial"/>
              <a:buChar char="•"/>
            </a:pPr>
            <a:r>
              <a:rPr lang="en-US" sz="2475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Flutter cung cấp sẵn: AlertDialog, SimpleDialog, và cho phép tạo Dialog tùy chỉnh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105900" y="1885950"/>
            <a:ext cx="8324850" cy="2762250"/>
            <a:chOff x="0" y="0"/>
            <a:chExt cx="11099800" cy="3683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099800" cy="3683000"/>
            </a:xfrm>
            <a:custGeom>
              <a:avLst/>
              <a:gdLst/>
              <a:ahLst/>
              <a:cxnLst/>
              <a:rect l="l" t="t" r="r" b="b"/>
              <a:pathLst>
                <a:path w="11099800" h="36830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10922000" y="0"/>
                  </a:lnTo>
                  <a:cubicBezTo>
                    <a:pt x="11020171" y="0"/>
                    <a:pt x="11099800" y="79629"/>
                    <a:pt x="11099800" y="177800"/>
                  </a:cubicBezTo>
                  <a:lnTo>
                    <a:pt x="11099800" y="3505200"/>
                  </a:lnTo>
                  <a:cubicBezTo>
                    <a:pt x="11099800" y="3603371"/>
                    <a:pt x="11020171" y="3683000"/>
                    <a:pt x="10922000" y="3683000"/>
                  </a:cubicBezTo>
                  <a:lnTo>
                    <a:pt x="177800" y="3683000"/>
                  </a:lnTo>
                  <a:cubicBezTo>
                    <a:pt x="79629" y="3683000"/>
                    <a:pt x="0" y="3603371"/>
                    <a:pt x="0" y="3505200"/>
                  </a:cubicBezTo>
                  <a:close/>
                </a:path>
              </a:pathLst>
            </a:custGeom>
            <a:solidFill>
              <a:srgbClr val="101C2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436103" y="2130428"/>
            <a:ext cx="7914199" cy="2263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7"/>
              </a:lnSpc>
            </a:pPr>
            <a:r>
              <a:rPr lang="en-US" sz="19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showDialog(</a:t>
            </a:r>
          </a:p>
          <a:p>
            <a:pPr algn="l">
              <a:lnSpc>
                <a:spcPts val="2737"/>
              </a:lnSpc>
            </a:pPr>
            <a:r>
              <a:rPr lang="en-US" sz="19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context: context,</a:t>
            </a:r>
          </a:p>
          <a:p>
            <a:pPr algn="l">
              <a:lnSpc>
                <a:spcPts val="2737"/>
              </a:lnSpc>
            </a:pPr>
            <a:r>
              <a:rPr lang="en-US" sz="19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builder: (BuildContext context) {</a:t>
            </a:r>
          </a:p>
          <a:p>
            <a:pPr algn="l">
              <a:lnSpc>
                <a:spcPts val="2737"/>
              </a:lnSpc>
            </a:pPr>
            <a:r>
              <a:rPr lang="en-US" sz="19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AlertDialog(...);</a:t>
            </a:r>
          </a:p>
          <a:p>
            <a:pPr algn="l">
              <a:lnSpc>
                <a:spcPts val="2737"/>
              </a:lnSpc>
            </a:pPr>
            <a:r>
              <a:rPr lang="en-US" sz="19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},</a:t>
            </a:r>
          </a:p>
          <a:p>
            <a:pPr algn="l">
              <a:lnSpc>
                <a:spcPts val="2737"/>
              </a:lnSpc>
            </a:pPr>
            <a:r>
              <a:rPr lang="en-US" sz="19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0" y="9705975"/>
            <a:ext cx="18288000" cy="9525"/>
            <a:chOff x="0" y="0"/>
            <a:chExt cx="24384000" cy="127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384000" cy="12700"/>
            </a:xfrm>
            <a:custGeom>
              <a:avLst/>
              <a:gdLst/>
              <a:ahLst/>
              <a:cxnLst/>
              <a:rect l="l" t="t" r="r" b="b"/>
              <a:pathLst>
                <a:path w="24384000" h="127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57250" y="9934575"/>
            <a:ext cx="133350" cy="133350"/>
            <a:chOff x="0" y="0"/>
            <a:chExt cx="177800" cy="177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39700" y="0"/>
                  </a:lnTo>
                  <a:cubicBezTo>
                    <a:pt x="160782" y="0"/>
                    <a:pt x="177800" y="17018"/>
                    <a:pt x="177800" y="38100"/>
                  </a:cubicBezTo>
                  <a:lnTo>
                    <a:pt x="177800" y="139700"/>
                  </a:lnTo>
                  <a:cubicBezTo>
                    <a:pt x="177800" y="160782"/>
                    <a:pt x="160782" y="177800"/>
                    <a:pt x="139700" y="177800"/>
                  </a:cubicBezTo>
                  <a:lnTo>
                    <a:pt x="38100" y="177800"/>
                  </a:lnTo>
                  <a:cubicBezTo>
                    <a:pt x="17018" y="177800"/>
                    <a:pt x="0" y="160782"/>
                    <a:pt x="0" y="139700"/>
                  </a:cubicBezTo>
                  <a:close/>
                </a:path>
              </a:pathLst>
            </a:custGeom>
            <a:solidFill>
              <a:srgbClr val="F2B4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11253" y="9869491"/>
            <a:ext cx="4081920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3.2.3. Các loại Widget trong Flutter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475991" y="9869491"/>
            <a:ext cx="2127371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https://huit.edu.vn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28750"/>
            <a:chOff x="0" y="0"/>
            <a:chExt cx="24384000" cy="190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05000"/>
            </a:xfrm>
            <a:custGeom>
              <a:avLst/>
              <a:gdLst/>
              <a:ahLst/>
              <a:cxnLst/>
              <a:rect l="l" t="t" r="r" b="b"/>
              <a:pathLst>
                <a:path w="24384000" h="1905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F5F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838200" y="0"/>
                  </a:lnTo>
                  <a:cubicBezTo>
                    <a:pt x="908304" y="0"/>
                    <a:pt x="965200" y="56896"/>
                    <a:pt x="965200" y="127000"/>
                  </a:cubicBezTo>
                  <a:lnTo>
                    <a:pt x="965200" y="838200"/>
                  </a:lnTo>
                  <a:cubicBezTo>
                    <a:pt x="965200" y="908304"/>
                    <a:pt x="908304" y="965200"/>
                    <a:pt x="838200" y="965200"/>
                  </a:cubicBezTo>
                  <a:lnTo>
                    <a:pt x="127000" y="965200"/>
                  </a:lnTo>
                  <a:cubicBezTo>
                    <a:pt x="56896" y="965200"/>
                    <a:pt x="0" y="908304"/>
                    <a:pt x="0" y="8382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0"/>
                  </a:moveTo>
                  <a:lnTo>
                    <a:pt x="965200" y="0"/>
                  </a:lnTo>
                  <a:lnTo>
                    <a:pt x="9652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73253" y="320678"/>
            <a:ext cx="6119298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144">
                <a:solidFill>
                  <a:srgbClr val="F2B400"/>
                </a:solidFill>
                <a:latin typeface="Arial Bold"/>
                <a:ea typeface="Arial Bold"/>
                <a:cs typeface="Arial Bold"/>
                <a:sym typeface="Arial Bold"/>
              </a:rPr>
              <a:t>3.2.3.3 · DIALOG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73253" y="635003"/>
            <a:ext cx="6119298" cy="49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AlertDialog — cấu trúc cơ bản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57250" y="1771650"/>
            <a:ext cx="16573500" cy="7743825"/>
            <a:chOff x="0" y="0"/>
            <a:chExt cx="22098000" cy="103251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98000" cy="10325100"/>
            </a:xfrm>
            <a:custGeom>
              <a:avLst/>
              <a:gdLst/>
              <a:ahLst/>
              <a:cxnLst/>
              <a:rect l="l" t="t" r="r" b="b"/>
              <a:pathLst>
                <a:path w="22098000" h="103251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21920200" y="0"/>
                  </a:lnTo>
                  <a:cubicBezTo>
                    <a:pt x="22018371" y="0"/>
                    <a:pt x="22098000" y="79629"/>
                    <a:pt x="22098000" y="177800"/>
                  </a:cubicBezTo>
                  <a:lnTo>
                    <a:pt x="22098000" y="10147300"/>
                  </a:lnTo>
                  <a:cubicBezTo>
                    <a:pt x="22098000" y="10245471"/>
                    <a:pt x="22018371" y="10325100"/>
                    <a:pt x="21920200" y="10325100"/>
                  </a:cubicBezTo>
                  <a:lnTo>
                    <a:pt x="177800" y="10325100"/>
                  </a:lnTo>
                  <a:cubicBezTo>
                    <a:pt x="79629" y="10325100"/>
                    <a:pt x="0" y="10245471"/>
                    <a:pt x="0" y="10147300"/>
                  </a:cubicBezTo>
                  <a:close/>
                </a:path>
              </a:pathLst>
            </a:custGeom>
            <a:solidFill>
              <a:srgbClr val="101C2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06503" y="2006603"/>
            <a:ext cx="16372208" cy="7254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showDialog(</a:t>
            </a:r>
          </a:p>
          <a:p>
            <a:pPr algn="l">
              <a:lnSpc>
                <a:spcPts val="2600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context: context,</a:t>
            </a:r>
          </a:p>
          <a:p>
            <a:pPr algn="l">
              <a:lnSpc>
                <a:spcPts val="2600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builder: (context) =&gt; AlertDialog(</a:t>
            </a:r>
          </a:p>
          <a:p>
            <a:pPr algn="l">
              <a:lnSpc>
                <a:spcPts val="2600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title: Text('Xác nhận xóa'),</a:t>
            </a:r>
          </a:p>
          <a:p>
            <a:pPr algn="l">
              <a:lnSpc>
                <a:spcPts val="2600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content: Text('Bạn có chắc chắn muốn xóa mục này không?'),</a:t>
            </a:r>
          </a:p>
          <a:p>
            <a:pPr algn="l">
              <a:lnSpc>
                <a:spcPts val="2600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actions: [</a:t>
            </a:r>
          </a:p>
          <a:p>
            <a:pPr algn="l">
              <a:lnSpc>
                <a:spcPts val="2600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TextButton(onPressed: () =&gt; Navigator.pop(context), child: Text('Hủy')),</a:t>
            </a:r>
          </a:p>
          <a:p>
            <a:pPr algn="l">
              <a:lnSpc>
                <a:spcPts val="2600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TextButton(</a:t>
            </a:r>
          </a:p>
          <a:p>
            <a:pPr algn="l">
              <a:lnSpc>
                <a:spcPts val="2600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onPressed: () { /* Xử lý xóa */ Navigator.pop(context); },</a:t>
            </a:r>
          </a:p>
          <a:p>
            <a:pPr algn="l">
              <a:lnSpc>
                <a:spcPts val="2600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child: Text('Xóa', style: TextStyle(color: Colors.red)),</a:t>
            </a:r>
          </a:p>
          <a:p>
            <a:pPr algn="l">
              <a:lnSpc>
                <a:spcPts val="2600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),</a:t>
            </a:r>
          </a:p>
          <a:p>
            <a:pPr algn="l">
              <a:lnSpc>
                <a:spcPts val="2600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],</a:t>
            </a:r>
          </a:p>
          <a:p>
            <a:pPr algn="l">
              <a:lnSpc>
                <a:spcPts val="2600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),</a:t>
            </a:r>
          </a:p>
          <a:p>
            <a:pPr algn="l">
              <a:lnSpc>
                <a:spcPts val="2600"/>
              </a:lnSpc>
            </a:pPr>
            <a:r>
              <a:rPr lang="en-US" sz="172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0" y="9705975"/>
            <a:ext cx="18288000" cy="9525"/>
            <a:chOff x="0" y="0"/>
            <a:chExt cx="24384000" cy="127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384000" cy="12700"/>
            </a:xfrm>
            <a:custGeom>
              <a:avLst/>
              <a:gdLst/>
              <a:ahLst/>
              <a:cxnLst/>
              <a:rect l="l" t="t" r="r" b="b"/>
              <a:pathLst>
                <a:path w="24384000" h="127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57250" y="9934575"/>
            <a:ext cx="133350" cy="133350"/>
            <a:chOff x="0" y="0"/>
            <a:chExt cx="177800" cy="177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39700" y="0"/>
                  </a:lnTo>
                  <a:cubicBezTo>
                    <a:pt x="160782" y="0"/>
                    <a:pt x="177800" y="17018"/>
                    <a:pt x="177800" y="38100"/>
                  </a:cubicBezTo>
                  <a:lnTo>
                    <a:pt x="177800" y="139700"/>
                  </a:lnTo>
                  <a:cubicBezTo>
                    <a:pt x="177800" y="160782"/>
                    <a:pt x="160782" y="177800"/>
                    <a:pt x="139700" y="177800"/>
                  </a:cubicBezTo>
                  <a:lnTo>
                    <a:pt x="38100" y="177800"/>
                  </a:lnTo>
                  <a:cubicBezTo>
                    <a:pt x="17018" y="177800"/>
                    <a:pt x="0" y="160782"/>
                    <a:pt x="0" y="139700"/>
                  </a:cubicBezTo>
                  <a:close/>
                </a:path>
              </a:pathLst>
            </a:custGeom>
            <a:solidFill>
              <a:srgbClr val="F2B4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11253" y="9869491"/>
            <a:ext cx="4081920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3.2.3. Các loại Widget trong Flutter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475991" y="9869491"/>
            <a:ext cx="2127371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https://huit.edu.vn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28750"/>
            <a:chOff x="0" y="0"/>
            <a:chExt cx="24384000" cy="190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05000"/>
            </a:xfrm>
            <a:custGeom>
              <a:avLst/>
              <a:gdLst/>
              <a:ahLst/>
              <a:cxnLst/>
              <a:rect l="l" t="t" r="r" b="b"/>
              <a:pathLst>
                <a:path w="24384000" h="1905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F5F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838200" y="0"/>
                  </a:lnTo>
                  <a:cubicBezTo>
                    <a:pt x="908304" y="0"/>
                    <a:pt x="965200" y="56896"/>
                    <a:pt x="965200" y="127000"/>
                  </a:cubicBezTo>
                  <a:lnTo>
                    <a:pt x="965200" y="838200"/>
                  </a:lnTo>
                  <a:cubicBezTo>
                    <a:pt x="965200" y="908304"/>
                    <a:pt x="908304" y="965200"/>
                    <a:pt x="838200" y="965200"/>
                  </a:cubicBezTo>
                  <a:lnTo>
                    <a:pt x="127000" y="965200"/>
                  </a:lnTo>
                  <a:cubicBezTo>
                    <a:pt x="56896" y="965200"/>
                    <a:pt x="0" y="908304"/>
                    <a:pt x="0" y="8382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0"/>
                  </a:moveTo>
                  <a:lnTo>
                    <a:pt x="965200" y="0"/>
                  </a:lnTo>
                  <a:lnTo>
                    <a:pt x="9652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73253" y="320678"/>
            <a:ext cx="6150902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144">
                <a:solidFill>
                  <a:srgbClr val="F2B400"/>
                </a:solidFill>
                <a:latin typeface="Arial Bold"/>
                <a:ea typeface="Arial Bold"/>
                <a:cs typeface="Arial Bold"/>
                <a:sym typeface="Arial Bold"/>
              </a:rPr>
              <a:t>3.2.3.3 · DIALOG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73253" y="635003"/>
            <a:ext cx="6150902" cy="49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Các thuộc tính của AlertDialog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57250" y="1847850"/>
            <a:ext cx="8479041" cy="495300"/>
            <a:chOff x="0" y="0"/>
            <a:chExt cx="11305388" cy="660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305413" cy="660400"/>
            </a:xfrm>
            <a:custGeom>
              <a:avLst/>
              <a:gdLst/>
              <a:ahLst/>
              <a:cxnLst/>
              <a:rect l="l" t="t" r="r" b="b"/>
              <a:pathLst>
                <a:path w="11305413" h="660400">
                  <a:moveTo>
                    <a:pt x="0" y="0"/>
                  </a:moveTo>
                  <a:lnTo>
                    <a:pt x="11305413" y="0"/>
                  </a:lnTo>
                  <a:lnTo>
                    <a:pt x="11305413" y="660400"/>
                  </a:lnTo>
                  <a:lnTo>
                    <a:pt x="0" y="660400"/>
                  </a:lnTo>
                  <a:close/>
                </a:path>
              </a:pathLst>
            </a:custGeom>
            <a:solidFill>
              <a:srgbClr val="1F5F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1962150"/>
            <a:ext cx="2402119" cy="304800"/>
            <a:chOff x="0" y="0"/>
            <a:chExt cx="3202826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202823" cy="406400"/>
            </a:xfrm>
            <a:custGeom>
              <a:avLst/>
              <a:gdLst/>
              <a:ahLst/>
              <a:cxnLst/>
              <a:rect l="l" t="t" r="r" b="b"/>
              <a:pathLst>
                <a:path w="3202823" h="406400">
                  <a:moveTo>
                    <a:pt x="0" y="0"/>
                  </a:moveTo>
                  <a:lnTo>
                    <a:pt x="3202823" y="0"/>
                  </a:lnTo>
                  <a:lnTo>
                    <a:pt x="3202823" y="406400"/>
                  </a:lnTo>
                  <a:lnTo>
                    <a:pt x="0" y="406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3560" b="-10356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3202826" cy="425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Thuộc tính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693766" y="1962150"/>
            <a:ext cx="5645487" cy="304800"/>
            <a:chOff x="0" y="0"/>
            <a:chExt cx="7527315" cy="406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527320" cy="406400"/>
            </a:xfrm>
            <a:custGeom>
              <a:avLst/>
              <a:gdLst/>
              <a:ahLst/>
              <a:cxnLst/>
              <a:rect l="l" t="t" r="r" b="b"/>
              <a:pathLst>
                <a:path w="7527320" h="406400">
                  <a:moveTo>
                    <a:pt x="0" y="0"/>
                  </a:moveTo>
                  <a:lnTo>
                    <a:pt x="7527320" y="0"/>
                  </a:lnTo>
                  <a:lnTo>
                    <a:pt x="7527320" y="406400"/>
                  </a:lnTo>
                  <a:lnTo>
                    <a:pt x="0" y="406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0900" b="-31090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7527315" cy="425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Mô tả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57250" y="2824162"/>
            <a:ext cx="8479041" cy="9525"/>
            <a:chOff x="0" y="0"/>
            <a:chExt cx="11305388" cy="127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305413" cy="12700"/>
            </a:xfrm>
            <a:custGeom>
              <a:avLst/>
              <a:gdLst/>
              <a:ahLst/>
              <a:cxnLst/>
              <a:rect l="l" t="t" r="r" b="b"/>
              <a:pathLst>
                <a:path w="11305413" h="12700">
                  <a:moveTo>
                    <a:pt x="0" y="0"/>
                  </a:moveTo>
                  <a:lnTo>
                    <a:pt x="11305413" y="0"/>
                  </a:lnTo>
                  <a:lnTo>
                    <a:pt x="11305413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28700" y="2438400"/>
            <a:ext cx="2402119" cy="338138"/>
            <a:chOff x="0" y="0"/>
            <a:chExt cx="3202826" cy="45085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202823" cy="450851"/>
            </a:xfrm>
            <a:custGeom>
              <a:avLst/>
              <a:gdLst/>
              <a:ahLst/>
              <a:cxnLst/>
              <a:rect l="l" t="t" r="r" b="b"/>
              <a:pathLst>
                <a:path w="3202823" h="450851">
                  <a:moveTo>
                    <a:pt x="0" y="0"/>
                  </a:moveTo>
                  <a:lnTo>
                    <a:pt x="3202823" y="0"/>
                  </a:lnTo>
                  <a:lnTo>
                    <a:pt x="3202823" y="450851"/>
                  </a:lnTo>
                  <a:lnTo>
                    <a:pt x="0" y="450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8421" b="-8842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3202826" cy="4603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23A6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title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693766" y="2438400"/>
            <a:ext cx="5645487" cy="338138"/>
            <a:chOff x="0" y="0"/>
            <a:chExt cx="7527315" cy="4508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527320" cy="450851"/>
            </a:xfrm>
            <a:custGeom>
              <a:avLst/>
              <a:gdLst/>
              <a:ahLst/>
              <a:cxnLst/>
              <a:rect l="l" t="t" r="r" b="b"/>
              <a:pathLst>
                <a:path w="7527320" h="450851">
                  <a:moveTo>
                    <a:pt x="0" y="0"/>
                  </a:moveTo>
                  <a:lnTo>
                    <a:pt x="7527320" y="0"/>
                  </a:lnTo>
                  <a:lnTo>
                    <a:pt x="7527320" y="450851"/>
                  </a:lnTo>
                  <a:lnTo>
                    <a:pt x="0" y="450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5318" b="-27531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7527315" cy="4699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Tiêu đề của dialog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57250" y="2833688"/>
            <a:ext cx="8479041" cy="495300"/>
            <a:chOff x="0" y="0"/>
            <a:chExt cx="11305388" cy="6604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305413" cy="660400"/>
            </a:xfrm>
            <a:custGeom>
              <a:avLst/>
              <a:gdLst/>
              <a:ahLst/>
              <a:cxnLst/>
              <a:rect l="l" t="t" r="r" b="b"/>
              <a:pathLst>
                <a:path w="11305413" h="660400">
                  <a:moveTo>
                    <a:pt x="0" y="0"/>
                  </a:moveTo>
                  <a:lnTo>
                    <a:pt x="11305413" y="0"/>
                  </a:lnTo>
                  <a:lnTo>
                    <a:pt x="11305413" y="660400"/>
                  </a:lnTo>
                  <a:lnTo>
                    <a:pt x="0" y="66040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57250" y="3319462"/>
            <a:ext cx="8479041" cy="9525"/>
            <a:chOff x="0" y="0"/>
            <a:chExt cx="11305388" cy="127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305413" cy="12700"/>
            </a:xfrm>
            <a:custGeom>
              <a:avLst/>
              <a:gdLst/>
              <a:ahLst/>
              <a:cxnLst/>
              <a:rect l="l" t="t" r="r" b="b"/>
              <a:pathLst>
                <a:path w="11305413" h="12700">
                  <a:moveTo>
                    <a:pt x="0" y="0"/>
                  </a:moveTo>
                  <a:lnTo>
                    <a:pt x="11305413" y="0"/>
                  </a:lnTo>
                  <a:lnTo>
                    <a:pt x="11305413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28700" y="2928938"/>
            <a:ext cx="2402119" cy="342900"/>
            <a:chOff x="0" y="0"/>
            <a:chExt cx="3202826" cy="4572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202823" cy="457200"/>
            </a:xfrm>
            <a:custGeom>
              <a:avLst/>
              <a:gdLst/>
              <a:ahLst/>
              <a:cxnLst/>
              <a:rect l="l" t="t" r="r" b="b"/>
              <a:pathLst>
                <a:path w="3202823" h="457200">
                  <a:moveTo>
                    <a:pt x="0" y="0"/>
                  </a:moveTo>
                  <a:lnTo>
                    <a:pt x="3202823" y="0"/>
                  </a:lnTo>
                  <a:lnTo>
                    <a:pt x="3202823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498" b="-8649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3202826" cy="466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23A6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content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693766" y="2928938"/>
            <a:ext cx="5645487" cy="342900"/>
            <a:chOff x="0" y="0"/>
            <a:chExt cx="7527315" cy="4572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527320" cy="457200"/>
            </a:xfrm>
            <a:custGeom>
              <a:avLst/>
              <a:gdLst/>
              <a:ahLst/>
              <a:cxnLst/>
              <a:rect l="l" t="t" r="r" b="b"/>
              <a:pathLst>
                <a:path w="7527320" h="457200">
                  <a:moveTo>
                    <a:pt x="0" y="0"/>
                  </a:moveTo>
                  <a:lnTo>
                    <a:pt x="7527320" y="0"/>
                  </a:lnTo>
                  <a:lnTo>
                    <a:pt x="75273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800" b="-27080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7527315" cy="47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Nội dung chính (thường là Text hoặc Column)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57250" y="3814762"/>
            <a:ext cx="8479041" cy="9525"/>
            <a:chOff x="0" y="0"/>
            <a:chExt cx="11305388" cy="127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305413" cy="12700"/>
            </a:xfrm>
            <a:custGeom>
              <a:avLst/>
              <a:gdLst/>
              <a:ahLst/>
              <a:cxnLst/>
              <a:rect l="l" t="t" r="r" b="b"/>
              <a:pathLst>
                <a:path w="11305413" h="12700">
                  <a:moveTo>
                    <a:pt x="0" y="0"/>
                  </a:moveTo>
                  <a:lnTo>
                    <a:pt x="11305413" y="0"/>
                  </a:lnTo>
                  <a:lnTo>
                    <a:pt x="11305413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28700" y="3424238"/>
            <a:ext cx="2402119" cy="342900"/>
            <a:chOff x="0" y="0"/>
            <a:chExt cx="3202826" cy="4572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202823" cy="457200"/>
            </a:xfrm>
            <a:custGeom>
              <a:avLst/>
              <a:gdLst/>
              <a:ahLst/>
              <a:cxnLst/>
              <a:rect l="l" t="t" r="r" b="b"/>
              <a:pathLst>
                <a:path w="3202823" h="457200">
                  <a:moveTo>
                    <a:pt x="0" y="0"/>
                  </a:moveTo>
                  <a:lnTo>
                    <a:pt x="3202823" y="0"/>
                  </a:lnTo>
                  <a:lnTo>
                    <a:pt x="3202823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498" b="-8649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3202826" cy="466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23A6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actions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3693766" y="3424238"/>
            <a:ext cx="5645487" cy="342900"/>
            <a:chOff x="0" y="0"/>
            <a:chExt cx="7527315" cy="4572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527320" cy="457200"/>
            </a:xfrm>
            <a:custGeom>
              <a:avLst/>
              <a:gdLst/>
              <a:ahLst/>
              <a:cxnLst/>
              <a:rect l="l" t="t" r="r" b="b"/>
              <a:pathLst>
                <a:path w="7527320" h="457200">
                  <a:moveTo>
                    <a:pt x="0" y="0"/>
                  </a:moveTo>
                  <a:lnTo>
                    <a:pt x="7527320" y="0"/>
                  </a:lnTo>
                  <a:lnTo>
                    <a:pt x="75273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800" b="-27080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7527315" cy="47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Danh sách nút hành động (đặt cuối dialog)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57250" y="3824288"/>
            <a:ext cx="8479041" cy="495300"/>
            <a:chOff x="0" y="0"/>
            <a:chExt cx="11305388" cy="6604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1305413" cy="660400"/>
            </a:xfrm>
            <a:custGeom>
              <a:avLst/>
              <a:gdLst/>
              <a:ahLst/>
              <a:cxnLst/>
              <a:rect l="l" t="t" r="r" b="b"/>
              <a:pathLst>
                <a:path w="11305413" h="660400">
                  <a:moveTo>
                    <a:pt x="0" y="0"/>
                  </a:moveTo>
                  <a:lnTo>
                    <a:pt x="11305413" y="0"/>
                  </a:lnTo>
                  <a:lnTo>
                    <a:pt x="11305413" y="660400"/>
                  </a:lnTo>
                  <a:lnTo>
                    <a:pt x="0" y="66040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57250" y="4310062"/>
            <a:ext cx="8479041" cy="9525"/>
            <a:chOff x="0" y="0"/>
            <a:chExt cx="11305388" cy="127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1305413" cy="12700"/>
            </a:xfrm>
            <a:custGeom>
              <a:avLst/>
              <a:gdLst/>
              <a:ahLst/>
              <a:cxnLst/>
              <a:rect l="l" t="t" r="r" b="b"/>
              <a:pathLst>
                <a:path w="11305413" h="12700">
                  <a:moveTo>
                    <a:pt x="0" y="0"/>
                  </a:moveTo>
                  <a:lnTo>
                    <a:pt x="11305413" y="0"/>
                  </a:lnTo>
                  <a:lnTo>
                    <a:pt x="11305413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028700" y="3919538"/>
            <a:ext cx="2402119" cy="342900"/>
            <a:chOff x="0" y="0"/>
            <a:chExt cx="3202826" cy="4572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3202823" cy="457200"/>
            </a:xfrm>
            <a:custGeom>
              <a:avLst/>
              <a:gdLst/>
              <a:ahLst/>
              <a:cxnLst/>
              <a:rect l="l" t="t" r="r" b="b"/>
              <a:pathLst>
                <a:path w="3202823" h="457200">
                  <a:moveTo>
                    <a:pt x="0" y="0"/>
                  </a:moveTo>
                  <a:lnTo>
                    <a:pt x="3202823" y="0"/>
                  </a:lnTo>
                  <a:lnTo>
                    <a:pt x="3202823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498" b="-8649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9525"/>
              <a:ext cx="3202826" cy="466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23A6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shape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693766" y="3919538"/>
            <a:ext cx="5645487" cy="342900"/>
            <a:chOff x="0" y="0"/>
            <a:chExt cx="7527315" cy="4572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7527320" cy="457200"/>
            </a:xfrm>
            <a:custGeom>
              <a:avLst/>
              <a:gdLst/>
              <a:ahLst/>
              <a:cxnLst/>
              <a:rect l="l" t="t" r="r" b="b"/>
              <a:pathLst>
                <a:path w="7527320" h="457200">
                  <a:moveTo>
                    <a:pt x="0" y="0"/>
                  </a:moveTo>
                  <a:lnTo>
                    <a:pt x="7527320" y="0"/>
                  </a:lnTo>
                  <a:lnTo>
                    <a:pt x="75273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800" b="-27080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19050"/>
              <a:ext cx="7527315" cy="47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Hình dạng, bo góc của dialog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57250" y="4805362"/>
            <a:ext cx="8479041" cy="9525"/>
            <a:chOff x="0" y="0"/>
            <a:chExt cx="11305388" cy="127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1305413" cy="12700"/>
            </a:xfrm>
            <a:custGeom>
              <a:avLst/>
              <a:gdLst/>
              <a:ahLst/>
              <a:cxnLst/>
              <a:rect l="l" t="t" r="r" b="b"/>
              <a:pathLst>
                <a:path w="11305413" h="12700">
                  <a:moveTo>
                    <a:pt x="0" y="0"/>
                  </a:moveTo>
                  <a:lnTo>
                    <a:pt x="11305413" y="0"/>
                  </a:lnTo>
                  <a:lnTo>
                    <a:pt x="11305413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028700" y="4414838"/>
            <a:ext cx="2402119" cy="342900"/>
            <a:chOff x="0" y="0"/>
            <a:chExt cx="3202826" cy="4572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3202823" cy="457200"/>
            </a:xfrm>
            <a:custGeom>
              <a:avLst/>
              <a:gdLst/>
              <a:ahLst/>
              <a:cxnLst/>
              <a:rect l="l" t="t" r="r" b="b"/>
              <a:pathLst>
                <a:path w="3202823" h="457200">
                  <a:moveTo>
                    <a:pt x="0" y="0"/>
                  </a:moveTo>
                  <a:lnTo>
                    <a:pt x="3202823" y="0"/>
                  </a:lnTo>
                  <a:lnTo>
                    <a:pt x="3202823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498" b="-8649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9525"/>
              <a:ext cx="3202826" cy="466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23A6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backgroundColor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3693766" y="4414838"/>
            <a:ext cx="5645487" cy="342900"/>
            <a:chOff x="0" y="0"/>
            <a:chExt cx="7527315" cy="4572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7527320" cy="457200"/>
            </a:xfrm>
            <a:custGeom>
              <a:avLst/>
              <a:gdLst/>
              <a:ahLst/>
              <a:cxnLst/>
              <a:rect l="l" t="t" r="r" b="b"/>
              <a:pathLst>
                <a:path w="7527320" h="457200">
                  <a:moveTo>
                    <a:pt x="0" y="0"/>
                  </a:moveTo>
                  <a:lnTo>
                    <a:pt x="7527320" y="0"/>
                  </a:lnTo>
                  <a:lnTo>
                    <a:pt x="75273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800" b="-27080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19050"/>
              <a:ext cx="7527315" cy="47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Màu nền dialog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028700" y="4910138"/>
            <a:ext cx="2402119" cy="338138"/>
            <a:chOff x="0" y="0"/>
            <a:chExt cx="3202826" cy="45085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3202823" cy="450851"/>
            </a:xfrm>
            <a:custGeom>
              <a:avLst/>
              <a:gdLst/>
              <a:ahLst/>
              <a:cxnLst/>
              <a:rect l="l" t="t" r="r" b="b"/>
              <a:pathLst>
                <a:path w="3202823" h="450851">
                  <a:moveTo>
                    <a:pt x="0" y="0"/>
                  </a:moveTo>
                  <a:lnTo>
                    <a:pt x="3202823" y="0"/>
                  </a:lnTo>
                  <a:lnTo>
                    <a:pt x="3202823" y="450851"/>
                  </a:lnTo>
                  <a:lnTo>
                    <a:pt x="0" y="450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8421" b="-8842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9525"/>
              <a:ext cx="3202826" cy="4603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23A6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contentPadding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3693766" y="4910138"/>
            <a:ext cx="5645487" cy="338138"/>
            <a:chOff x="0" y="0"/>
            <a:chExt cx="7527315" cy="45085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7527320" cy="450851"/>
            </a:xfrm>
            <a:custGeom>
              <a:avLst/>
              <a:gdLst/>
              <a:ahLst/>
              <a:cxnLst/>
              <a:rect l="l" t="t" r="r" b="b"/>
              <a:pathLst>
                <a:path w="7527320" h="450851">
                  <a:moveTo>
                    <a:pt x="0" y="0"/>
                  </a:moveTo>
                  <a:lnTo>
                    <a:pt x="7527320" y="0"/>
                  </a:lnTo>
                  <a:lnTo>
                    <a:pt x="7527320" y="450851"/>
                  </a:lnTo>
                  <a:lnTo>
                    <a:pt x="0" y="450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5318" b="-27531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19050"/>
              <a:ext cx="7527315" cy="4699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Khoảng cách padding cho content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9793491" y="1847850"/>
            <a:ext cx="7637259" cy="2933700"/>
            <a:chOff x="0" y="0"/>
            <a:chExt cx="10183012" cy="391160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0182987" cy="3911600"/>
            </a:xfrm>
            <a:custGeom>
              <a:avLst/>
              <a:gdLst/>
              <a:ahLst/>
              <a:cxnLst/>
              <a:rect l="l" t="t" r="r" b="b"/>
              <a:pathLst>
                <a:path w="10182987" h="39116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10005187" y="0"/>
                  </a:lnTo>
                  <a:cubicBezTo>
                    <a:pt x="10103358" y="0"/>
                    <a:pt x="10182987" y="79629"/>
                    <a:pt x="10182987" y="177800"/>
                  </a:cubicBezTo>
                  <a:lnTo>
                    <a:pt x="10182987" y="3733800"/>
                  </a:lnTo>
                  <a:cubicBezTo>
                    <a:pt x="10182987" y="3831971"/>
                    <a:pt x="10103358" y="3911600"/>
                    <a:pt x="10005187" y="3911600"/>
                  </a:cubicBezTo>
                  <a:lnTo>
                    <a:pt x="177800" y="3911600"/>
                  </a:lnTo>
                  <a:cubicBezTo>
                    <a:pt x="79629" y="3911600"/>
                    <a:pt x="0" y="3831971"/>
                    <a:pt x="0" y="3733800"/>
                  </a:cubicBezTo>
                  <a:close/>
                </a:path>
              </a:pathLst>
            </a:custGeom>
            <a:solidFill>
              <a:srgbClr val="101C2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0" name="TextBox 70"/>
          <p:cNvSpPr txBox="1"/>
          <p:nvPr/>
        </p:nvSpPr>
        <p:spPr>
          <a:xfrm>
            <a:off x="10104634" y="2092328"/>
            <a:ext cx="7244086" cy="2435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AlertDialog(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shape: RoundedRectangleBorder(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borderRadius: BorderRadius.circular(16),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),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backgroundColor: Colors.white,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...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</p:txBody>
      </p:sp>
      <p:grpSp>
        <p:nvGrpSpPr>
          <p:cNvPr id="71" name="Group 71"/>
          <p:cNvGrpSpPr/>
          <p:nvPr/>
        </p:nvGrpSpPr>
        <p:grpSpPr>
          <a:xfrm>
            <a:off x="0" y="9705975"/>
            <a:ext cx="18288000" cy="9525"/>
            <a:chOff x="0" y="0"/>
            <a:chExt cx="24384000" cy="1270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24384000" cy="12700"/>
            </a:xfrm>
            <a:custGeom>
              <a:avLst/>
              <a:gdLst/>
              <a:ahLst/>
              <a:cxnLst/>
              <a:rect l="l" t="t" r="r" b="b"/>
              <a:pathLst>
                <a:path w="24384000" h="127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857250" y="9934575"/>
            <a:ext cx="133350" cy="133350"/>
            <a:chOff x="0" y="0"/>
            <a:chExt cx="177800" cy="17780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39700" y="0"/>
                  </a:lnTo>
                  <a:cubicBezTo>
                    <a:pt x="160782" y="0"/>
                    <a:pt x="177800" y="17018"/>
                    <a:pt x="177800" y="38100"/>
                  </a:cubicBezTo>
                  <a:lnTo>
                    <a:pt x="177800" y="139700"/>
                  </a:lnTo>
                  <a:cubicBezTo>
                    <a:pt x="177800" y="160782"/>
                    <a:pt x="160782" y="177800"/>
                    <a:pt x="139700" y="177800"/>
                  </a:cubicBezTo>
                  <a:lnTo>
                    <a:pt x="38100" y="177800"/>
                  </a:lnTo>
                  <a:cubicBezTo>
                    <a:pt x="17018" y="177800"/>
                    <a:pt x="0" y="160782"/>
                    <a:pt x="0" y="139700"/>
                  </a:cubicBezTo>
                  <a:close/>
                </a:path>
              </a:pathLst>
            </a:custGeom>
            <a:solidFill>
              <a:srgbClr val="F2B4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1111253" y="9869491"/>
            <a:ext cx="4081920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3.2.3. Các loại Widget trong Flutter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5475991" y="9869491"/>
            <a:ext cx="2127371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https://huit.edu.vn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28750"/>
            <a:chOff x="0" y="0"/>
            <a:chExt cx="24384000" cy="190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05000"/>
            </a:xfrm>
            <a:custGeom>
              <a:avLst/>
              <a:gdLst/>
              <a:ahLst/>
              <a:cxnLst/>
              <a:rect l="l" t="t" r="r" b="b"/>
              <a:pathLst>
                <a:path w="24384000" h="1905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F5F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838200" y="0"/>
                  </a:lnTo>
                  <a:cubicBezTo>
                    <a:pt x="908304" y="0"/>
                    <a:pt x="965200" y="56896"/>
                    <a:pt x="965200" y="127000"/>
                  </a:cubicBezTo>
                  <a:lnTo>
                    <a:pt x="965200" y="838200"/>
                  </a:lnTo>
                  <a:cubicBezTo>
                    <a:pt x="965200" y="908304"/>
                    <a:pt x="908304" y="965200"/>
                    <a:pt x="838200" y="965200"/>
                  </a:cubicBezTo>
                  <a:lnTo>
                    <a:pt x="127000" y="965200"/>
                  </a:lnTo>
                  <a:cubicBezTo>
                    <a:pt x="56896" y="965200"/>
                    <a:pt x="0" y="908304"/>
                    <a:pt x="0" y="8382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0"/>
                  </a:moveTo>
                  <a:lnTo>
                    <a:pt x="965200" y="0"/>
                  </a:lnTo>
                  <a:lnTo>
                    <a:pt x="9652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73253" y="320678"/>
            <a:ext cx="6331306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144">
                <a:solidFill>
                  <a:srgbClr val="F2B400"/>
                </a:solidFill>
                <a:latin typeface="Arial Bold"/>
                <a:ea typeface="Arial Bold"/>
                <a:cs typeface="Arial Bold"/>
                <a:sym typeface="Arial Bold"/>
              </a:rPr>
              <a:t>3.2.3.3 · DIALOG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73253" y="635003"/>
            <a:ext cx="6331306" cy="49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SimpleDialog — dạng chọn lựa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2653" y="1778003"/>
            <a:ext cx="18180053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Dùng khi cần cho người dùng chọn 1 trong nhiều lựa chọn (giống menu)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857250" y="2219325"/>
            <a:ext cx="16573500" cy="7296150"/>
            <a:chOff x="0" y="0"/>
            <a:chExt cx="22098000" cy="9728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098000" cy="9728200"/>
            </a:xfrm>
            <a:custGeom>
              <a:avLst/>
              <a:gdLst/>
              <a:ahLst/>
              <a:cxnLst/>
              <a:rect l="l" t="t" r="r" b="b"/>
              <a:pathLst>
                <a:path w="22098000" h="97282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21920200" y="0"/>
                  </a:lnTo>
                  <a:cubicBezTo>
                    <a:pt x="22018371" y="0"/>
                    <a:pt x="22098000" y="79629"/>
                    <a:pt x="22098000" y="177800"/>
                  </a:cubicBezTo>
                  <a:lnTo>
                    <a:pt x="22098000" y="9550400"/>
                  </a:lnTo>
                  <a:cubicBezTo>
                    <a:pt x="22098000" y="9648571"/>
                    <a:pt x="22018371" y="9728200"/>
                    <a:pt x="21920200" y="9728200"/>
                  </a:cubicBezTo>
                  <a:lnTo>
                    <a:pt x="177800" y="9728200"/>
                  </a:lnTo>
                  <a:cubicBezTo>
                    <a:pt x="79629" y="9728200"/>
                    <a:pt x="0" y="9648571"/>
                    <a:pt x="0" y="9550400"/>
                  </a:cubicBezTo>
                  <a:close/>
                </a:path>
              </a:pathLst>
            </a:custGeom>
            <a:solidFill>
              <a:srgbClr val="101C2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87453" y="2425703"/>
            <a:ext cx="16410308" cy="6854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4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showDialog(</a:t>
            </a:r>
          </a:p>
          <a:p>
            <a:pPr algn="l">
              <a:lnSpc>
                <a:spcPts val="2784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context: context,</a:t>
            </a:r>
          </a:p>
          <a:p>
            <a:pPr algn="l">
              <a:lnSpc>
                <a:spcPts val="2784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builder: (context) =&gt; SimpleDialog(</a:t>
            </a:r>
          </a:p>
          <a:p>
            <a:pPr algn="l">
              <a:lnSpc>
                <a:spcPts val="2784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title: Text('Chọn ngôn ngữ'),</a:t>
            </a:r>
          </a:p>
          <a:p>
            <a:pPr algn="l">
              <a:lnSpc>
                <a:spcPts val="2784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children: [</a:t>
            </a:r>
          </a:p>
          <a:p>
            <a:pPr algn="l">
              <a:lnSpc>
                <a:spcPts val="2784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SimpleDialogOption(onPressed: () =&gt; Navigator.pop(context, 'vi'), child: Text('Tiếng Việt')),</a:t>
            </a:r>
          </a:p>
          <a:p>
            <a:pPr algn="l">
              <a:lnSpc>
                <a:spcPts val="2784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SimpleDialogOption(onPressed: () =&gt; Navigator.pop(context, 'en'), child: Text('English')),</a:t>
            </a:r>
          </a:p>
          <a:p>
            <a:pPr algn="l">
              <a:lnSpc>
                <a:spcPts val="2784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],</a:t>
            </a:r>
          </a:p>
          <a:p>
            <a:pPr algn="l">
              <a:lnSpc>
                <a:spcPts val="2784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),</a:t>
            </a:r>
          </a:p>
          <a:p>
            <a:pPr algn="l">
              <a:lnSpc>
                <a:spcPts val="2784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0" y="9705975"/>
            <a:ext cx="18288000" cy="9525"/>
            <a:chOff x="0" y="0"/>
            <a:chExt cx="24384000" cy="127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384000" cy="12700"/>
            </a:xfrm>
            <a:custGeom>
              <a:avLst/>
              <a:gdLst/>
              <a:ahLst/>
              <a:cxnLst/>
              <a:rect l="l" t="t" r="r" b="b"/>
              <a:pathLst>
                <a:path w="24384000" h="127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57250" y="9934575"/>
            <a:ext cx="133350" cy="133350"/>
            <a:chOff x="0" y="0"/>
            <a:chExt cx="177800" cy="177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39700" y="0"/>
                  </a:lnTo>
                  <a:cubicBezTo>
                    <a:pt x="160782" y="0"/>
                    <a:pt x="177800" y="17018"/>
                    <a:pt x="177800" y="38100"/>
                  </a:cubicBezTo>
                  <a:lnTo>
                    <a:pt x="177800" y="139700"/>
                  </a:lnTo>
                  <a:cubicBezTo>
                    <a:pt x="177800" y="160782"/>
                    <a:pt x="160782" y="177800"/>
                    <a:pt x="139700" y="177800"/>
                  </a:cubicBezTo>
                  <a:lnTo>
                    <a:pt x="38100" y="177800"/>
                  </a:lnTo>
                  <a:cubicBezTo>
                    <a:pt x="17018" y="177800"/>
                    <a:pt x="0" y="160782"/>
                    <a:pt x="0" y="139700"/>
                  </a:cubicBezTo>
                  <a:close/>
                </a:path>
              </a:pathLst>
            </a:custGeom>
            <a:solidFill>
              <a:srgbClr val="F2B4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11253" y="9869491"/>
            <a:ext cx="4081920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3.2.3. Các loại Widget trong Flutter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475991" y="9869491"/>
            <a:ext cx="2127371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https://huit.edu.vn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28750"/>
            <a:chOff x="0" y="0"/>
            <a:chExt cx="24384000" cy="190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05000"/>
            </a:xfrm>
            <a:custGeom>
              <a:avLst/>
              <a:gdLst/>
              <a:ahLst/>
              <a:cxnLst/>
              <a:rect l="l" t="t" r="r" b="b"/>
              <a:pathLst>
                <a:path w="24384000" h="1905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F5F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838200" y="0"/>
                  </a:lnTo>
                  <a:cubicBezTo>
                    <a:pt x="908304" y="0"/>
                    <a:pt x="965200" y="56896"/>
                    <a:pt x="965200" y="127000"/>
                  </a:cubicBezTo>
                  <a:lnTo>
                    <a:pt x="965200" y="838200"/>
                  </a:lnTo>
                  <a:cubicBezTo>
                    <a:pt x="965200" y="908304"/>
                    <a:pt x="908304" y="965200"/>
                    <a:pt x="838200" y="965200"/>
                  </a:cubicBezTo>
                  <a:lnTo>
                    <a:pt x="127000" y="965200"/>
                  </a:lnTo>
                  <a:cubicBezTo>
                    <a:pt x="56896" y="965200"/>
                    <a:pt x="0" y="908304"/>
                    <a:pt x="0" y="8382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0"/>
                  </a:moveTo>
                  <a:lnTo>
                    <a:pt x="965200" y="0"/>
                  </a:lnTo>
                  <a:lnTo>
                    <a:pt x="9652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73253" y="320678"/>
            <a:ext cx="5587565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144">
                <a:solidFill>
                  <a:srgbClr val="F2B400"/>
                </a:solidFill>
                <a:latin typeface="Arial Bold"/>
                <a:ea typeface="Arial Bold"/>
                <a:cs typeface="Arial Bold"/>
                <a:sym typeface="Arial Bold"/>
              </a:rPr>
              <a:t>3.2.3.3 · DIALOG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73253" y="635003"/>
            <a:ext cx="5587565" cy="49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Nhận giá trị trả về từ Dialog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2653" y="1778003"/>
            <a:ext cx="18180053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showDialog trả về một Future, có thể await để lấy kết quả người dùng chọn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857250" y="2219325"/>
            <a:ext cx="16573500" cy="7296150"/>
            <a:chOff x="0" y="0"/>
            <a:chExt cx="22098000" cy="9728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098000" cy="9728200"/>
            </a:xfrm>
            <a:custGeom>
              <a:avLst/>
              <a:gdLst/>
              <a:ahLst/>
              <a:cxnLst/>
              <a:rect l="l" t="t" r="r" b="b"/>
              <a:pathLst>
                <a:path w="22098000" h="97282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21920200" y="0"/>
                  </a:lnTo>
                  <a:cubicBezTo>
                    <a:pt x="22018371" y="0"/>
                    <a:pt x="22098000" y="79629"/>
                    <a:pt x="22098000" y="177800"/>
                  </a:cubicBezTo>
                  <a:lnTo>
                    <a:pt x="22098000" y="9550400"/>
                  </a:lnTo>
                  <a:cubicBezTo>
                    <a:pt x="22098000" y="9648571"/>
                    <a:pt x="22018371" y="9728200"/>
                    <a:pt x="21920200" y="9728200"/>
                  </a:cubicBezTo>
                  <a:lnTo>
                    <a:pt x="177800" y="9728200"/>
                  </a:lnTo>
                  <a:cubicBezTo>
                    <a:pt x="79629" y="9728200"/>
                    <a:pt x="0" y="9648571"/>
                    <a:pt x="0" y="9550400"/>
                  </a:cubicBezTo>
                  <a:close/>
                </a:path>
              </a:pathLst>
            </a:custGeom>
            <a:solidFill>
              <a:srgbClr val="101C2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87453" y="2435228"/>
            <a:ext cx="16410308" cy="6845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9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final result = await showDialog&lt;String&gt;(</a:t>
            </a:r>
          </a:p>
          <a:p>
            <a:pPr algn="l">
              <a:lnSpc>
                <a:spcPts val="2439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context: context,</a:t>
            </a:r>
          </a:p>
          <a:p>
            <a:pPr algn="l">
              <a:lnSpc>
                <a:spcPts val="2439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builder: (context) =&gt; AlertDialog(</a:t>
            </a:r>
          </a:p>
          <a:p>
            <a:pPr algn="l">
              <a:lnSpc>
                <a:spcPts val="2439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title: Text('Xác nhận'),</a:t>
            </a:r>
          </a:p>
          <a:p>
            <a:pPr algn="l">
              <a:lnSpc>
                <a:spcPts val="2439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actions: [</a:t>
            </a:r>
          </a:p>
          <a:p>
            <a:pPr algn="l">
              <a:lnSpc>
                <a:spcPts val="2439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TextButton(onPressed: () =&gt; Navigator.pop(context, 'yes'), child: Text('Đồng ý')),</a:t>
            </a:r>
          </a:p>
          <a:p>
            <a:pPr algn="l">
              <a:lnSpc>
                <a:spcPts val="2439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TextButton(onPressed: () =&gt; Navigator.pop(context, 'no'), child: Text('Từ chối')),</a:t>
            </a:r>
          </a:p>
          <a:p>
            <a:pPr algn="l">
              <a:lnSpc>
                <a:spcPts val="2439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],</a:t>
            </a:r>
          </a:p>
          <a:p>
            <a:pPr algn="l">
              <a:lnSpc>
                <a:spcPts val="2439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),</a:t>
            </a:r>
          </a:p>
          <a:p>
            <a:pPr algn="l">
              <a:lnSpc>
                <a:spcPts val="2439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</a:p>
          <a:p>
            <a:pPr algn="l">
              <a:lnSpc>
                <a:spcPts val="2439"/>
              </a:lnSpc>
            </a:pPr>
            <a:endParaRPr lang="en-US" sz="1650">
              <a:solidFill>
                <a:srgbClr val="E7EDF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algn="l">
              <a:lnSpc>
                <a:spcPts val="2439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if (result == 'yes') {</a:t>
            </a:r>
          </a:p>
          <a:p>
            <a:pPr algn="l">
              <a:lnSpc>
                <a:spcPts val="2439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// Xử lý khi người dùng đồng ý</a:t>
            </a:r>
          </a:p>
          <a:p>
            <a:pPr algn="l">
              <a:lnSpc>
                <a:spcPts val="2439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0" y="9705975"/>
            <a:ext cx="18288000" cy="9525"/>
            <a:chOff x="0" y="0"/>
            <a:chExt cx="24384000" cy="127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384000" cy="12700"/>
            </a:xfrm>
            <a:custGeom>
              <a:avLst/>
              <a:gdLst/>
              <a:ahLst/>
              <a:cxnLst/>
              <a:rect l="l" t="t" r="r" b="b"/>
              <a:pathLst>
                <a:path w="24384000" h="127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57250" y="9934575"/>
            <a:ext cx="133350" cy="133350"/>
            <a:chOff x="0" y="0"/>
            <a:chExt cx="177800" cy="177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39700" y="0"/>
                  </a:lnTo>
                  <a:cubicBezTo>
                    <a:pt x="160782" y="0"/>
                    <a:pt x="177800" y="17018"/>
                    <a:pt x="177800" y="38100"/>
                  </a:cubicBezTo>
                  <a:lnTo>
                    <a:pt x="177800" y="139700"/>
                  </a:lnTo>
                  <a:cubicBezTo>
                    <a:pt x="177800" y="160782"/>
                    <a:pt x="160782" y="177800"/>
                    <a:pt x="139700" y="177800"/>
                  </a:cubicBezTo>
                  <a:lnTo>
                    <a:pt x="38100" y="177800"/>
                  </a:lnTo>
                  <a:cubicBezTo>
                    <a:pt x="17018" y="177800"/>
                    <a:pt x="0" y="160782"/>
                    <a:pt x="0" y="139700"/>
                  </a:cubicBezTo>
                  <a:close/>
                </a:path>
              </a:pathLst>
            </a:custGeom>
            <a:solidFill>
              <a:srgbClr val="F2B4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11253" y="9869491"/>
            <a:ext cx="4081920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3.2.3. Các loại Widget trong Flutter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475991" y="9869491"/>
            <a:ext cx="2127371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https://huit.edu.vn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28750"/>
            <a:chOff x="0" y="0"/>
            <a:chExt cx="24384000" cy="190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05000"/>
            </a:xfrm>
            <a:custGeom>
              <a:avLst/>
              <a:gdLst/>
              <a:ahLst/>
              <a:cxnLst/>
              <a:rect l="l" t="t" r="r" b="b"/>
              <a:pathLst>
                <a:path w="24384000" h="1905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F5F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838200" y="0"/>
                  </a:lnTo>
                  <a:cubicBezTo>
                    <a:pt x="908304" y="0"/>
                    <a:pt x="965200" y="56896"/>
                    <a:pt x="965200" y="127000"/>
                  </a:cubicBezTo>
                  <a:lnTo>
                    <a:pt x="965200" y="838200"/>
                  </a:lnTo>
                  <a:cubicBezTo>
                    <a:pt x="965200" y="908304"/>
                    <a:pt x="908304" y="965200"/>
                    <a:pt x="838200" y="965200"/>
                  </a:cubicBezTo>
                  <a:lnTo>
                    <a:pt x="127000" y="965200"/>
                  </a:lnTo>
                  <a:cubicBezTo>
                    <a:pt x="56896" y="965200"/>
                    <a:pt x="0" y="908304"/>
                    <a:pt x="0" y="8382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0"/>
                  </a:moveTo>
                  <a:lnTo>
                    <a:pt x="965200" y="0"/>
                  </a:lnTo>
                  <a:lnTo>
                    <a:pt x="9652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73253" y="320678"/>
            <a:ext cx="6687874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144">
                <a:solidFill>
                  <a:srgbClr val="F2B400"/>
                </a:solidFill>
                <a:latin typeface="Arial Bold"/>
                <a:ea typeface="Arial Bold"/>
                <a:cs typeface="Arial Bold"/>
                <a:sym typeface="Arial Bold"/>
              </a:rPr>
              <a:t>3.2.3.3 · DIALOG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73253" y="635003"/>
            <a:ext cx="6687874" cy="49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Dialog tùy chỉnh (Custom Dialog)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2653" y="1720853"/>
            <a:ext cx="18180053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Dùng Dialog widget kết hợp Container để thiết kế giao diện tự do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857250" y="2124075"/>
            <a:ext cx="16573500" cy="7391400"/>
            <a:chOff x="0" y="0"/>
            <a:chExt cx="22098000" cy="9855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098000" cy="9855200"/>
            </a:xfrm>
            <a:custGeom>
              <a:avLst/>
              <a:gdLst/>
              <a:ahLst/>
              <a:cxnLst/>
              <a:rect l="l" t="t" r="r" b="b"/>
              <a:pathLst>
                <a:path w="22098000" h="98552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21920200" y="0"/>
                  </a:lnTo>
                  <a:cubicBezTo>
                    <a:pt x="22018371" y="0"/>
                    <a:pt x="22098000" y="79629"/>
                    <a:pt x="22098000" y="177800"/>
                  </a:cubicBezTo>
                  <a:lnTo>
                    <a:pt x="22098000" y="9677400"/>
                  </a:lnTo>
                  <a:cubicBezTo>
                    <a:pt x="22098000" y="9775571"/>
                    <a:pt x="22018371" y="9855200"/>
                    <a:pt x="21920200" y="9855200"/>
                  </a:cubicBezTo>
                  <a:lnTo>
                    <a:pt x="177800" y="9855200"/>
                  </a:lnTo>
                  <a:cubicBezTo>
                    <a:pt x="79629" y="9855200"/>
                    <a:pt x="0" y="9775571"/>
                    <a:pt x="0" y="9677400"/>
                  </a:cubicBezTo>
                  <a:close/>
                </a:path>
              </a:pathLst>
            </a:custGeom>
            <a:solidFill>
              <a:srgbClr val="101C2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68403" y="2311403"/>
            <a:ext cx="16448408" cy="7007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sz="15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showDialog(</a:t>
            </a:r>
          </a:p>
          <a:p>
            <a:pPr algn="l">
              <a:lnSpc>
                <a:spcPts val="2381"/>
              </a:lnSpc>
            </a:pPr>
            <a:r>
              <a:rPr lang="en-US" sz="15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context: context,</a:t>
            </a:r>
          </a:p>
          <a:p>
            <a:pPr algn="l">
              <a:lnSpc>
                <a:spcPts val="2381"/>
              </a:lnSpc>
            </a:pPr>
            <a:r>
              <a:rPr lang="en-US" sz="15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builder: (context) =&gt; Dialog(</a:t>
            </a:r>
          </a:p>
          <a:p>
            <a:pPr algn="l">
              <a:lnSpc>
                <a:spcPts val="2381"/>
              </a:lnSpc>
            </a:pPr>
            <a:r>
              <a:rPr lang="en-US" sz="15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shape: RoundedRectangleBorder(borderRadius: BorderRadius.circular(20)),</a:t>
            </a:r>
          </a:p>
          <a:p>
            <a:pPr algn="l">
              <a:lnSpc>
                <a:spcPts val="2381"/>
              </a:lnSpc>
            </a:pPr>
            <a:r>
              <a:rPr lang="en-US" sz="15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child: Container(</a:t>
            </a:r>
          </a:p>
          <a:p>
            <a:pPr algn="l">
              <a:lnSpc>
                <a:spcPts val="2381"/>
              </a:lnSpc>
            </a:pPr>
            <a:r>
              <a:rPr lang="en-US" sz="15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padding: EdgeInsets.all(20),</a:t>
            </a:r>
          </a:p>
          <a:p>
            <a:pPr algn="l">
              <a:lnSpc>
                <a:spcPts val="2381"/>
              </a:lnSpc>
            </a:pPr>
            <a:r>
              <a:rPr lang="en-US" sz="15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child: Column(</a:t>
            </a:r>
          </a:p>
          <a:p>
            <a:pPr algn="l">
              <a:lnSpc>
                <a:spcPts val="2381"/>
              </a:lnSpc>
            </a:pPr>
            <a:r>
              <a:rPr lang="en-US" sz="15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mainAxisSize: MainAxisSize.min,</a:t>
            </a:r>
          </a:p>
          <a:p>
            <a:pPr algn="l">
              <a:lnSpc>
                <a:spcPts val="2381"/>
              </a:lnSpc>
            </a:pPr>
            <a:r>
              <a:rPr lang="en-US" sz="15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children: [</a:t>
            </a:r>
          </a:p>
          <a:p>
            <a:pPr algn="l">
              <a:lnSpc>
                <a:spcPts val="2381"/>
              </a:lnSpc>
            </a:pPr>
            <a:r>
              <a:rPr lang="en-US" sz="15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Icon(Icons.check_circle, color: Colors.green, size: 60),</a:t>
            </a:r>
          </a:p>
          <a:p>
            <a:pPr algn="l">
              <a:lnSpc>
                <a:spcPts val="2381"/>
              </a:lnSpc>
            </a:pPr>
            <a:r>
              <a:rPr lang="en-US" sz="15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SizedBox(height: 16),</a:t>
            </a:r>
          </a:p>
          <a:p>
            <a:pPr algn="l">
              <a:lnSpc>
                <a:spcPts val="2381"/>
              </a:lnSpc>
            </a:pPr>
            <a:r>
              <a:rPr lang="en-US" sz="15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Text('Thành công!', style: TextStyle(fontSize: 20)),</a:t>
            </a:r>
          </a:p>
          <a:p>
            <a:pPr algn="l">
              <a:lnSpc>
                <a:spcPts val="2381"/>
              </a:lnSpc>
            </a:pPr>
            <a:r>
              <a:rPr lang="en-US" sz="15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SizedBox(height: 8),</a:t>
            </a:r>
          </a:p>
          <a:p>
            <a:pPr algn="l">
              <a:lnSpc>
                <a:spcPts val="2381"/>
              </a:lnSpc>
            </a:pPr>
            <a:r>
              <a:rPr lang="en-US" sz="15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Text('Dữ liệu đã được lưu.'),</a:t>
            </a:r>
          </a:p>
          <a:p>
            <a:pPr algn="l">
              <a:lnSpc>
                <a:spcPts val="2381"/>
              </a:lnSpc>
            </a:pPr>
            <a:r>
              <a:rPr lang="en-US" sz="15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SizedBox(height: 20),</a:t>
            </a:r>
          </a:p>
          <a:p>
            <a:pPr algn="l">
              <a:lnSpc>
                <a:spcPts val="2381"/>
              </a:lnSpc>
            </a:pPr>
            <a:r>
              <a:rPr lang="en-US" sz="15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ElevatedButton(onPressed: () =&gt; Navigator.pop(context), child: Text('Đóng')),</a:t>
            </a:r>
          </a:p>
          <a:p>
            <a:pPr algn="l">
              <a:lnSpc>
                <a:spcPts val="2381"/>
              </a:lnSpc>
            </a:pPr>
            <a:r>
              <a:rPr lang="en-US" sz="15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],</a:t>
            </a:r>
          </a:p>
          <a:p>
            <a:pPr algn="l">
              <a:lnSpc>
                <a:spcPts val="2381"/>
              </a:lnSpc>
            </a:pPr>
            <a:r>
              <a:rPr lang="en-US" sz="15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),</a:t>
            </a:r>
          </a:p>
          <a:p>
            <a:pPr algn="l">
              <a:lnSpc>
                <a:spcPts val="2381"/>
              </a:lnSpc>
            </a:pPr>
            <a:r>
              <a:rPr lang="en-US" sz="15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),</a:t>
            </a:r>
          </a:p>
          <a:p>
            <a:pPr algn="l">
              <a:lnSpc>
                <a:spcPts val="2381"/>
              </a:lnSpc>
            </a:pPr>
            <a:r>
              <a:rPr lang="en-US" sz="15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),</a:t>
            </a:r>
          </a:p>
          <a:p>
            <a:pPr algn="l">
              <a:lnSpc>
                <a:spcPts val="2381"/>
              </a:lnSpc>
            </a:pPr>
            <a:r>
              <a:rPr lang="en-US" sz="15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0" y="9705975"/>
            <a:ext cx="18288000" cy="9525"/>
            <a:chOff x="0" y="0"/>
            <a:chExt cx="24384000" cy="127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384000" cy="12700"/>
            </a:xfrm>
            <a:custGeom>
              <a:avLst/>
              <a:gdLst/>
              <a:ahLst/>
              <a:cxnLst/>
              <a:rect l="l" t="t" r="r" b="b"/>
              <a:pathLst>
                <a:path w="24384000" h="127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57250" y="9934575"/>
            <a:ext cx="133350" cy="133350"/>
            <a:chOff x="0" y="0"/>
            <a:chExt cx="177800" cy="177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39700" y="0"/>
                  </a:lnTo>
                  <a:cubicBezTo>
                    <a:pt x="160782" y="0"/>
                    <a:pt x="177800" y="17018"/>
                    <a:pt x="177800" y="38100"/>
                  </a:cubicBezTo>
                  <a:lnTo>
                    <a:pt x="177800" y="139700"/>
                  </a:lnTo>
                  <a:cubicBezTo>
                    <a:pt x="177800" y="160782"/>
                    <a:pt x="160782" y="177800"/>
                    <a:pt x="139700" y="177800"/>
                  </a:cubicBezTo>
                  <a:lnTo>
                    <a:pt x="38100" y="177800"/>
                  </a:lnTo>
                  <a:cubicBezTo>
                    <a:pt x="17018" y="177800"/>
                    <a:pt x="0" y="160782"/>
                    <a:pt x="0" y="139700"/>
                  </a:cubicBezTo>
                  <a:close/>
                </a:path>
              </a:pathLst>
            </a:custGeom>
            <a:solidFill>
              <a:srgbClr val="F2B4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11253" y="9869491"/>
            <a:ext cx="4081920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3.2.3. Các loại Widget trong Flutter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475991" y="9869491"/>
            <a:ext cx="2127371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https://huit.edu.vn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28750"/>
            <a:chOff x="0" y="0"/>
            <a:chExt cx="24384000" cy="190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05000"/>
            </a:xfrm>
            <a:custGeom>
              <a:avLst/>
              <a:gdLst/>
              <a:ahLst/>
              <a:cxnLst/>
              <a:rect l="l" t="t" r="r" b="b"/>
              <a:pathLst>
                <a:path w="24384000" h="1905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F5F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838200" y="0"/>
                  </a:lnTo>
                  <a:cubicBezTo>
                    <a:pt x="908304" y="0"/>
                    <a:pt x="965200" y="56896"/>
                    <a:pt x="965200" y="127000"/>
                  </a:cubicBezTo>
                  <a:lnTo>
                    <a:pt x="965200" y="838200"/>
                  </a:lnTo>
                  <a:cubicBezTo>
                    <a:pt x="965200" y="908304"/>
                    <a:pt x="908304" y="965200"/>
                    <a:pt x="838200" y="965200"/>
                  </a:cubicBezTo>
                  <a:lnTo>
                    <a:pt x="127000" y="965200"/>
                  </a:lnTo>
                  <a:cubicBezTo>
                    <a:pt x="56896" y="965200"/>
                    <a:pt x="0" y="908304"/>
                    <a:pt x="0" y="8382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0"/>
                  </a:moveTo>
                  <a:lnTo>
                    <a:pt x="965200" y="0"/>
                  </a:lnTo>
                  <a:lnTo>
                    <a:pt x="9652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73253" y="320678"/>
            <a:ext cx="8968035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144">
                <a:solidFill>
                  <a:srgbClr val="F2B400"/>
                </a:solidFill>
                <a:latin typeface="Arial Bold"/>
                <a:ea typeface="Arial Bold"/>
                <a:cs typeface="Arial Bold"/>
                <a:sym typeface="Arial Bold"/>
              </a:rPr>
              <a:t>3.2.3.3 · DIALOG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73253" y="635003"/>
            <a:ext cx="8968035" cy="49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Kiểm soát đóng Dialog — barrierDismissible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57250" y="1885950"/>
            <a:ext cx="8324850" cy="2319338"/>
            <a:chOff x="0" y="0"/>
            <a:chExt cx="11099800" cy="30924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099800" cy="3092450"/>
            </a:xfrm>
            <a:custGeom>
              <a:avLst/>
              <a:gdLst/>
              <a:ahLst/>
              <a:cxnLst/>
              <a:rect l="l" t="t" r="r" b="b"/>
              <a:pathLst>
                <a:path w="11099800" h="309245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10922000" y="0"/>
                  </a:lnTo>
                  <a:cubicBezTo>
                    <a:pt x="11020171" y="0"/>
                    <a:pt x="11099800" y="79629"/>
                    <a:pt x="11099800" y="177800"/>
                  </a:cubicBezTo>
                  <a:lnTo>
                    <a:pt x="11099800" y="2914650"/>
                  </a:lnTo>
                  <a:cubicBezTo>
                    <a:pt x="11099800" y="3012821"/>
                    <a:pt x="11020171" y="3092450"/>
                    <a:pt x="10922000" y="3092450"/>
                  </a:cubicBezTo>
                  <a:lnTo>
                    <a:pt x="177800" y="3092450"/>
                  </a:lnTo>
                  <a:cubicBezTo>
                    <a:pt x="79629" y="3092450"/>
                    <a:pt x="0" y="3012821"/>
                    <a:pt x="0" y="2914650"/>
                  </a:cubicBezTo>
                  <a:close/>
                </a:path>
              </a:pathLst>
            </a:custGeom>
            <a:solidFill>
              <a:srgbClr val="101C2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87453" y="2130428"/>
            <a:ext cx="7914199" cy="1820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8"/>
              </a:lnSpc>
            </a:pPr>
            <a:r>
              <a:rPr lang="en-US" sz="18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showDialog(</a:t>
            </a:r>
          </a:p>
          <a:p>
            <a:pPr algn="l">
              <a:lnSpc>
                <a:spcPts val="2618"/>
              </a:lnSpc>
            </a:pPr>
            <a:r>
              <a:rPr lang="en-US" sz="18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context: context,</a:t>
            </a:r>
          </a:p>
          <a:p>
            <a:pPr algn="l">
              <a:lnSpc>
                <a:spcPts val="2618"/>
              </a:lnSpc>
            </a:pPr>
            <a:r>
              <a:rPr lang="en-US" sz="18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barrierDismissible: false, // không cho tắt khi chạm ra ngoài</a:t>
            </a:r>
          </a:p>
          <a:p>
            <a:pPr algn="l">
              <a:lnSpc>
                <a:spcPts val="2618"/>
              </a:lnSpc>
            </a:pPr>
            <a:r>
              <a:rPr lang="en-US" sz="18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builder: (context) =&gt; AlertDialog(...),</a:t>
            </a:r>
          </a:p>
          <a:p>
            <a:pPr algn="l">
              <a:lnSpc>
                <a:spcPts val="2618"/>
              </a:lnSpc>
            </a:pPr>
            <a:r>
              <a:rPr lang="en-US" sz="18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25625" y="1955402"/>
            <a:ext cx="8862375" cy="2103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201"/>
              </a:lnSpc>
              <a:buFont typeface="Arial" panose="020B0604020202020204" pitchFamily="34" charset="0"/>
              <a:buChar char="•"/>
            </a:pPr>
            <a:r>
              <a:rPr lang="en-US" sz="2858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Mặc</a:t>
            </a:r>
            <a:r>
              <a:rPr lang="en-US" sz="2858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58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định</a:t>
            </a:r>
            <a:r>
              <a:rPr lang="en-US" sz="2858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58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barrierDismissible</a:t>
            </a:r>
            <a:r>
              <a:rPr lang="en-US" sz="2858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: true → </a:t>
            </a:r>
            <a:r>
              <a:rPr lang="en-US" sz="2858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người</a:t>
            </a:r>
            <a:r>
              <a:rPr lang="en-US" sz="2858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58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dùng</a:t>
            </a:r>
            <a:r>
              <a:rPr lang="en-US" sz="2858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58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có</a:t>
            </a:r>
            <a:r>
              <a:rPr lang="en-US" sz="2858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58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thể</a:t>
            </a:r>
            <a:r>
              <a:rPr lang="en-US" sz="2858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58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chạm</a:t>
            </a:r>
            <a:r>
              <a:rPr lang="en-US" sz="2858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58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ra</a:t>
            </a:r>
            <a:r>
              <a:rPr lang="en-US" sz="2858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58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ngoài</a:t>
            </a:r>
            <a:r>
              <a:rPr lang="en-US" sz="2858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58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để</a:t>
            </a:r>
            <a:r>
              <a:rPr lang="en-US" sz="2858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58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đóng</a:t>
            </a:r>
            <a:r>
              <a:rPr lang="en-US" sz="2858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dialog</a:t>
            </a:r>
          </a:p>
          <a:p>
            <a:pPr marL="457200" indent="-457200" algn="l">
              <a:lnSpc>
                <a:spcPts val="4201"/>
              </a:lnSpc>
              <a:buFont typeface="Arial" panose="020B0604020202020204" pitchFamily="34" charset="0"/>
              <a:buChar char="•"/>
            </a:pPr>
            <a:r>
              <a:rPr lang="en-US" sz="2858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Đặt</a:t>
            </a:r>
            <a:r>
              <a:rPr lang="en-US" sz="2858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false </a:t>
            </a:r>
            <a:r>
              <a:rPr lang="en-US" sz="2858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khi</a:t>
            </a:r>
            <a:r>
              <a:rPr lang="en-US" sz="2858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58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bắt</a:t>
            </a:r>
            <a:r>
              <a:rPr lang="en-US" sz="2858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58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buộc</a:t>
            </a:r>
            <a:r>
              <a:rPr lang="en-US" sz="2858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58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người</a:t>
            </a:r>
            <a:r>
              <a:rPr lang="en-US" sz="2858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58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dùng</a:t>
            </a:r>
            <a:r>
              <a:rPr lang="en-US" sz="2858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58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phải</a:t>
            </a:r>
            <a:r>
              <a:rPr lang="en-US" sz="2858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58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chọn</a:t>
            </a:r>
            <a:r>
              <a:rPr lang="en-US" sz="2858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1 </a:t>
            </a:r>
            <a:r>
              <a:rPr lang="en-US" sz="2858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hành</a:t>
            </a:r>
            <a:r>
              <a:rPr lang="en-US" sz="2858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58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động</a:t>
            </a:r>
            <a:r>
              <a:rPr lang="en-US" sz="2858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(VD: dialog loading, </a:t>
            </a:r>
            <a:r>
              <a:rPr lang="en-US" sz="2858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cảnh</a:t>
            </a:r>
            <a:r>
              <a:rPr lang="en-US" sz="2858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58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báo</a:t>
            </a:r>
            <a:r>
              <a:rPr lang="en-US" sz="2858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58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quan</a:t>
            </a:r>
            <a:r>
              <a:rPr lang="en-US" sz="2858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58" dirty="0" err="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trọng</a:t>
            </a:r>
            <a:r>
              <a:rPr lang="en-US" sz="2858" dirty="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0" y="9705975"/>
            <a:ext cx="18288000" cy="9525"/>
            <a:chOff x="0" y="0"/>
            <a:chExt cx="24384000" cy="127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384000" cy="12700"/>
            </a:xfrm>
            <a:custGeom>
              <a:avLst/>
              <a:gdLst/>
              <a:ahLst/>
              <a:cxnLst/>
              <a:rect l="l" t="t" r="r" b="b"/>
              <a:pathLst>
                <a:path w="24384000" h="127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57250" y="9934575"/>
            <a:ext cx="133350" cy="133350"/>
            <a:chOff x="0" y="0"/>
            <a:chExt cx="177800" cy="177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39700" y="0"/>
                  </a:lnTo>
                  <a:cubicBezTo>
                    <a:pt x="160782" y="0"/>
                    <a:pt x="177800" y="17018"/>
                    <a:pt x="177800" y="38100"/>
                  </a:cubicBezTo>
                  <a:lnTo>
                    <a:pt x="177800" y="139700"/>
                  </a:lnTo>
                  <a:cubicBezTo>
                    <a:pt x="177800" y="160782"/>
                    <a:pt x="160782" y="177800"/>
                    <a:pt x="139700" y="177800"/>
                  </a:cubicBezTo>
                  <a:lnTo>
                    <a:pt x="38100" y="177800"/>
                  </a:lnTo>
                  <a:cubicBezTo>
                    <a:pt x="17018" y="177800"/>
                    <a:pt x="0" y="160782"/>
                    <a:pt x="0" y="139700"/>
                  </a:cubicBezTo>
                  <a:close/>
                </a:path>
              </a:pathLst>
            </a:custGeom>
            <a:solidFill>
              <a:srgbClr val="F2B4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11253" y="9869491"/>
            <a:ext cx="4081920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3.2.3. Các loại Widget trong Flutter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475991" y="9869491"/>
            <a:ext cx="2127371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https://huit.edu.vn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28750"/>
            <a:chOff x="0" y="0"/>
            <a:chExt cx="24384000" cy="190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05000"/>
            </a:xfrm>
            <a:custGeom>
              <a:avLst/>
              <a:gdLst/>
              <a:ahLst/>
              <a:cxnLst/>
              <a:rect l="l" t="t" r="r" b="b"/>
              <a:pathLst>
                <a:path w="24384000" h="1905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F5F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838200" y="0"/>
                  </a:lnTo>
                  <a:cubicBezTo>
                    <a:pt x="908304" y="0"/>
                    <a:pt x="965200" y="56896"/>
                    <a:pt x="965200" y="127000"/>
                  </a:cubicBezTo>
                  <a:lnTo>
                    <a:pt x="965200" y="838200"/>
                  </a:lnTo>
                  <a:cubicBezTo>
                    <a:pt x="965200" y="908304"/>
                    <a:pt x="908304" y="965200"/>
                    <a:pt x="838200" y="965200"/>
                  </a:cubicBezTo>
                  <a:lnTo>
                    <a:pt x="127000" y="965200"/>
                  </a:lnTo>
                  <a:cubicBezTo>
                    <a:pt x="56896" y="965200"/>
                    <a:pt x="0" y="908304"/>
                    <a:pt x="0" y="8382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0"/>
                  </a:moveTo>
                  <a:lnTo>
                    <a:pt x="965200" y="0"/>
                  </a:lnTo>
                  <a:lnTo>
                    <a:pt x="9652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73253" y="320678"/>
            <a:ext cx="6201651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144">
                <a:solidFill>
                  <a:srgbClr val="F2B400"/>
                </a:solidFill>
                <a:latin typeface="Arial Bold"/>
                <a:ea typeface="Arial Bold"/>
                <a:cs typeface="Arial Bold"/>
                <a:sym typeface="Arial Bold"/>
              </a:rPr>
              <a:t>3.2.3.3 · DIALOG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73253" y="635003"/>
            <a:ext cx="517028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Các lưu ý khi dùng Dialog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2877" y="2246335"/>
            <a:ext cx="13609506" cy="6108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50391" lvl="1" indent="-475196" algn="l">
              <a:lnSpc>
                <a:spcPts val="6907"/>
              </a:lnSpc>
              <a:buFont typeface="Arial"/>
              <a:buChar char="•"/>
            </a:pPr>
            <a:r>
              <a:rPr lang="en-US" sz="440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Không lạm dụng Dialog quá nhiều gây khó chịu cho người dùng</a:t>
            </a:r>
          </a:p>
          <a:p>
            <a:pPr marL="950391" lvl="1" indent="-475196" algn="l">
              <a:lnSpc>
                <a:spcPts val="6907"/>
              </a:lnSpc>
              <a:buFont typeface="Arial"/>
              <a:buChar char="•"/>
            </a:pPr>
            <a:r>
              <a:rPr lang="en-US" sz="440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Luôn có nút đóng/hủy rõ ràng</a:t>
            </a:r>
          </a:p>
          <a:p>
            <a:pPr marL="950391" lvl="1" indent="-475196" algn="l">
              <a:lnSpc>
                <a:spcPts val="6907"/>
              </a:lnSpc>
              <a:buFont typeface="Arial"/>
              <a:buChar char="•"/>
            </a:pPr>
            <a:r>
              <a:rPr lang="en-US" sz="440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Sử dụng barrierDismissible: false cho các hành động quan trọng (xóa, thanh toán)</a:t>
            </a:r>
          </a:p>
          <a:p>
            <a:pPr marL="950391" lvl="1" indent="-475196" algn="l">
              <a:lnSpc>
                <a:spcPts val="6907"/>
              </a:lnSpc>
              <a:buFont typeface="Arial"/>
              <a:buChar char="•"/>
            </a:pPr>
            <a:r>
              <a:rPr lang="en-US" sz="440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Đặt tên nút hành động rõ ràng (VD: "Xóa" thay vì chỉ "OK")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0" y="9705975"/>
            <a:ext cx="18288000" cy="9525"/>
            <a:chOff x="0" y="0"/>
            <a:chExt cx="24384000" cy="127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384000" cy="12700"/>
            </a:xfrm>
            <a:custGeom>
              <a:avLst/>
              <a:gdLst/>
              <a:ahLst/>
              <a:cxnLst/>
              <a:rect l="l" t="t" r="r" b="b"/>
              <a:pathLst>
                <a:path w="24384000" h="127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57250" y="9934575"/>
            <a:ext cx="133350" cy="133350"/>
            <a:chOff x="0" y="0"/>
            <a:chExt cx="177800" cy="177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39700" y="0"/>
                  </a:lnTo>
                  <a:cubicBezTo>
                    <a:pt x="160782" y="0"/>
                    <a:pt x="177800" y="17018"/>
                    <a:pt x="177800" y="38100"/>
                  </a:cubicBezTo>
                  <a:lnTo>
                    <a:pt x="177800" y="139700"/>
                  </a:lnTo>
                  <a:cubicBezTo>
                    <a:pt x="177800" y="160782"/>
                    <a:pt x="160782" y="177800"/>
                    <a:pt x="139700" y="177800"/>
                  </a:cubicBezTo>
                  <a:lnTo>
                    <a:pt x="38100" y="177800"/>
                  </a:lnTo>
                  <a:cubicBezTo>
                    <a:pt x="17018" y="177800"/>
                    <a:pt x="0" y="160782"/>
                    <a:pt x="0" y="139700"/>
                  </a:cubicBezTo>
                  <a:close/>
                </a:path>
              </a:pathLst>
            </a:custGeom>
            <a:solidFill>
              <a:srgbClr val="F2B4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11253" y="9869491"/>
            <a:ext cx="4081920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3.2.3. Các loại Widget trong Flutter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475991" y="9869491"/>
            <a:ext cx="2127371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https://huit.edu.vn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250" y="571500"/>
            <a:ext cx="571500" cy="571500"/>
            <a:chOff x="0" y="0"/>
            <a:chExt cx="762000" cy="762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60400" y="0"/>
                  </a:lnTo>
                  <a:cubicBezTo>
                    <a:pt x="716534" y="0"/>
                    <a:pt x="762000" y="45466"/>
                    <a:pt x="762000" y="101600"/>
                  </a:cubicBezTo>
                  <a:lnTo>
                    <a:pt x="762000" y="660400"/>
                  </a:lnTo>
                  <a:cubicBezTo>
                    <a:pt x="762000" y="716534"/>
                    <a:pt x="716534" y="762000"/>
                    <a:pt x="660400" y="762000"/>
                  </a:cubicBezTo>
                  <a:lnTo>
                    <a:pt x="101600" y="762000"/>
                  </a:lnTo>
                  <a:cubicBezTo>
                    <a:pt x="45466" y="762000"/>
                    <a:pt x="0" y="716534"/>
                    <a:pt x="0" y="6604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571500"/>
            <a:ext cx="571500" cy="571500"/>
            <a:chOff x="0" y="0"/>
            <a:chExt cx="762000" cy="762000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06553" y="725491"/>
            <a:ext cx="5627351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89">
                <a:solidFill>
                  <a:srgbClr val="CFE0F2"/>
                </a:solidFill>
                <a:latin typeface="Arial"/>
                <a:ea typeface="Arial"/>
                <a:cs typeface="Arial"/>
                <a:sym typeface="Arial"/>
              </a:rPr>
              <a:t>TRƯỜNG ĐẠI HỌC CÔNG THƯƠNG TP.HCM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58903" y="4188714"/>
            <a:ext cx="17132303" cy="349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192">
                <a:solidFill>
                  <a:srgbClr val="F2B400"/>
                </a:solidFill>
                <a:latin typeface="Arial Bold"/>
                <a:ea typeface="Arial Bold"/>
                <a:cs typeface="Arial Bold"/>
                <a:sym typeface="Arial Bold"/>
              </a:rPr>
              <a:t>3.2.3.4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58903" y="4922139"/>
            <a:ext cx="17132303" cy="604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4"/>
              </a:lnSpc>
            </a:pPr>
            <a:r>
              <a:rPr lang="en-US" sz="57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Date Picker, Time Picker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58903" y="5758405"/>
            <a:ext cx="13569953" cy="368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C9DAEA"/>
                </a:solidFill>
                <a:latin typeface="Arial"/>
                <a:ea typeface="Arial"/>
                <a:cs typeface="Arial"/>
                <a:sym typeface="Arial"/>
              </a:rPr>
              <a:t>Widget hệ thống giúp chọn ngày và giờ trực quan theo chuẩn Material/Cupertino.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0" y="10153650"/>
            <a:ext cx="18288000" cy="133350"/>
            <a:chOff x="0" y="0"/>
            <a:chExt cx="24384000" cy="177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384000" cy="177800"/>
            </a:xfrm>
            <a:custGeom>
              <a:avLst/>
              <a:gdLst/>
              <a:ahLst/>
              <a:cxnLst/>
              <a:rect l="l" t="t" r="r" b="b"/>
              <a:pathLst>
                <a:path w="24384000" h="1778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F2B400"/>
            </a:solid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28750"/>
            <a:chOff x="0" y="0"/>
            <a:chExt cx="24384000" cy="190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05000"/>
            </a:xfrm>
            <a:custGeom>
              <a:avLst/>
              <a:gdLst/>
              <a:ahLst/>
              <a:cxnLst/>
              <a:rect l="l" t="t" r="r" b="b"/>
              <a:pathLst>
                <a:path w="24384000" h="1905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F5F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838200" y="0"/>
                  </a:lnTo>
                  <a:cubicBezTo>
                    <a:pt x="908304" y="0"/>
                    <a:pt x="965200" y="56896"/>
                    <a:pt x="965200" y="127000"/>
                  </a:cubicBezTo>
                  <a:lnTo>
                    <a:pt x="965200" y="838200"/>
                  </a:lnTo>
                  <a:cubicBezTo>
                    <a:pt x="965200" y="908304"/>
                    <a:pt x="908304" y="965200"/>
                    <a:pt x="838200" y="965200"/>
                  </a:cubicBezTo>
                  <a:lnTo>
                    <a:pt x="127000" y="965200"/>
                  </a:lnTo>
                  <a:cubicBezTo>
                    <a:pt x="56896" y="965200"/>
                    <a:pt x="0" y="908304"/>
                    <a:pt x="0" y="8382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0"/>
                  </a:moveTo>
                  <a:lnTo>
                    <a:pt x="965200" y="0"/>
                  </a:lnTo>
                  <a:lnTo>
                    <a:pt x="9652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73253" y="320678"/>
            <a:ext cx="3793293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144">
                <a:solidFill>
                  <a:srgbClr val="F2B400"/>
                </a:solidFill>
                <a:latin typeface="Arial Bold"/>
                <a:ea typeface="Arial Bold"/>
                <a:cs typeface="Arial Bold"/>
                <a:sym typeface="Arial Bold"/>
              </a:rPr>
              <a:t>3.2.3.4 · DATE/TIME PICKER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73253" y="635003"/>
            <a:ext cx="3793293" cy="49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Giới thiệu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6798" y="2187233"/>
            <a:ext cx="1757120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3"/>
              </a:lnSpc>
            </a:pPr>
            <a:r>
              <a:rPr lang="en-US" sz="3369" b="1">
                <a:solidFill>
                  <a:srgbClr val="123A63"/>
                </a:solidFill>
                <a:latin typeface="Arial Bold"/>
                <a:ea typeface="Arial Bold"/>
                <a:cs typeface="Arial Bold"/>
                <a:sym typeface="Arial Bold"/>
              </a:rPr>
              <a:t>Date Picker &amp; Time Picker là gì?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7250" y="2871606"/>
            <a:ext cx="16262107" cy="3539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36"/>
              </a:lnSpc>
            </a:pPr>
            <a:r>
              <a:rPr lang="en-US" sz="359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Là các widget hệ thống (built-in) giúp người dùng chọn ngày tháng hoặc giờ một cách trực quan</a:t>
            </a:r>
          </a:p>
          <a:p>
            <a:pPr algn="l">
              <a:lnSpc>
                <a:spcPts val="5636"/>
              </a:lnSpc>
            </a:pPr>
            <a:r>
              <a:rPr lang="en-US" sz="359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Tuân theo Material Design (Android) — Flutter cũng hỗ trợ phiên bản Cupertino (iOS style)</a:t>
            </a:r>
          </a:p>
          <a:p>
            <a:pPr algn="l">
              <a:lnSpc>
                <a:spcPts val="5636"/>
              </a:lnSpc>
            </a:pPr>
            <a:r>
              <a:rPr lang="en-US" sz="3591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Được gọi thông qua hàm showDatePicker() và showTimePicker(), trả về Future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0" y="9705975"/>
            <a:ext cx="18288000" cy="9525"/>
            <a:chOff x="0" y="0"/>
            <a:chExt cx="24384000" cy="127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384000" cy="12700"/>
            </a:xfrm>
            <a:custGeom>
              <a:avLst/>
              <a:gdLst/>
              <a:ahLst/>
              <a:cxnLst/>
              <a:rect l="l" t="t" r="r" b="b"/>
              <a:pathLst>
                <a:path w="24384000" h="127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57250" y="9934575"/>
            <a:ext cx="133350" cy="133350"/>
            <a:chOff x="0" y="0"/>
            <a:chExt cx="177800" cy="177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39700" y="0"/>
                  </a:lnTo>
                  <a:cubicBezTo>
                    <a:pt x="160782" y="0"/>
                    <a:pt x="177800" y="17018"/>
                    <a:pt x="177800" y="38100"/>
                  </a:cubicBezTo>
                  <a:lnTo>
                    <a:pt x="177800" y="139700"/>
                  </a:lnTo>
                  <a:cubicBezTo>
                    <a:pt x="177800" y="160782"/>
                    <a:pt x="160782" y="177800"/>
                    <a:pt x="139700" y="177800"/>
                  </a:cubicBezTo>
                  <a:lnTo>
                    <a:pt x="38100" y="177800"/>
                  </a:lnTo>
                  <a:cubicBezTo>
                    <a:pt x="17018" y="177800"/>
                    <a:pt x="0" y="160782"/>
                    <a:pt x="0" y="139700"/>
                  </a:cubicBezTo>
                  <a:close/>
                </a:path>
              </a:pathLst>
            </a:custGeom>
            <a:solidFill>
              <a:srgbClr val="F2B4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11253" y="9869491"/>
            <a:ext cx="4081920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3.2.3. Các loại Widget trong Flutter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475991" y="9869491"/>
            <a:ext cx="2127371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https://huit.edu.vn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28750"/>
            <a:chOff x="0" y="0"/>
            <a:chExt cx="24384000" cy="190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05000"/>
            </a:xfrm>
            <a:custGeom>
              <a:avLst/>
              <a:gdLst/>
              <a:ahLst/>
              <a:cxnLst/>
              <a:rect l="l" t="t" r="r" b="b"/>
              <a:pathLst>
                <a:path w="24384000" h="1905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F5F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838200" y="0"/>
                  </a:lnTo>
                  <a:cubicBezTo>
                    <a:pt x="908304" y="0"/>
                    <a:pt x="965200" y="56896"/>
                    <a:pt x="965200" y="127000"/>
                  </a:cubicBezTo>
                  <a:lnTo>
                    <a:pt x="965200" y="838200"/>
                  </a:lnTo>
                  <a:cubicBezTo>
                    <a:pt x="965200" y="908304"/>
                    <a:pt x="908304" y="965200"/>
                    <a:pt x="838200" y="965200"/>
                  </a:cubicBezTo>
                  <a:lnTo>
                    <a:pt x="127000" y="965200"/>
                  </a:lnTo>
                  <a:cubicBezTo>
                    <a:pt x="56896" y="965200"/>
                    <a:pt x="0" y="908304"/>
                    <a:pt x="0" y="8382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0"/>
                  </a:moveTo>
                  <a:lnTo>
                    <a:pt x="965200" y="0"/>
                  </a:lnTo>
                  <a:lnTo>
                    <a:pt x="9652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73253" y="320678"/>
            <a:ext cx="7195375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144">
                <a:solidFill>
                  <a:srgbClr val="F2B400"/>
                </a:solidFill>
                <a:latin typeface="Arial Bold"/>
                <a:ea typeface="Arial Bold"/>
                <a:cs typeface="Arial Bold"/>
                <a:sym typeface="Arial Bold"/>
              </a:rPr>
              <a:t>3.2.3.4 · DATE/TIME PICKER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73253" y="635003"/>
            <a:ext cx="7195375" cy="49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showDatePicker — cấu trúc cơ bản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57250" y="1885950"/>
            <a:ext cx="16573500" cy="7534275"/>
            <a:chOff x="0" y="0"/>
            <a:chExt cx="22098000" cy="100457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98000" cy="10045700"/>
            </a:xfrm>
            <a:custGeom>
              <a:avLst/>
              <a:gdLst/>
              <a:ahLst/>
              <a:cxnLst/>
              <a:rect l="l" t="t" r="r" b="b"/>
              <a:pathLst>
                <a:path w="22098000" h="100457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21920200" y="0"/>
                  </a:lnTo>
                  <a:cubicBezTo>
                    <a:pt x="22018371" y="0"/>
                    <a:pt x="22098000" y="79629"/>
                    <a:pt x="22098000" y="177800"/>
                  </a:cubicBezTo>
                  <a:lnTo>
                    <a:pt x="22098000" y="9867900"/>
                  </a:lnTo>
                  <a:cubicBezTo>
                    <a:pt x="22098000" y="9966071"/>
                    <a:pt x="22018371" y="10045700"/>
                    <a:pt x="21920200" y="10045700"/>
                  </a:cubicBezTo>
                  <a:lnTo>
                    <a:pt x="177800" y="10045700"/>
                  </a:lnTo>
                  <a:cubicBezTo>
                    <a:pt x="79629" y="10045700"/>
                    <a:pt x="0" y="9966071"/>
                    <a:pt x="0" y="9867900"/>
                  </a:cubicBezTo>
                  <a:close/>
                </a:path>
              </a:pathLst>
            </a:custGeom>
            <a:solidFill>
              <a:srgbClr val="101C2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25553" y="2139953"/>
            <a:ext cx="16334108" cy="6988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DateTime? selectedDate = await showDatePicker(</a:t>
            </a:r>
          </a:p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context: context,</a:t>
            </a:r>
          </a:p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initialDate: DateTime.now(),</a:t>
            </a:r>
          </a:p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firstDate: DateTime(2000),</a:t>
            </a:r>
          </a:p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lastDate: DateTime(2100),</a:t>
            </a:r>
          </a:p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</a:p>
          <a:p>
            <a:pPr algn="l">
              <a:lnSpc>
                <a:spcPts val="3042"/>
              </a:lnSpc>
            </a:pPr>
            <a:endParaRPr lang="en-US" sz="1950">
              <a:solidFill>
                <a:srgbClr val="E7EDF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if (selectedDate != null) {</a:t>
            </a:r>
          </a:p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print('Ngày đã chọn: $selectedDate');</a:t>
            </a:r>
          </a:p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0" y="9705975"/>
            <a:ext cx="18288000" cy="9525"/>
            <a:chOff x="0" y="0"/>
            <a:chExt cx="24384000" cy="127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384000" cy="12700"/>
            </a:xfrm>
            <a:custGeom>
              <a:avLst/>
              <a:gdLst/>
              <a:ahLst/>
              <a:cxnLst/>
              <a:rect l="l" t="t" r="r" b="b"/>
              <a:pathLst>
                <a:path w="24384000" h="127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57250" y="9934575"/>
            <a:ext cx="133350" cy="133350"/>
            <a:chOff x="0" y="0"/>
            <a:chExt cx="177800" cy="177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39700" y="0"/>
                  </a:lnTo>
                  <a:cubicBezTo>
                    <a:pt x="160782" y="0"/>
                    <a:pt x="177800" y="17018"/>
                    <a:pt x="177800" y="38100"/>
                  </a:cubicBezTo>
                  <a:lnTo>
                    <a:pt x="177800" y="139700"/>
                  </a:lnTo>
                  <a:cubicBezTo>
                    <a:pt x="177800" y="160782"/>
                    <a:pt x="160782" y="177800"/>
                    <a:pt x="139700" y="177800"/>
                  </a:cubicBezTo>
                  <a:lnTo>
                    <a:pt x="38100" y="177800"/>
                  </a:lnTo>
                  <a:cubicBezTo>
                    <a:pt x="17018" y="177800"/>
                    <a:pt x="0" y="160782"/>
                    <a:pt x="0" y="139700"/>
                  </a:cubicBezTo>
                  <a:close/>
                </a:path>
              </a:pathLst>
            </a:custGeom>
            <a:solidFill>
              <a:srgbClr val="F2B4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11253" y="9869491"/>
            <a:ext cx="4081920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3.2.3. Các loại Widget trong Flutter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475991" y="9869491"/>
            <a:ext cx="2127371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https://huit.edu.vn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0782" y="-12948"/>
            <a:ext cx="18288000" cy="1428750"/>
            <a:chOff x="0" y="0"/>
            <a:chExt cx="24384000" cy="190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05000"/>
            </a:xfrm>
            <a:custGeom>
              <a:avLst/>
              <a:gdLst/>
              <a:ahLst/>
              <a:cxnLst/>
              <a:rect l="l" t="t" r="r" b="b"/>
              <a:pathLst>
                <a:path w="24384000" h="1905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F5F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838200" y="0"/>
                  </a:lnTo>
                  <a:cubicBezTo>
                    <a:pt x="908304" y="0"/>
                    <a:pt x="965200" y="56896"/>
                    <a:pt x="965200" y="127000"/>
                  </a:cubicBezTo>
                  <a:lnTo>
                    <a:pt x="965200" y="838200"/>
                  </a:lnTo>
                  <a:cubicBezTo>
                    <a:pt x="965200" y="908304"/>
                    <a:pt x="908304" y="965200"/>
                    <a:pt x="838200" y="965200"/>
                  </a:cubicBezTo>
                  <a:lnTo>
                    <a:pt x="127000" y="965200"/>
                  </a:lnTo>
                  <a:cubicBezTo>
                    <a:pt x="56896" y="965200"/>
                    <a:pt x="0" y="908304"/>
                    <a:pt x="0" y="8382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0"/>
                  </a:moveTo>
                  <a:lnTo>
                    <a:pt x="965200" y="0"/>
                  </a:lnTo>
                  <a:lnTo>
                    <a:pt x="9652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73253" y="320678"/>
            <a:ext cx="8405527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144">
                <a:solidFill>
                  <a:srgbClr val="F2B400"/>
                </a:solidFill>
                <a:latin typeface="Arial Bold"/>
                <a:ea typeface="Arial Bold"/>
                <a:cs typeface="Arial Bold"/>
                <a:sym typeface="Arial Bold"/>
              </a:rPr>
              <a:t>3.2.3.4 · DATE/TIME PICKER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73253" y="635003"/>
            <a:ext cx="8405527" cy="49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Tham số quan trọng của showDatePicker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68227" y="1870564"/>
            <a:ext cx="16801702" cy="534072"/>
            <a:chOff x="0" y="0"/>
            <a:chExt cx="18778257" cy="5969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778257" cy="596900"/>
            </a:xfrm>
            <a:custGeom>
              <a:avLst/>
              <a:gdLst/>
              <a:ahLst/>
              <a:cxnLst/>
              <a:rect l="l" t="t" r="r" b="b"/>
              <a:pathLst>
                <a:path w="18778257" h="596900">
                  <a:moveTo>
                    <a:pt x="0" y="0"/>
                  </a:moveTo>
                  <a:lnTo>
                    <a:pt x="18778257" y="0"/>
                  </a:lnTo>
                  <a:lnTo>
                    <a:pt x="18778257" y="596900"/>
                  </a:lnTo>
                  <a:lnTo>
                    <a:pt x="0" y="596900"/>
                  </a:lnTo>
                  <a:close/>
                </a:path>
              </a:pathLst>
            </a:custGeom>
            <a:solidFill>
              <a:srgbClr val="1F5F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2038" y="1950454"/>
            <a:ext cx="3459615" cy="419746"/>
            <a:chOff x="0" y="0"/>
            <a:chExt cx="3866605" cy="4691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866602" cy="469125"/>
            </a:xfrm>
            <a:custGeom>
              <a:avLst/>
              <a:gdLst/>
              <a:ahLst/>
              <a:cxnLst/>
              <a:rect l="l" t="t" r="r" b="b"/>
              <a:pathLst>
                <a:path w="3866602" h="469125">
                  <a:moveTo>
                    <a:pt x="0" y="0"/>
                  </a:moveTo>
                  <a:lnTo>
                    <a:pt x="3866602" y="0"/>
                  </a:lnTo>
                  <a:lnTo>
                    <a:pt x="3866602" y="469125"/>
                  </a:lnTo>
                  <a:lnTo>
                    <a:pt x="0" y="4691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7029" r="-17678" b="-13095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3866605" cy="4881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Tham số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638383" y="1950454"/>
            <a:ext cx="13150895" cy="419746"/>
            <a:chOff x="0" y="0"/>
            <a:chExt cx="14697968" cy="46912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697973" cy="469125"/>
            </a:xfrm>
            <a:custGeom>
              <a:avLst/>
              <a:gdLst/>
              <a:ahLst/>
              <a:cxnLst/>
              <a:rect l="l" t="t" r="r" b="b"/>
              <a:pathLst>
                <a:path w="14697973" h="469125">
                  <a:moveTo>
                    <a:pt x="0" y="0"/>
                  </a:moveTo>
                  <a:lnTo>
                    <a:pt x="14697973" y="0"/>
                  </a:lnTo>
                  <a:lnTo>
                    <a:pt x="14697973" y="469125"/>
                  </a:lnTo>
                  <a:lnTo>
                    <a:pt x="0" y="4691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6441" r="-17678" b="-66036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14697968" cy="4881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Mô tả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8227" y="2921663"/>
            <a:ext cx="16801702" cy="11363"/>
            <a:chOff x="0" y="0"/>
            <a:chExt cx="18778257" cy="127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8778257" cy="12700"/>
            </a:xfrm>
            <a:custGeom>
              <a:avLst/>
              <a:gdLst/>
              <a:ahLst/>
              <a:cxnLst/>
              <a:rect l="l" t="t" r="r" b="b"/>
              <a:pathLst>
                <a:path w="18778257" h="12700">
                  <a:moveTo>
                    <a:pt x="0" y="0"/>
                  </a:moveTo>
                  <a:lnTo>
                    <a:pt x="18778257" y="0"/>
                  </a:lnTo>
                  <a:lnTo>
                    <a:pt x="18778257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42038" y="2416410"/>
            <a:ext cx="3459615" cy="550295"/>
            <a:chOff x="0" y="0"/>
            <a:chExt cx="3866605" cy="61503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866602" cy="615033"/>
            </a:xfrm>
            <a:custGeom>
              <a:avLst/>
              <a:gdLst/>
              <a:ahLst/>
              <a:cxnLst/>
              <a:rect l="l" t="t" r="r" b="b"/>
              <a:pathLst>
                <a:path w="3866602" h="615033">
                  <a:moveTo>
                    <a:pt x="0" y="0"/>
                  </a:moveTo>
                  <a:lnTo>
                    <a:pt x="3866602" y="0"/>
                  </a:lnTo>
                  <a:lnTo>
                    <a:pt x="3866602" y="615033"/>
                  </a:lnTo>
                  <a:lnTo>
                    <a:pt x="0" y="6150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535" r="-17678" b="-7977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3866605" cy="6150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23A6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initialDate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638383" y="2481684"/>
            <a:ext cx="13150895" cy="419746"/>
            <a:chOff x="0" y="0"/>
            <a:chExt cx="14697968" cy="46912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4697973" cy="469126"/>
            </a:xfrm>
            <a:custGeom>
              <a:avLst/>
              <a:gdLst/>
              <a:ahLst/>
              <a:cxnLst/>
              <a:rect l="l" t="t" r="r" b="b"/>
              <a:pathLst>
                <a:path w="14697973" h="469126">
                  <a:moveTo>
                    <a:pt x="0" y="0"/>
                  </a:moveTo>
                  <a:lnTo>
                    <a:pt x="14697973" y="0"/>
                  </a:lnTo>
                  <a:lnTo>
                    <a:pt x="14697973" y="469126"/>
                  </a:lnTo>
                  <a:lnTo>
                    <a:pt x="0" y="469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1702" r="-17678" b="-66510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14697968" cy="4881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Ngày mặc định hiển thị ban đầu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8227" y="2933026"/>
            <a:ext cx="16801702" cy="534072"/>
            <a:chOff x="0" y="0"/>
            <a:chExt cx="18778257" cy="5969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8778257" cy="596900"/>
            </a:xfrm>
            <a:custGeom>
              <a:avLst/>
              <a:gdLst/>
              <a:ahLst/>
              <a:cxnLst/>
              <a:rect l="l" t="t" r="r" b="b"/>
              <a:pathLst>
                <a:path w="18778257" h="596900">
                  <a:moveTo>
                    <a:pt x="0" y="0"/>
                  </a:moveTo>
                  <a:lnTo>
                    <a:pt x="18778257" y="0"/>
                  </a:lnTo>
                  <a:lnTo>
                    <a:pt x="18778257" y="596900"/>
                  </a:lnTo>
                  <a:lnTo>
                    <a:pt x="0" y="59690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68227" y="3455735"/>
            <a:ext cx="16801702" cy="11363"/>
            <a:chOff x="0" y="0"/>
            <a:chExt cx="18778257" cy="127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8778257" cy="12700"/>
            </a:xfrm>
            <a:custGeom>
              <a:avLst/>
              <a:gdLst/>
              <a:ahLst/>
              <a:cxnLst/>
              <a:rect l="l" t="t" r="r" b="b"/>
              <a:pathLst>
                <a:path w="18778257" h="12700">
                  <a:moveTo>
                    <a:pt x="0" y="0"/>
                  </a:moveTo>
                  <a:lnTo>
                    <a:pt x="18778257" y="0"/>
                  </a:lnTo>
                  <a:lnTo>
                    <a:pt x="18778257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42038" y="2947641"/>
            <a:ext cx="3459615" cy="550295"/>
            <a:chOff x="0" y="0"/>
            <a:chExt cx="3866605" cy="61503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866602" cy="615032"/>
            </a:xfrm>
            <a:custGeom>
              <a:avLst/>
              <a:gdLst/>
              <a:ahLst/>
              <a:cxnLst/>
              <a:rect l="l" t="t" r="r" b="b"/>
              <a:pathLst>
                <a:path w="3866602" h="615032">
                  <a:moveTo>
                    <a:pt x="0" y="0"/>
                  </a:moveTo>
                  <a:lnTo>
                    <a:pt x="3866602" y="0"/>
                  </a:lnTo>
                  <a:lnTo>
                    <a:pt x="3866602" y="615032"/>
                  </a:lnTo>
                  <a:lnTo>
                    <a:pt x="0" y="615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019" r="-17678" b="-802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3866605" cy="6150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23A6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firstDate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638383" y="3012915"/>
            <a:ext cx="13150895" cy="419746"/>
            <a:chOff x="0" y="0"/>
            <a:chExt cx="14697968" cy="46912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4697973" cy="469125"/>
            </a:xfrm>
            <a:custGeom>
              <a:avLst/>
              <a:gdLst/>
              <a:ahLst/>
              <a:cxnLst/>
              <a:rect l="l" t="t" r="r" b="b"/>
              <a:pathLst>
                <a:path w="14697973" h="469125">
                  <a:moveTo>
                    <a:pt x="0" y="0"/>
                  </a:moveTo>
                  <a:lnTo>
                    <a:pt x="14697973" y="0"/>
                  </a:lnTo>
                  <a:lnTo>
                    <a:pt x="14697973" y="469125"/>
                  </a:lnTo>
                  <a:lnTo>
                    <a:pt x="0" y="4691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1027" r="-17678" b="-66577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14697968" cy="4881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Ngày sớm nhất được phép chọn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68227" y="3989806"/>
            <a:ext cx="16801702" cy="11363"/>
            <a:chOff x="0" y="0"/>
            <a:chExt cx="18778257" cy="127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8778257" cy="12700"/>
            </a:xfrm>
            <a:custGeom>
              <a:avLst/>
              <a:gdLst/>
              <a:ahLst/>
              <a:cxnLst/>
              <a:rect l="l" t="t" r="r" b="b"/>
              <a:pathLst>
                <a:path w="18778257" h="12700">
                  <a:moveTo>
                    <a:pt x="0" y="0"/>
                  </a:moveTo>
                  <a:lnTo>
                    <a:pt x="18778257" y="0"/>
                  </a:lnTo>
                  <a:lnTo>
                    <a:pt x="18778257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42038" y="3481712"/>
            <a:ext cx="3459615" cy="550295"/>
            <a:chOff x="0" y="0"/>
            <a:chExt cx="3866605" cy="61503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866602" cy="615032"/>
            </a:xfrm>
            <a:custGeom>
              <a:avLst/>
              <a:gdLst/>
              <a:ahLst/>
              <a:cxnLst/>
              <a:rect l="l" t="t" r="r" b="b"/>
              <a:pathLst>
                <a:path w="3866602" h="615032">
                  <a:moveTo>
                    <a:pt x="0" y="0"/>
                  </a:moveTo>
                  <a:lnTo>
                    <a:pt x="3866602" y="0"/>
                  </a:lnTo>
                  <a:lnTo>
                    <a:pt x="3866602" y="615032"/>
                  </a:lnTo>
                  <a:lnTo>
                    <a:pt x="0" y="615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019" r="-17678" b="-802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0"/>
              <a:ext cx="3866605" cy="6150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23A6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lastDate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638383" y="3546987"/>
            <a:ext cx="13150895" cy="419746"/>
            <a:chOff x="0" y="0"/>
            <a:chExt cx="14697968" cy="469125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4697973" cy="469125"/>
            </a:xfrm>
            <a:custGeom>
              <a:avLst/>
              <a:gdLst/>
              <a:ahLst/>
              <a:cxnLst/>
              <a:rect l="l" t="t" r="r" b="b"/>
              <a:pathLst>
                <a:path w="14697973" h="469125">
                  <a:moveTo>
                    <a:pt x="0" y="0"/>
                  </a:moveTo>
                  <a:lnTo>
                    <a:pt x="14697973" y="0"/>
                  </a:lnTo>
                  <a:lnTo>
                    <a:pt x="14697973" y="469125"/>
                  </a:lnTo>
                  <a:lnTo>
                    <a:pt x="0" y="4691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1027" r="-17678" b="-66577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14697968" cy="4881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Ngày muộn nhất được phép chọn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68227" y="4001169"/>
            <a:ext cx="16801702" cy="534072"/>
            <a:chOff x="0" y="0"/>
            <a:chExt cx="18778257" cy="5969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8778257" cy="596900"/>
            </a:xfrm>
            <a:custGeom>
              <a:avLst/>
              <a:gdLst/>
              <a:ahLst/>
              <a:cxnLst/>
              <a:rect l="l" t="t" r="r" b="b"/>
              <a:pathLst>
                <a:path w="18778257" h="596900">
                  <a:moveTo>
                    <a:pt x="0" y="0"/>
                  </a:moveTo>
                  <a:lnTo>
                    <a:pt x="18778257" y="0"/>
                  </a:lnTo>
                  <a:lnTo>
                    <a:pt x="18778257" y="596900"/>
                  </a:lnTo>
                  <a:lnTo>
                    <a:pt x="0" y="59690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68227" y="4523878"/>
            <a:ext cx="16801702" cy="11363"/>
            <a:chOff x="0" y="0"/>
            <a:chExt cx="18778257" cy="127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8778257" cy="12700"/>
            </a:xfrm>
            <a:custGeom>
              <a:avLst/>
              <a:gdLst/>
              <a:ahLst/>
              <a:cxnLst/>
              <a:rect l="l" t="t" r="r" b="b"/>
              <a:pathLst>
                <a:path w="18778257" h="12700">
                  <a:moveTo>
                    <a:pt x="0" y="0"/>
                  </a:moveTo>
                  <a:lnTo>
                    <a:pt x="18778257" y="0"/>
                  </a:lnTo>
                  <a:lnTo>
                    <a:pt x="18778257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42038" y="4015784"/>
            <a:ext cx="3459615" cy="550295"/>
            <a:chOff x="0" y="0"/>
            <a:chExt cx="3866605" cy="61503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3866602" cy="615032"/>
            </a:xfrm>
            <a:custGeom>
              <a:avLst/>
              <a:gdLst/>
              <a:ahLst/>
              <a:cxnLst/>
              <a:rect l="l" t="t" r="r" b="b"/>
              <a:pathLst>
                <a:path w="3866602" h="615032">
                  <a:moveTo>
                    <a:pt x="0" y="0"/>
                  </a:moveTo>
                  <a:lnTo>
                    <a:pt x="3866602" y="0"/>
                  </a:lnTo>
                  <a:lnTo>
                    <a:pt x="3866602" y="615032"/>
                  </a:lnTo>
                  <a:lnTo>
                    <a:pt x="0" y="615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019" r="-17678" b="-802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3866605" cy="6150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23A6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helpText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638383" y="4081059"/>
            <a:ext cx="13150895" cy="419746"/>
            <a:chOff x="0" y="0"/>
            <a:chExt cx="14697968" cy="469125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4697973" cy="469125"/>
            </a:xfrm>
            <a:custGeom>
              <a:avLst/>
              <a:gdLst/>
              <a:ahLst/>
              <a:cxnLst/>
              <a:rect l="l" t="t" r="r" b="b"/>
              <a:pathLst>
                <a:path w="14697973" h="469125">
                  <a:moveTo>
                    <a:pt x="0" y="0"/>
                  </a:moveTo>
                  <a:lnTo>
                    <a:pt x="14697973" y="0"/>
                  </a:lnTo>
                  <a:lnTo>
                    <a:pt x="14697973" y="469125"/>
                  </a:lnTo>
                  <a:lnTo>
                    <a:pt x="0" y="4691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1027" r="-17678" b="-66577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19050"/>
              <a:ext cx="14697968" cy="4881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Văn bản tiêu đề hiển thị trên picker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68227" y="5057950"/>
            <a:ext cx="16801702" cy="11363"/>
            <a:chOff x="0" y="0"/>
            <a:chExt cx="18778257" cy="127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8778257" cy="12700"/>
            </a:xfrm>
            <a:custGeom>
              <a:avLst/>
              <a:gdLst/>
              <a:ahLst/>
              <a:cxnLst/>
              <a:rect l="l" t="t" r="r" b="b"/>
              <a:pathLst>
                <a:path w="18778257" h="12700">
                  <a:moveTo>
                    <a:pt x="0" y="0"/>
                  </a:moveTo>
                  <a:lnTo>
                    <a:pt x="18778257" y="0"/>
                  </a:lnTo>
                  <a:lnTo>
                    <a:pt x="18778257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42038" y="4549856"/>
            <a:ext cx="3459615" cy="550295"/>
            <a:chOff x="0" y="0"/>
            <a:chExt cx="3866605" cy="61503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3866602" cy="615032"/>
            </a:xfrm>
            <a:custGeom>
              <a:avLst/>
              <a:gdLst/>
              <a:ahLst/>
              <a:cxnLst/>
              <a:rect l="l" t="t" r="r" b="b"/>
              <a:pathLst>
                <a:path w="3866602" h="615032">
                  <a:moveTo>
                    <a:pt x="0" y="0"/>
                  </a:moveTo>
                  <a:lnTo>
                    <a:pt x="3866602" y="0"/>
                  </a:lnTo>
                  <a:lnTo>
                    <a:pt x="3866602" y="615032"/>
                  </a:lnTo>
                  <a:lnTo>
                    <a:pt x="0" y="615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019" r="-17678" b="-802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0"/>
              <a:ext cx="3866605" cy="6150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23A6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initialEntryMode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4638383" y="4615131"/>
            <a:ext cx="13150895" cy="419746"/>
            <a:chOff x="0" y="0"/>
            <a:chExt cx="14697968" cy="469125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4697973" cy="469125"/>
            </a:xfrm>
            <a:custGeom>
              <a:avLst/>
              <a:gdLst/>
              <a:ahLst/>
              <a:cxnLst/>
              <a:rect l="l" t="t" r="r" b="b"/>
              <a:pathLst>
                <a:path w="14697973" h="469125">
                  <a:moveTo>
                    <a:pt x="0" y="0"/>
                  </a:moveTo>
                  <a:lnTo>
                    <a:pt x="14697973" y="0"/>
                  </a:lnTo>
                  <a:lnTo>
                    <a:pt x="14697973" y="469125"/>
                  </a:lnTo>
                  <a:lnTo>
                    <a:pt x="0" y="4691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1027" r="-17678" b="-66577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19050"/>
              <a:ext cx="14697968" cy="4881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Chế độ nhập: lịch (calendar) hoặc nhập tay (input)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42038" y="5081087"/>
            <a:ext cx="3459615" cy="550295"/>
            <a:chOff x="0" y="0"/>
            <a:chExt cx="3866605" cy="615032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3866602" cy="615033"/>
            </a:xfrm>
            <a:custGeom>
              <a:avLst/>
              <a:gdLst/>
              <a:ahLst/>
              <a:cxnLst/>
              <a:rect l="l" t="t" r="r" b="b"/>
              <a:pathLst>
                <a:path w="3866602" h="615033">
                  <a:moveTo>
                    <a:pt x="0" y="0"/>
                  </a:moveTo>
                  <a:lnTo>
                    <a:pt x="3866602" y="0"/>
                  </a:lnTo>
                  <a:lnTo>
                    <a:pt x="3866602" y="615033"/>
                  </a:lnTo>
                  <a:lnTo>
                    <a:pt x="0" y="6150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535" r="-17678" b="-7977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0"/>
              <a:ext cx="3866605" cy="6150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23A6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locale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4638383" y="5146361"/>
            <a:ext cx="13150895" cy="419746"/>
            <a:chOff x="0" y="0"/>
            <a:chExt cx="14697968" cy="469125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4697973" cy="469126"/>
            </a:xfrm>
            <a:custGeom>
              <a:avLst/>
              <a:gdLst/>
              <a:ahLst/>
              <a:cxnLst/>
              <a:rect l="l" t="t" r="r" b="b"/>
              <a:pathLst>
                <a:path w="14697973" h="469126">
                  <a:moveTo>
                    <a:pt x="0" y="0"/>
                  </a:moveTo>
                  <a:lnTo>
                    <a:pt x="14697973" y="0"/>
                  </a:lnTo>
                  <a:lnTo>
                    <a:pt x="14697973" y="469126"/>
                  </a:lnTo>
                  <a:lnTo>
                    <a:pt x="0" y="469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1702" r="-17678" b="-66510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19050"/>
              <a:ext cx="14697968" cy="4881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Ngôn ngữ hiển thị (VD: Locale('vi','VN'))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68227" y="5824968"/>
            <a:ext cx="16801702" cy="1154436"/>
            <a:chOff x="0" y="0"/>
            <a:chExt cx="18778257" cy="1290244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8778257" cy="1290193"/>
            </a:xfrm>
            <a:custGeom>
              <a:avLst/>
              <a:gdLst/>
              <a:ahLst/>
              <a:cxnLst/>
              <a:rect l="l" t="t" r="r" b="b"/>
              <a:pathLst>
                <a:path w="18778257" h="1290193">
                  <a:moveTo>
                    <a:pt x="0" y="177800"/>
                  </a:moveTo>
                  <a:cubicBezTo>
                    <a:pt x="0" y="79629"/>
                    <a:pt x="67666" y="0"/>
                    <a:pt x="151089" y="0"/>
                  </a:cubicBezTo>
                  <a:lnTo>
                    <a:pt x="18627167" y="0"/>
                  </a:lnTo>
                  <a:cubicBezTo>
                    <a:pt x="18710590" y="0"/>
                    <a:pt x="18778257" y="79629"/>
                    <a:pt x="18778257" y="177800"/>
                  </a:cubicBezTo>
                  <a:lnTo>
                    <a:pt x="18778257" y="1112393"/>
                  </a:lnTo>
                  <a:cubicBezTo>
                    <a:pt x="18778257" y="1210564"/>
                    <a:pt x="18710590" y="1290193"/>
                    <a:pt x="18627167" y="1290193"/>
                  </a:cubicBezTo>
                  <a:lnTo>
                    <a:pt x="151089" y="1290193"/>
                  </a:lnTo>
                  <a:cubicBezTo>
                    <a:pt x="67666" y="1290193"/>
                    <a:pt x="0" y="1210564"/>
                    <a:pt x="0" y="1112393"/>
                  </a:cubicBezTo>
                  <a:close/>
                </a:path>
              </a:pathLst>
            </a:custGeom>
            <a:solidFill>
              <a:srgbClr val="101C2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0" name="TextBox 70"/>
          <p:cNvSpPr txBox="1"/>
          <p:nvPr/>
        </p:nvSpPr>
        <p:spPr>
          <a:xfrm>
            <a:off x="1064352" y="6044438"/>
            <a:ext cx="16713512" cy="664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9"/>
              </a:lnSpc>
            </a:pPr>
            <a:r>
              <a:rPr lang="en-US" sz="1968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showDatePicker(context: context, initialDate: DateTime.now(), firstDate: DateTime(2020),</a:t>
            </a:r>
          </a:p>
          <a:p>
            <a:pPr algn="l">
              <a:lnSpc>
                <a:spcPts val="2619"/>
              </a:lnSpc>
            </a:pPr>
            <a:r>
              <a:rPr lang="en-US" sz="1968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lastDate: DateTime(2030), helpText: 'Chọn ngày sinh', locale: const Locale('vi', 'VN'));</a:t>
            </a:r>
          </a:p>
        </p:txBody>
      </p:sp>
      <p:grpSp>
        <p:nvGrpSpPr>
          <p:cNvPr id="71" name="Group 71"/>
          <p:cNvGrpSpPr/>
          <p:nvPr/>
        </p:nvGrpSpPr>
        <p:grpSpPr>
          <a:xfrm>
            <a:off x="0" y="9705975"/>
            <a:ext cx="18288000" cy="9525"/>
            <a:chOff x="0" y="0"/>
            <a:chExt cx="24384000" cy="1270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24384000" cy="12700"/>
            </a:xfrm>
            <a:custGeom>
              <a:avLst/>
              <a:gdLst/>
              <a:ahLst/>
              <a:cxnLst/>
              <a:rect l="l" t="t" r="r" b="b"/>
              <a:pathLst>
                <a:path w="24384000" h="127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857250" y="9934575"/>
            <a:ext cx="133350" cy="133350"/>
            <a:chOff x="0" y="0"/>
            <a:chExt cx="177800" cy="17780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39700" y="0"/>
                  </a:lnTo>
                  <a:cubicBezTo>
                    <a:pt x="160782" y="0"/>
                    <a:pt x="177800" y="17018"/>
                    <a:pt x="177800" y="38100"/>
                  </a:cubicBezTo>
                  <a:lnTo>
                    <a:pt x="177800" y="139700"/>
                  </a:lnTo>
                  <a:cubicBezTo>
                    <a:pt x="177800" y="160782"/>
                    <a:pt x="160782" y="177800"/>
                    <a:pt x="139700" y="177800"/>
                  </a:cubicBezTo>
                  <a:lnTo>
                    <a:pt x="38100" y="177800"/>
                  </a:lnTo>
                  <a:cubicBezTo>
                    <a:pt x="17018" y="177800"/>
                    <a:pt x="0" y="160782"/>
                    <a:pt x="0" y="139700"/>
                  </a:cubicBezTo>
                  <a:close/>
                </a:path>
              </a:pathLst>
            </a:custGeom>
            <a:solidFill>
              <a:srgbClr val="F2B4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1111253" y="9869491"/>
            <a:ext cx="4081920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3.2.3. Các loại Widget trong Flutter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5475991" y="9869491"/>
            <a:ext cx="2127371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https://huit.edu.vn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28750"/>
            <a:chOff x="0" y="0"/>
            <a:chExt cx="24384000" cy="190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05000"/>
            </a:xfrm>
            <a:custGeom>
              <a:avLst/>
              <a:gdLst/>
              <a:ahLst/>
              <a:cxnLst/>
              <a:rect l="l" t="t" r="r" b="b"/>
              <a:pathLst>
                <a:path w="24384000" h="1905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F5F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838200" y="0"/>
                  </a:lnTo>
                  <a:cubicBezTo>
                    <a:pt x="908304" y="0"/>
                    <a:pt x="965200" y="56896"/>
                    <a:pt x="965200" y="127000"/>
                  </a:cubicBezTo>
                  <a:lnTo>
                    <a:pt x="965200" y="838200"/>
                  </a:lnTo>
                  <a:cubicBezTo>
                    <a:pt x="965200" y="908304"/>
                    <a:pt x="908304" y="965200"/>
                    <a:pt x="838200" y="965200"/>
                  </a:cubicBezTo>
                  <a:lnTo>
                    <a:pt x="127000" y="965200"/>
                  </a:lnTo>
                  <a:cubicBezTo>
                    <a:pt x="56896" y="965200"/>
                    <a:pt x="0" y="908304"/>
                    <a:pt x="0" y="8382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0"/>
                  </a:moveTo>
                  <a:lnTo>
                    <a:pt x="965200" y="0"/>
                  </a:lnTo>
                  <a:lnTo>
                    <a:pt x="9652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73253" y="320678"/>
            <a:ext cx="8328088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144">
                <a:solidFill>
                  <a:srgbClr val="F2B400"/>
                </a:solidFill>
                <a:latin typeface="Arial Bold"/>
                <a:ea typeface="Arial Bold"/>
                <a:cs typeface="Arial Bold"/>
                <a:sym typeface="Arial Bold"/>
              </a:rPr>
              <a:t>3.2.3.4 · DATE/TIME PICKER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73253" y="635003"/>
            <a:ext cx="8328088" cy="49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Tùy chỉnh giao diện Date Picker (Theme)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57250" y="1809750"/>
            <a:ext cx="16573500" cy="7610475"/>
            <a:chOff x="0" y="0"/>
            <a:chExt cx="22098000" cy="101473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98000" cy="10147300"/>
            </a:xfrm>
            <a:custGeom>
              <a:avLst/>
              <a:gdLst/>
              <a:ahLst/>
              <a:cxnLst/>
              <a:rect l="l" t="t" r="r" b="b"/>
              <a:pathLst>
                <a:path w="22098000" h="101473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21920200" y="0"/>
                  </a:lnTo>
                  <a:cubicBezTo>
                    <a:pt x="22018371" y="0"/>
                    <a:pt x="22098000" y="79629"/>
                    <a:pt x="22098000" y="177800"/>
                  </a:cubicBezTo>
                  <a:lnTo>
                    <a:pt x="22098000" y="9969500"/>
                  </a:lnTo>
                  <a:cubicBezTo>
                    <a:pt x="22098000" y="10067671"/>
                    <a:pt x="22018371" y="10147300"/>
                    <a:pt x="21920200" y="10147300"/>
                  </a:cubicBezTo>
                  <a:lnTo>
                    <a:pt x="177800" y="10147300"/>
                  </a:lnTo>
                  <a:cubicBezTo>
                    <a:pt x="79629" y="10147300"/>
                    <a:pt x="0" y="10067671"/>
                    <a:pt x="0" y="9969500"/>
                  </a:cubicBezTo>
                  <a:close/>
                </a:path>
              </a:pathLst>
            </a:custGeom>
            <a:solidFill>
              <a:srgbClr val="101C2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06503" y="2025653"/>
            <a:ext cx="16372208" cy="7140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1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showDatePicker(</a:t>
            </a:r>
          </a:p>
          <a:p>
            <a:pPr algn="l">
              <a:lnSpc>
                <a:spcPts val="2841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context: context,</a:t>
            </a:r>
          </a:p>
          <a:p>
            <a:pPr algn="l">
              <a:lnSpc>
                <a:spcPts val="2841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initialDate: DateTime.now(),</a:t>
            </a:r>
          </a:p>
          <a:p>
            <a:pPr algn="l">
              <a:lnSpc>
                <a:spcPts val="2841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firstDate: DateTime(2000),</a:t>
            </a:r>
          </a:p>
          <a:p>
            <a:pPr algn="l">
              <a:lnSpc>
                <a:spcPts val="2841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lastDate: DateTime(2100),</a:t>
            </a:r>
          </a:p>
          <a:p>
            <a:pPr algn="l">
              <a:lnSpc>
                <a:spcPts val="2841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builder: (context, child) {</a:t>
            </a:r>
          </a:p>
          <a:p>
            <a:pPr algn="l">
              <a:lnSpc>
                <a:spcPts val="2841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Theme(</a:t>
            </a:r>
          </a:p>
          <a:p>
            <a:pPr algn="l">
              <a:lnSpc>
                <a:spcPts val="2841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data: Theme.of(context).copyWith(</a:t>
            </a:r>
          </a:p>
          <a:p>
            <a:pPr algn="l">
              <a:lnSpc>
                <a:spcPts val="2841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colorScheme: ColorScheme.light(</a:t>
            </a:r>
          </a:p>
          <a:p>
            <a:pPr algn="l">
              <a:lnSpc>
                <a:spcPts val="2841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primary: Colors.deepPurple, // màu chính</a:t>
            </a:r>
          </a:p>
          <a:p>
            <a:pPr algn="l">
              <a:lnSpc>
                <a:spcPts val="2841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onPrimary: Colors.white,</a:t>
            </a:r>
          </a:p>
          <a:p>
            <a:pPr algn="l">
              <a:lnSpc>
                <a:spcPts val="2841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onSurface: Colors.black,</a:t>
            </a:r>
          </a:p>
          <a:p>
            <a:pPr algn="l">
              <a:lnSpc>
                <a:spcPts val="2841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  ),</a:t>
            </a:r>
          </a:p>
          <a:p>
            <a:pPr algn="l">
              <a:lnSpc>
                <a:spcPts val="2841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),</a:t>
            </a:r>
          </a:p>
          <a:p>
            <a:pPr algn="l">
              <a:lnSpc>
                <a:spcPts val="2841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child: child!,</a:t>
            </a:r>
          </a:p>
          <a:p>
            <a:pPr algn="l">
              <a:lnSpc>
                <a:spcPts val="2841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);</a:t>
            </a:r>
          </a:p>
          <a:p>
            <a:pPr algn="l">
              <a:lnSpc>
                <a:spcPts val="2841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},</a:t>
            </a:r>
          </a:p>
          <a:p>
            <a:pPr algn="l">
              <a:lnSpc>
                <a:spcPts val="2841"/>
              </a:lnSpc>
            </a:pPr>
            <a:r>
              <a:rPr lang="en-US" sz="180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0" y="9705975"/>
            <a:ext cx="18288000" cy="9525"/>
            <a:chOff x="0" y="0"/>
            <a:chExt cx="24384000" cy="127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384000" cy="12700"/>
            </a:xfrm>
            <a:custGeom>
              <a:avLst/>
              <a:gdLst/>
              <a:ahLst/>
              <a:cxnLst/>
              <a:rect l="l" t="t" r="r" b="b"/>
              <a:pathLst>
                <a:path w="24384000" h="127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57250" y="9934575"/>
            <a:ext cx="133350" cy="133350"/>
            <a:chOff x="0" y="0"/>
            <a:chExt cx="177800" cy="177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39700" y="0"/>
                  </a:lnTo>
                  <a:cubicBezTo>
                    <a:pt x="160782" y="0"/>
                    <a:pt x="177800" y="17018"/>
                    <a:pt x="177800" y="38100"/>
                  </a:cubicBezTo>
                  <a:lnTo>
                    <a:pt x="177800" y="139700"/>
                  </a:lnTo>
                  <a:cubicBezTo>
                    <a:pt x="177800" y="160782"/>
                    <a:pt x="160782" y="177800"/>
                    <a:pt x="139700" y="177800"/>
                  </a:cubicBezTo>
                  <a:lnTo>
                    <a:pt x="38100" y="177800"/>
                  </a:lnTo>
                  <a:cubicBezTo>
                    <a:pt x="17018" y="177800"/>
                    <a:pt x="0" y="160782"/>
                    <a:pt x="0" y="139700"/>
                  </a:cubicBezTo>
                  <a:close/>
                </a:path>
              </a:pathLst>
            </a:custGeom>
            <a:solidFill>
              <a:srgbClr val="F2B4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11253" y="9869491"/>
            <a:ext cx="4081920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3.2.3. Các loại Widget trong Flutter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475991" y="9869491"/>
            <a:ext cx="2127371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https://huit.edu.vn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28750"/>
            <a:chOff x="0" y="0"/>
            <a:chExt cx="24384000" cy="190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05000"/>
            </a:xfrm>
            <a:custGeom>
              <a:avLst/>
              <a:gdLst/>
              <a:ahLst/>
              <a:cxnLst/>
              <a:rect l="l" t="t" r="r" b="b"/>
              <a:pathLst>
                <a:path w="24384000" h="1905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F5F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838200" y="0"/>
                  </a:lnTo>
                  <a:cubicBezTo>
                    <a:pt x="908304" y="0"/>
                    <a:pt x="965200" y="56896"/>
                    <a:pt x="965200" y="127000"/>
                  </a:cubicBezTo>
                  <a:lnTo>
                    <a:pt x="965200" y="838200"/>
                  </a:lnTo>
                  <a:cubicBezTo>
                    <a:pt x="965200" y="908304"/>
                    <a:pt x="908304" y="965200"/>
                    <a:pt x="838200" y="965200"/>
                  </a:cubicBezTo>
                  <a:lnTo>
                    <a:pt x="127000" y="965200"/>
                  </a:lnTo>
                  <a:cubicBezTo>
                    <a:pt x="56896" y="965200"/>
                    <a:pt x="0" y="908304"/>
                    <a:pt x="0" y="8382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0"/>
                  </a:moveTo>
                  <a:lnTo>
                    <a:pt x="965200" y="0"/>
                  </a:lnTo>
                  <a:lnTo>
                    <a:pt x="9652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73253" y="320678"/>
            <a:ext cx="7228932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144">
                <a:solidFill>
                  <a:srgbClr val="F2B400"/>
                </a:solidFill>
                <a:latin typeface="Arial Bold"/>
                <a:ea typeface="Arial Bold"/>
                <a:cs typeface="Arial Bold"/>
                <a:sym typeface="Arial Bold"/>
              </a:rPr>
              <a:t>3.2.3.4 · DATE/TIME PICKER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73253" y="635003"/>
            <a:ext cx="7228932" cy="49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showTimePicker — cấu trúc cơ bản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57250" y="3467100"/>
            <a:ext cx="16573500" cy="3581400"/>
            <a:chOff x="0" y="0"/>
            <a:chExt cx="22098000" cy="4775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98000" cy="4775200"/>
            </a:xfrm>
            <a:custGeom>
              <a:avLst/>
              <a:gdLst/>
              <a:ahLst/>
              <a:cxnLst/>
              <a:rect l="l" t="t" r="r" b="b"/>
              <a:pathLst>
                <a:path w="22098000" h="47752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21920200" y="0"/>
                  </a:lnTo>
                  <a:cubicBezTo>
                    <a:pt x="22018371" y="0"/>
                    <a:pt x="22098000" y="79629"/>
                    <a:pt x="22098000" y="177800"/>
                  </a:cubicBezTo>
                  <a:lnTo>
                    <a:pt x="22098000" y="4597400"/>
                  </a:lnTo>
                  <a:cubicBezTo>
                    <a:pt x="22098000" y="4695571"/>
                    <a:pt x="22018371" y="4775200"/>
                    <a:pt x="21920200" y="4775200"/>
                  </a:cubicBezTo>
                  <a:lnTo>
                    <a:pt x="177800" y="4775200"/>
                  </a:lnTo>
                  <a:cubicBezTo>
                    <a:pt x="79629" y="4775200"/>
                    <a:pt x="0" y="4695571"/>
                    <a:pt x="0" y="4597400"/>
                  </a:cubicBezTo>
                  <a:close/>
                </a:path>
              </a:pathLst>
            </a:custGeom>
            <a:solidFill>
              <a:srgbClr val="101C2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25553" y="3749678"/>
            <a:ext cx="16334108" cy="3006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7"/>
              </a:lnSpc>
            </a:pPr>
            <a:r>
              <a:rPr lang="en-US" sz="19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TimeOfDay? selectedTime = await showTimePicker(</a:t>
            </a:r>
          </a:p>
          <a:p>
            <a:pPr algn="l">
              <a:lnSpc>
                <a:spcPts val="2737"/>
              </a:lnSpc>
            </a:pPr>
            <a:r>
              <a:rPr lang="en-US" sz="19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context: context,</a:t>
            </a:r>
          </a:p>
          <a:p>
            <a:pPr algn="l">
              <a:lnSpc>
                <a:spcPts val="2737"/>
              </a:lnSpc>
            </a:pPr>
            <a:r>
              <a:rPr lang="en-US" sz="19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initialTime: TimeOfDay.now(),</a:t>
            </a:r>
          </a:p>
          <a:p>
            <a:pPr algn="l">
              <a:lnSpc>
                <a:spcPts val="2737"/>
              </a:lnSpc>
            </a:pPr>
            <a:r>
              <a:rPr lang="en-US" sz="19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</a:p>
          <a:p>
            <a:pPr algn="l">
              <a:lnSpc>
                <a:spcPts val="2737"/>
              </a:lnSpc>
            </a:pPr>
            <a:endParaRPr lang="en-US" sz="1950">
              <a:solidFill>
                <a:srgbClr val="E7EDF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algn="l">
              <a:lnSpc>
                <a:spcPts val="2737"/>
              </a:lnSpc>
            </a:pPr>
            <a:r>
              <a:rPr lang="en-US" sz="19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if (selectedTime != null) {</a:t>
            </a:r>
          </a:p>
          <a:p>
            <a:pPr algn="l">
              <a:lnSpc>
                <a:spcPts val="2737"/>
              </a:lnSpc>
            </a:pPr>
            <a:r>
              <a:rPr lang="en-US" sz="19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print('Giờ đã chọn: ${selectedTime.format(context)}');</a:t>
            </a:r>
          </a:p>
          <a:p>
            <a:pPr algn="l">
              <a:lnSpc>
                <a:spcPts val="2737"/>
              </a:lnSpc>
            </a:pPr>
            <a:r>
              <a:rPr lang="en-US" sz="19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82653" y="7283453"/>
            <a:ext cx="18180053" cy="3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TimeOfDay là kiểu dữ liệu riêng của Flutter để biểu diễn giờ:phút (không có giây)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0" y="9705975"/>
            <a:ext cx="18288000" cy="9525"/>
            <a:chOff x="0" y="0"/>
            <a:chExt cx="24384000" cy="127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384000" cy="12700"/>
            </a:xfrm>
            <a:custGeom>
              <a:avLst/>
              <a:gdLst/>
              <a:ahLst/>
              <a:cxnLst/>
              <a:rect l="l" t="t" r="r" b="b"/>
              <a:pathLst>
                <a:path w="24384000" h="127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57250" y="9934575"/>
            <a:ext cx="133350" cy="133350"/>
            <a:chOff x="0" y="0"/>
            <a:chExt cx="177800" cy="177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39700" y="0"/>
                  </a:lnTo>
                  <a:cubicBezTo>
                    <a:pt x="160782" y="0"/>
                    <a:pt x="177800" y="17018"/>
                    <a:pt x="177800" y="38100"/>
                  </a:cubicBezTo>
                  <a:lnTo>
                    <a:pt x="177800" y="139700"/>
                  </a:lnTo>
                  <a:cubicBezTo>
                    <a:pt x="177800" y="160782"/>
                    <a:pt x="160782" y="177800"/>
                    <a:pt x="139700" y="177800"/>
                  </a:cubicBezTo>
                  <a:lnTo>
                    <a:pt x="38100" y="177800"/>
                  </a:lnTo>
                  <a:cubicBezTo>
                    <a:pt x="17018" y="177800"/>
                    <a:pt x="0" y="160782"/>
                    <a:pt x="0" y="139700"/>
                  </a:cubicBezTo>
                  <a:close/>
                </a:path>
              </a:pathLst>
            </a:custGeom>
            <a:solidFill>
              <a:srgbClr val="F2B4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11253" y="9869491"/>
            <a:ext cx="4081920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3.2.3. Các loại Widget trong Flutter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475991" y="9869491"/>
            <a:ext cx="2127371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https://huit.edu.vn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28750"/>
            <a:chOff x="0" y="0"/>
            <a:chExt cx="24384000" cy="190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05000"/>
            </a:xfrm>
            <a:custGeom>
              <a:avLst/>
              <a:gdLst/>
              <a:ahLst/>
              <a:cxnLst/>
              <a:rect l="l" t="t" r="r" b="b"/>
              <a:pathLst>
                <a:path w="24384000" h="1905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F5F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838200" y="0"/>
                  </a:lnTo>
                  <a:cubicBezTo>
                    <a:pt x="908304" y="0"/>
                    <a:pt x="965200" y="56896"/>
                    <a:pt x="965200" y="127000"/>
                  </a:cubicBezTo>
                  <a:lnTo>
                    <a:pt x="965200" y="838200"/>
                  </a:lnTo>
                  <a:cubicBezTo>
                    <a:pt x="965200" y="908304"/>
                    <a:pt x="908304" y="965200"/>
                    <a:pt x="838200" y="965200"/>
                  </a:cubicBezTo>
                  <a:lnTo>
                    <a:pt x="127000" y="965200"/>
                  </a:lnTo>
                  <a:cubicBezTo>
                    <a:pt x="56896" y="965200"/>
                    <a:pt x="0" y="908304"/>
                    <a:pt x="0" y="8382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0"/>
                  </a:moveTo>
                  <a:lnTo>
                    <a:pt x="965200" y="0"/>
                  </a:lnTo>
                  <a:lnTo>
                    <a:pt x="9652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73253" y="320678"/>
            <a:ext cx="6900862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144">
                <a:solidFill>
                  <a:srgbClr val="F2B400"/>
                </a:solidFill>
                <a:latin typeface="Arial Bold"/>
                <a:ea typeface="Arial Bold"/>
                <a:cs typeface="Arial Bold"/>
                <a:sym typeface="Arial Bold"/>
              </a:rPr>
              <a:t>3.2.3.4 · DATE/TIME PICKER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73253" y="635003"/>
            <a:ext cx="6900862" cy="49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Các tham số của showTimePicker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57250" y="1847850"/>
            <a:ext cx="8499719" cy="495300"/>
            <a:chOff x="0" y="0"/>
            <a:chExt cx="11332959" cy="660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332972" cy="660400"/>
            </a:xfrm>
            <a:custGeom>
              <a:avLst/>
              <a:gdLst/>
              <a:ahLst/>
              <a:cxnLst/>
              <a:rect l="l" t="t" r="r" b="b"/>
              <a:pathLst>
                <a:path w="11332972" h="660400">
                  <a:moveTo>
                    <a:pt x="0" y="0"/>
                  </a:moveTo>
                  <a:lnTo>
                    <a:pt x="11332972" y="0"/>
                  </a:lnTo>
                  <a:lnTo>
                    <a:pt x="11332972" y="660400"/>
                  </a:lnTo>
                  <a:lnTo>
                    <a:pt x="0" y="660400"/>
                  </a:lnTo>
                  <a:close/>
                </a:path>
              </a:pathLst>
            </a:custGeom>
            <a:solidFill>
              <a:srgbClr val="1F5F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1962150"/>
            <a:ext cx="2587295" cy="304800"/>
            <a:chOff x="0" y="0"/>
            <a:chExt cx="3449726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449727" cy="406400"/>
            </a:xfrm>
            <a:custGeom>
              <a:avLst/>
              <a:gdLst/>
              <a:ahLst/>
              <a:cxnLst/>
              <a:rect l="l" t="t" r="r" b="b"/>
              <a:pathLst>
                <a:path w="3449727" h="406400">
                  <a:moveTo>
                    <a:pt x="0" y="0"/>
                  </a:moveTo>
                  <a:lnTo>
                    <a:pt x="3449727" y="0"/>
                  </a:lnTo>
                  <a:lnTo>
                    <a:pt x="3449727" y="406400"/>
                  </a:lnTo>
                  <a:lnTo>
                    <a:pt x="0" y="406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5398" b="-11539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3449726" cy="425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Tham số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873551" y="1962150"/>
            <a:ext cx="5481618" cy="304800"/>
            <a:chOff x="0" y="0"/>
            <a:chExt cx="7308825" cy="406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308827" cy="406400"/>
            </a:xfrm>
            <a:custGeom>
              <a:avLst/>
              <a:gdLst/>
              <a:ahLst/>
              <a:cxnLst/>
              <a:rect l="l" t="t" r="r" b="b"/>
              <a:pathLst>
                <a:path w="7308827" h="406400">
                  <a:moveTo>
                    <a:pt x="0" y="0"/>
                  </a:moveTo>
                  <a:lnTo>
                    <a:pt x="7308827" y="0"/>
                  </a:lnTo>
                  <a:lnTo>
                    <a:pt x="7308827" y="406400"/>
                  </a:lnTo>
                  <a:lnTo>
                    <a:pt x="0" y="406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0425" b="-30042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7308825" cy="425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Mô tả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57250" y="2824162"/>
            <a:ext cx="8499719" cy="9525"/>
            <a:chOff x="0" y="0"/>
            <a:chExt cx="11332959" cy="127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332972" cy="12700"/>
            </a:xfrm>
            <a:custGeom>
              <a:avLst/>
              <a:gdLst/>
              <a:ahLst/>
              <a:cxnLst/>
              <a:rect l="l" t="t" r="r" b="b"/>
              <a:pathLst>
                <a:path w="11332972" h="12700">
                  <a:moveTo>
                    <a:pt x="0" y="0"/>
                  </a:moveTo>
                  <a:lnTo>
                    <a:pt x="11332972" y="0"/>
                  </a:lnTo>
                  <a:lnTo>
                    <a:pt x="1133297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28700" y="2438400"/>
            <a:ext cx="2587295" cy="338138"/>
            <a:chOff x="0" y="0"/>
            <a:chExt cx="3449726" cy="45085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449727" cy="450851"/>
            </a:xfrm>
            <a:custGeom>
              <a:avLst/>
              <a:gdLst/>
              <a:ahLst/>
              <a:cxnLst/>
              <a:rect l="l" t="t" r="r" b="b"/>
              <a:pathLst>
                <a:path w="3449727" h="450851">
                  <a:moveTo>
                    <a:pt x="0" y="0"/>
                  </a:moveTo>
                  <a:lnTo>
                    <a:pt x="3449727" y="0"/>
                  </a:lnTo>
                  <a:lnTo>
                    <a:pt x="3449727" y="450851"/>
                  </a:lnTo>
                  <a:lnTo>
                    <a:pt x="0" y="450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9091" b="-990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3449726" cy="4603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23A6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initialTime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873551" y="2438400"/>
            <a:ext cx="5481618" cy="338138"/>
            <a:chOff x="0" y="0"/>
            <a:chExt cx="7308825" cy="4508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308827" cy="450851"/>
            </a:xfrm>
            <a:custGeom>
              <a:avLst/>
              <a:gdLst/>
              <a:ahLst/>
              <a:cxnLst/>
              <a:rect l="l" t="t" r="r" b="b"/>
              <a:pathLst>
                <a:path w="7308827" h="450851">
                  <a:moveTo>
                    <a:pt x="0" y="0"/>
                  </a:moveTo>
                  <a:lnTo>
                    <a:pt x="7308827" y="0"/>
                  </a:lnTo>
                  <a:lnTo>
                    <a:pt x="7308827" y="450851"/>
                  </a:lnTo>
                  <a:lnTo>
                    <a:pt x="0" y="450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5875" b="-26587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7308825" cy="4699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Giờ mặc định hiển thị ban đầu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57250" y="2833688"/>
            <a:ext cx="8499719" cy="495300"/>
            <a:chOff x="0" y="0"/>
            <a:chExt cx="11332959" cy="6604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332972" cy="660400"/>
            </a:xfrm>
            <a:custGeom>
              <a:avLst/>
              <a:gdLst/>
              <a:ahLst/>
              <a:cxnLst/>
              <a:rect l="l" t="t" r="r" b="b"/>
              <a:pathLst>
                <a:path w="11332972" h="660400">
                  <a:moveTo>
                    <a:pt x="0" y="0"/>
                  </a:moveTo>
                  <a:lnTo>
                    <a:pt x="11332972" y="0"/>
                  </a:lnTo>
                  <a:lnTo>
                    <a:pt x="11332972" y="660400"/>
                  </a:lnTo>
                  <a:lnTo>
                    <a:pt x="0" y="66040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57250" y="3319462"/>
            <a:ext cx="8499719" cy="9525"/>
            <a:chOff x="0" y="0"/>
            <a:chExt cx="11332959" cy="127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332972" cy="12700"/>
            </a:xfrm>
            <a:custGeom>
              <a:avLst/>
              <a:gdLst/>
              <a:ahLst/>
              <a:cxnLst/>
              <a:rect l="l" t="t" r="r" b="b"/>
              <a:pathLst>
                <a:path w="11332972" h="12700">
                  <a:moveTo>
                    <a:pt x="0" y="0"/>
                  </a:moveTo>
                  <a:lnTo>
                    <a:pt x="11332972" y="0"/>
                  </a:lnTo>
                  <a:lnTo>
                    <a:pt x="1133297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28700" y="2928938"/>
            <a:ext cx="2587295" cy="342900"/>
            <a:chOff x="0" y="0"/>
            <a:chExt cx="3449726" cy="4572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449727" cy="457200"/>
            </a:xfrm>
            <a:custGeom>
              <a:avLst/>
              <a:gdLst/>
              <a:ahLst/>
              <a:cxnLst/>
              <a:rect l="l" t="t" r="r" b="b"/>
              <a:pathLst>
                <a:path w="3449727" h="457200">
                  <a:moveTo>
                    <a:pt x="0" y="0"/>
                  </a:moveTo>
                  <a:lnTo>
                    <a:pt x="3449727" y="0"/>
                  </a:lnTo>
                  <a:lnTo>
                    <a:pt x="3449727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021" b="-9702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3449726" cy="466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23A6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helpText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873551" y="2928938"/>
            <a:ext cx="5481618" cy="342900"/>
            <a:chOff x="0" y="0"/>
            <a:chExt cx="7308825" cy="4572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308827" cy="457200"/>
            </a:xfrm>
            <a:custGeom>
              <a:avLst/>
              <a:gdLst/>
              <a:ahLst/>
              <a:cxnLst/>
              <a:rect l="l" t="t" r="r" b="b"/>
              <a:pathLst>
                <a:path w="7308827" h="457200">
                  <a:moveTo>
                    <a:pt x="0" y="0"/>
                  </a:moveTo>
                  <a:lnTo>
                    <a:pt x="7308827" y="0"/>
                  </a:lnTo>
                  <a:lnTo>
                    <a:pt x="7308827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1488" b="-26148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7308825" cy="47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Tiêu đề hiển thị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57250" y="3814762"/>
            <a:ext cx="8499719" cy="9525"/>
            <a:chOff x="0" y="0"/>
            <a:chExt cx="11332959" cy="127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332972" cy="12700"/>
            </a:xfrm>
            <a:custGeom>
              <a:avLst/>
              <a:gdLst/>
              <a:ahLst/>
              <a:cxnLst/>
              <a:rect l="l" t="t" r="r" b="b"/>
              <a:pathLst>
                <a:path w="11332972" h="12700">
                  <a:moveTo>
                    <a:pt x="0" y="0"/>
                  </a:moveTo>
                  <a:lnTo>
                    <a:pt x="11332972" y="0"/>
                  </a:lnTo>
                  <a:lnTo>
                    <a:pt x="1133297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28700" y="3424238"/>
            <a:ext cx="2587295" cy="342900"/>
            <a:chOff x="0" y="0"/>
            <a:chExt cx="3449726" cy="4572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449727" cy="457200"/>
            </a:xfrm>
            <a:custGeom>
              <a:avLst/>
              <a:gdLst/>
              <a:ahLst/>
              <a:cxnLst/>
              <a:rect l="l" t="t" r="r" b="b"/>
              <a:pathLst>
                <a:path w="3449727" h="457200">
                  <a:moveTo>
                    <a:pt x="0" y="0"/>
                  </a:moveTo>
                  <a:lnTo>
                    <a:pt x="3449727" y="0"/>
                  </a:lnTo>
                  <a:lnTo>
                    <a:pt x="3449727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021" b="-9702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3449726" cy="466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23A6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initialEntryMode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3873551" y="3424238"/>
            <a:ext cx="5481618" cy="342900"/>
            <a:chOff x="0" y="0"/>
            <a:chExt cx="7308825" cy="4572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308827" cy="457200"/>
            </a:xfrm>
            <a:custGeom>
              <a:avLst/>
              <a:gdLst/>
              <a:ahLst/>
              <a:cxnLst/>
              <a:rect l="l" t="t" r="r" b="b"/>
              <a:pathLst>
                <a:path w="7308827" h="457200">
                  <a:moveTo>
                    <a:pt x="0" y="0"/>
                  </a:moveTo>
                  <a:lnTo>
                    <a:pt x="7308827" y="0"/>
                  </a:lnTo>
                  <a:lnTo>
                    <a:pt x="7308827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1488" b="-26148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7308825" cy="47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Chế độ đồng hồ (dial) hoặc nhập tay (input)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28700" y="3919538"/>
            <a:ext cx="2587295" cy="338138"/>
            <a:chOff x="0" y="0"/>
            <a:chExt cx="3449726" cy="45085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449727" cy="450851"/>
            </a:xfrm>
            <a:custGeom>
              <a:avLst/>
              <a:gdLst/>
              <a:ahLst/>
              <a:cxnLst/>
              <a:rect l="l" t="t" r="r" b="b"/>
              <a:pathLst>
                <a:path w="3449727" h="450851">
                  <a:moveTo>
                    <a:pt x="0" y="0"/>
                  </a:moveTo>
                  <a:lnTo>
                    <a:pt x="3449727" y="0"/>
                  </a:lnTo>
                  <a:lnTo>
                    <a:pt x="3449727" y="450851"/>
                  </a:lnTo>
                  <a:lnTo>
                    <a:pt x="0" y="450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9091" b="-990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3449726" cy="4603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23A6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builder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873551" y="3919538"/>
            <a:ext cx="5481618" cy="338138"/>
            <a:chOff x="0" y="0"/>
            <a:chExt cx="7308825" cy="45085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7308827" cy="450851"/>
            </a:xfrm>
            <a:custGeom>
              <a:avLst/>
              <a:gdLst/>
              <a:ahLst/>
              <a:cxnLst/>
              <a:rect l="l" t="t" r="r" b="b"/>
              <a:pathLst>
                <a:path w="7308827" h="450851">
                  <a:moveTo>
                    <a:pt x="0" y="0"/>
                  </a:moveTo>
                  <a:lnTo>
                    <a:pt x="7308827" y="0"/>
                  </a:lnTo>
                  <a:lnTo>
                    <a:pt x="7308827" y="450851"/>
                  </a:lnTo>
                  <a:lnTo>
                    <a:pt x="0" y="450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5875" b="-26587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7308825" cy="4699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Tùy chỉnh theme tương tự Date Picker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814169" y="1847850"/>
            <a:ext cx="7616581" cy="2317852"/>
            <a:chOff x="0" y="0"/>
            <a:chExt cx="10155441" cy="3090469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0155428" cy="3090418"/>
            </a:xfrm>
            <a:custGeom>
              <a:avLst/>
              <a:gdLst/>
              <a:ahLst/>
              <a:cxnLst/>
              <a:rect l="l" t="t" r="r" b="b"/>
              <a:pathLst>
                <a:path w="10155428" h="3090418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9977628" y="0"/>
                  </a:lnTo>
                  <a:cubicBezTo>
                    <a:pt x="10075799" y="0"/>
                    <a:pt x="10155428" y="79629"/>
                    <a:pt x="10155428" y="177800"/>
                  </a:cubicBezTo>
                  <a:lnTo>
                    <a:pt x="10155428" y="2912618"/>
                  </a:lnTo>
                  <a:cubicBezTo>
                    <a:pt x="10155428" y="3010789"/>
                    <a:pt x="10075799" y="3090418"/>
                    <a:pt x="9977628" y="3090418"/>
                  </a:cubicBezTo>
                  <a:lnTo>
                    <a:pt x="177800" y="3090418"/>
                  </a:lnTo>
                  <a:cubicBezTo>
                    <a:pt x="79629" y="3090418"/>
                    <a:pt x="0" y="3010789"/>
                    <a:pt x="0" y="2912618"/>
                  </a:cubicBezTo>
                  <a:close/>
                </a:path>
              </a:pathLst>
            </a:custGeom>
            <a:solidFill>
              <a:srgbClr val="101C2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0106273" y="2082803"/>
            <a:ext cx="7260869" cy="1847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3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showTimePicker(</a:t>
            </a:r>
          </a:p>
          <a:p>
            <a:pPr algn="l">
              <a:lnSpc>
                <a:spcPts val="2273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context: context,</a:t>
            </a:r>
          </a:p>
          <a:p>
            <a:pPr algn="l">
              <a:lnSpc>
                <a:spcPts val="2273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initialTime: TimeOfDay.now(),</a:t>
            </a:r>
          </a:p>
          <a:p>
            <a:pPr algn="l">
              <a:lnSpc>
                <a:spcPts val="2273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initialEntryMode: TimePickerEntryMode.input,</a:t>
            </a:r>
          </a:p>
          <a:p>
            <a:pPr algn="l">
              <a:lnSpc>
                <a:spcPts val="2273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helpText: 'Chọn giờ hẹn',</a:t>
            </a:r>
          </a:p>
          <a:p>
            <a:pPr algn="l">
              <a:lnSpc>
                <a:spcPts val="2273"/>
              </a:lnSpc>
            </a:pPr>
            <a:r>
              <a:rPr lang="en-US" sz="1650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0" y="9705975"/>
            <a:ext cx="18288000" cy="9525"/>
            <a:chOff x="0" y="0"/>
            <a:chExt cx="24384000" cy="127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4384000" cy="12700"/>
            </a:xfrm>
            <a:custGeom>
              <a:avLst/>
              <a:gdLst/>
              <a:ahLst/>
              <a:cxnLst/>
              <a:rect l="l" t="t" r="r" b="b"/>
              <a:pathLst>
                <a:path w="24384000" h="127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57250" y="9934575"/>
            <a:ext cx="133350" cy="133350"/>
            <a:chOff x="0" y="0"/>
            <a:chExt cx="177800" cy="1778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39700" y="0"/>
                  </a:lnTo>
                  <a:cubicBezTo>
                    <a:pt x="160782" y="0"/>
                    <a:pt x="177800" y="17018"/>
                    <a:pt x="177800" y="38100"/>
                  </a:cubicBezTo>
                  <a:lnTo>
                    <a:pt x="177800" y="139700"/>
                  </a:lnTo>
                  <a:cubicBezTo>
                    <a:pt x="177800" y="160782"/>
                    <a:pt x="160782" y="177800"/>
                    <a:pt x="139700" y="177800"/>
                  </a:cubicBezTo>
                  <a:lnTo>
                    <a:pt x="38100" y="177800"/>
                  </a:lnTo>
                  <a:cubicBezTo>
                    <a:pt x="17018" y="177800"/>
                    <a:pt x="0" y="160782"/>
                    <a:pt x="0" y="139700"/>
                  </a:cubicBezTo>
                  <a:close/>
                </a:path>
              </a:pathLst>
            </a:custGeom>
            <a:solidFill>
              <a:srgbClr val="F2B4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111253" y="9869491"/>
            <a:ext cx="4081920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3.2.3. Các loại Widget trong Flutter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5475991" y="9869491"/>
            <a:ext cx="2127371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https://huit.edu.vn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28750"/>
            <a:chOff x="0" y="0"/>
            <a:chExt cx="24384000" cy="190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05000"/>
            </a:xfrm>
            <a:custGeom>
              <a:avLst/>
              <a:gdLst/>
              <a:ahLst/>
              <a:cxnLst/>
              <a:rect l="l" t="t" r="r" b="b"/>
              <a:pathLst>
                <a:path w="24384000" h="1905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F5F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838200" y="0"/>
                  </a:lnTo>
                  <a:cubicBezTo>
                    <a:pt x="908304" y="0"/>
                    <a:pt x="965200" y="56896"/>
                    <a:pt x="965200" y="127000"/>
                  </a:cubicBezTo>
                  <a:lnTo>
                    <a:pt x="965200" y="838200"/>
                  </a:lnTo>
                  <a:cubicBezTo>
                    <a:pt x="965200" y="908304"/>
                    <a:pt x="908304" y="965200"/>
                    <a:pt x="838200" y="965200"/>
                  </a:cubicBezTo>
                  <a:lnTo>
                    <a:pt x="127000" y="965200"/>
                  </a:lnTo>
                  <a:cubicBezTo>
                    <a:pt x="56896" y="965200"/>
                    <a:pt x="0" y="908304"/>
                    <a:pt x="0" y="8382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0"/>
                  </a:moveTo>
                  <a:lnTo>
                    <a:pt x="965200" y="0"/>
                  </a:lnTo>
                  <a:lnTo>
                    <a:pt x="9652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73253" y="320678"/>
            <a:ext cx="6631391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144">
                <a:solidFill>
                  <a:srgbClr val="F2B400"/>
                </a:solidFill>
                <a:latin typeface="Arial Bold"/>
                <a:ea typeface="Arial Bold"/>
                <a:cs typeface="Arial Bold"/>
                <a:sym typeface="Arial Bold"/>
              </a:rPr>
              <a:t>3.2.3.4 · DATE/TIME PICKER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73253" y="635003"/>
            <a:ext cx="6631391" cy="49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Kết hợp Date &amp; Time trong Form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57250" y="1752600"/>
            <a:ext cx="16573500" cy="7762875"/>
            <a:chOff x="0" y="0"/>
            <a:chExt cx="22098000" cy="103505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98000" cy="10350500"/>
            </a:xfrm>
            <a:custGeom>
              <a:avLst/>
              <a:gdLst/>
              <a:ahLst/>
              <a:cxnLst/>
              <a:rect l="l" t="t" r="r" b="b"/>
              <a:pathLst>
                <a:path w="22098000" h="103505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21920200" y="0"/>
                  </a:lnTo>
                  <a:cubicBezTo>
                    <a:pt x="22018371" y="0"/>
                    <a:pt x="22098000" y="79629"/>
                    <a:pt x="22098000" y="177800"/>
                  </a:cubicBezTo>
                  <a:lnTo>
                    <a:pt x="22098000" y="10172700"/>
                  </a:lnTo>
                  <a:cubicBezTo>
                    <a:pt x="22098000" y="10270871"/>
                    <a:pt x="22018371" y="10350500"/>
                    <a:pt x="21920200" y="10350500"/>
                  </a:cubicBezTo>
                  <a:lnTo>
                    <a:pt x="177800" y="10350500"/>
                  </a:lnTo>
                  <a:cubicBezTo>
                    <a:pt x="79629" y="10350500"/>
                    <a:pt x="0" y="10270871"/>
                    <a:pt x="0" y="10172700"/>
                  </a:cubicBezTo>
                  <a:close/>
                </a:path>
              </a:pathLst>
            </a:custGeom>
            <a:solidFill>
              <a:srgbClr val="101C2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68403" y="1958978"/>
            <a:ext cx="16448408" cy="7340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6"/>
              </a:lnSpc>
            </a:pPr>
            <a:r>
              <a:rPr lang="en-US" sz="15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class _DateTimePickerDemoState extends State&lt;DateTimePickerDemo&gt; {</a:t>
            </a:r>
          </a:p>
          <a:p>
            <a:pPr algn="l">
              <a:lnSpc>
                <a:spcPts val="2346"/>
              </a:lnSpc>
            </a:pPr>
            <a:r>
              <a:rPr lang="en-US" sz="15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DateTime? _date;</a:t>
            </a:r>
          </a:p>
          <a:p>
            <a:pPr algn="l">
              <a:lnSpc>
                <a:spcPts val="2346"/>
              </a:lnSpc>
            </a:pPr>
            <a:r>
              <a:rPr lang="en-US" sz="15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TimeOfDay? _time;</a:t>
            </a:r>
          </a:p>
          <a:p>
            <a:pPr algn="l">
              <a:lnSpc>
                <a:spcPts val="2346"/>
              </a:lnSpc>
            </a:pPr>
            <a:endParaRPr lang="en-US" sz="1575">
              <a:solidFill>
                <a:srgbClr val="E7EDF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algn="l">
              <a:lnSpc>
                <a:spcPts val="2346"/>
              </a:lnSpc>
            </a:pPr>
            <a:r>
              <a:rPr lang="en-US" sz="15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Future&lt;void&gt; _pickDate() async {</a:t>
            </a:r>
          </a:p>
          <a:p>
            <a:pPr algn="l">
              <a:lnSpc>
                <a:spcPts val="2346"/>
              </a:lnSpc>
            </a:pPr>
            <a:r>
              <a:rPr lang="en-US" sz="15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final picked = await showDatePicker(</a:t>
            </a:r>
          </a:p>
          <a:p>
            <a:pPr algn="l">
              <a:lnSpc>
                <a:spcPts val="2346"/>
              </a:lnSpc>
            </a:pPr>
            <a:r>
              <a:rPr lang="en-US" sz="15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context: context, initialDate: DateTime.now(),</a:t>
            </a:r>
          </a:p>
          <a:p>
            <a:pPr algn="l">
              <a:lnSpc>
                <a:spcPts val="2346"/>
              </a:lnSpc>
            </a:pPr>
            <a:r>
              <a:rPr lang="en-US" sz="15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  firstDate: DateTime(2020), lastDate: DateTime(2030),</a:t>
            </a:r>
          </a:p>
          <a:p>
            <a:pPr algn="l">
              <a:lnSpc>
                <a:spcPts val="2346"/>
              </a:lnSpc>
            </a:pPr>
            <a:r>
              <a:rPr lang="en-US" sz="15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);</a:t>
            </a:r>
          </a:p>
          <a:p>
            <a:pPr algn="l">
              <a:lnSpc>
                <a:spcPts val="2346"/>
              </a:lnSpc>
            </a:pPr>
            <a:r>
              <a:rPr lang="en-US" sz="15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if (picked != null) setState(() =&gt; _date = picked);</a:t>
            </a:r>
          </a:p>
          <a:p>
            <a:pPr algn="l">
              <a:lnSpc>
                <a:spcPts val="2346"/>
              </a:lnSpc>
            </a:pPr>
            <a:r>
              <a:rPr lang="en-US" sz="15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</a:p>
          <a:p>
            <a:pPr algn="l">
              <a:lnSpc>
                <a:spcPts val="2346"/>
              </a:lnSpc>
            </a:pPr>
            <a:endParaRPr lang="en-US" sz="1575">
              <a:solidFill>
                <a:srgbClr val="E7EDF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algn="l">
              <a:lnSpc>
                <a:spcPts val="2346"/>
              </a:lnSpc>
            </a:pPr>
            <a:r>
              <a:rPr lang="en-US" sz="15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Future&lt;void&gt; _pickTime() async {</a:t>
            </a:r>
          </a:p>
          <a:p>
            <a:pPr algn="l">
              <a:lnSpc>
                <a:spcPts val="2346"/>
              </a:lnSpc>
            </a:pPr>
            <a:r>
              <a:rPr lang="en-US" sz="15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final picked = await showTimePicker(context: context, initialTime: TimeOfDay.now());</a:t>
            </a:r>
          </a:p>
          <a:p>
            <a:pPr algn="l">
              <a:lnSpc>
                <a:spcPts val="2346"/>
              </a:lnSpc>
            </a:pPr>
            <a:r>
              <a:rPr lang="en-US" sz="15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if (picked != null) setState(() =&gt; _time = picked);</a:t>
            </a:r>
          </a:p>
          <a:p>
            <a:pPr algn="l">
              <a:lnSpc>
                <a:spcPts val="2346"/>
              </a:lnSpc>
            </a:pPr>
            <a:r>
              <a:rPr lang="en-US" sz="15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</a:p>
          <a:p>
            <a:pPr algn="l">
              <a:lnSpc>
                <a:spcPts val="2346"/>
              </a:lnSpc>
            </a:pPr>
            <a:endParaRPr lang="en-US" sz="1575">
              <a:solidFill>
                <a:srgbClr val="E7EDF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algn="l">
              <a:lnSpc>
                <a:spcPts val="2346"/>
              </a:lnSpc>
            </a:pPr>
            <a:r>
              <a:rPr lang="en-US" sz="15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// build(): hai ElevatedButton gọi _pickDate và _pickTime,</a:t>
            </a:r>
          </a:p>
          <a:p>
            <a:pPr algn="l">
              <a:lnSpc>
                <a:spcPts val="2346"/>
              </a:lnSpc>
            </a:pPr>
            <a:r>
              <a:rPr lang="en-US" sz="15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// hiển thị _date / _time đã chọn lên nhãn nút</a:t>
            </a:r>
          </a:p>
          <a:p>
            <a:pPr algn="l">
              <a:lnSpc>
                <a:spcPts val="2346"/>
              </a:lnSpc>
            </a:pPr>
            <a:r>
              <a:rPr lang="en-US" sz="15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0" y="9705975"/>
            <a:ext cx="18288000" cy="9525"/>
            <a:chOff x="0" y="0"/>
            <a:chExt cx="24384000" cy="127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384000" cy="12700"/>
            </a:xfrm>
            <a:custGeom>
              <a:avLst/>
              <a:gdLst/>
              <a:ahLst/>
              <a:cxnLst/>
              <a:rect l="l" t="t" r="r" b="b"/>
              <a:pathLst>
                <a:path w="24384000" h="127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57250" y="9934575"/>
            <a:ext cx="133350" cy="133350"/>
            <a:chOff x="0" y="0"/>
            <a:chExt cx="177800" cy="177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39700" y="0"/>
                  </a:lnTo>
                  <a:cubicBezTo>
                    <a:pt x="160782" y="0"/>
                    <a:pt x="177800" y="17018"/>
                    <a:pt x="177800" y="38100"/>
                  </a:cubicBezTo>
                  <a:lnTo>
                    <a:pt x="177800" y="139700"/>
                  </a:lnTo>
                  <a:cubicBezTo>
                    <a:pt x="177800" y="160782"/>
                    <a:pt x="160782" y="177800"/>
                    <a:pt x="139700" y="177800"/>
                  </a:cubicBezTo>
                  <a:lnTo>
                    <a:pt x="38100" y="177800"/>
                  </a:lnTo>
                  <a:cubicBezTo>
                    <a:pt x="17018" y="177800"/>
                    <a:pt x="0" y="160782"/>
                    <a:pt x="0" y="139700"/>
                  </a:cubicBezTo>
                  <a:close/>
                </a:path>
              </a:pathLst>
            </a:custGeom>
            <a:solidFill>
              <a:srgbClr val="F2B4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11253" y="9869491"/>
            <a:ext cx="4081920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3.2.3. Các loại Widget trong Flutter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475991" y="9869491"/>
            <a:ext cx="2127371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https://huit.edu.vn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28750"/>
            <a:chOff x="0" y="0"/>
            <a:chExt cx="24384000" cy="190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05000"/>
            </a:xfrm>
            <a:custGeom>
              <a:avLst/>
              <a:gdLst/>
              <a:ahLst/>
              <a:cxnLst/>
              <a:rect l="l" t="t" r="r" b="b"/>
              <a:pathLst>
                <a:path w="24384000" h="1905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F5F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838200" y="0"/>
                  </a:lnTo>
                  <a:cubicBezTo>
                    <a:pt x="908304" y="0"/>
                    <a:pt x="965200" y="56896"/>
                    <a:pt x="965200" y="127000"/>
                  </a:cubicBezTo>
                  <a:lnTo>
                    <a:pt x="965200" y="838200"/>
                  </a:lnTo>
                  <a:cubicBezTo>
                    <a:pt x="965200" y="908304"/>
                    <a:pt x="908304" y="965200"/>
                    <a:pt x="838200" y="965200"/>
                  </a:cubicBezTo>
                  <a:lnTo>
                    <a:pt x="127000" y="965200"/>
                  </a:lnTo>
                  <a:cubicBezTo>
                    <a:pt x="56896" y="965200"/>
                    <a:pt x="0" y="908304"/>
                    <a:pt x="0" y="8382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0"/>
                  </a:moveTo>
                  <a:lnTo>
                    <a:pt x="965200" y="0"/>
                  </a:lnTo>
                  <a:lnTo>
                    <a:pt x="9652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73253" y="320678"/>
            <a:ext cx="7918323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144">
                <a:solidFill>
                  <a:srgbClr val="F2B400"/>
                </a:solidFill>
                <a:latin typeface="Arial Bold"/>
                <a:ea typeface="Arial Bold"/>
                <a:cs typeface="Arial Bold"/>
                <a:sym typeface="Arial Bold"/>
              </a:rPr>
              <a:t>3.2.3.4 · DATE/TIME PICKER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73253" y="635003"/>
            <a:ext cx="7918323" cy="49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CupertinoDatePicker (phong cách iOS)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57250" y="1885950"/>
            <a:ext cx="8324850" cy="3033712"/>
            <a:chOff x="0" y="0"/>
            <a:chExt cx="11099800" cy="40449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099800" cy="4044950"/>
            </a:xfrm>
            <a:custGeom>
              <a:avLst/>
              <a:gdLst/>
              <a:ahLst/>
              <a:cxnLst/>
              <a:rect l="l" t="t" r="r" b="b"/>
              <a:pathLst>
                <a:path w="11099800" h="404495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10922000" y="0"/>
                  </a:lnTo>
                  <a:cubicBezTo>
                    <a:pt x="11020171" y="0"/>
                    <a:pt x="11099800" y="79629"/>
                    <a:pt x="11099800" y="177800"/>
                  </a:cubicBezTo>
                  <a:lnTo>
                    <a:pt x="11099800" y="3867150"/>
                  </a:lnTo>
                  <a:cubicBezTo>
                    <a:pt x="11099800" y="3965321"/>
                    <a:pt x="11020171" y="4044950"/>
                    <a:pt x="10922000" y="4044950"/>
                  </a:cubicBezTo>
                  <a:lnTo>
                    <a:pt x="177800" y="4044950"/>
                  </a:lnTo>
                  <a:cubicBezTo>
                    <a:pt x="79629" y="4044950"/>
                    <a:pt x="0" y="3965321"/>
                    <a:pt x="0" y="3867150"/>
                  </a:cubicBezTo>
                  <a:close/>
                </a:path>
              </a:pathLst>
            </a:custGeom>
            <a:solidFill>
              <a:srgbClr val="101C2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87453" y="2130428"/>
            <a:ext cx="7914199" cy="2535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8"/>
              </a:lnSpc>
            </a:pPr>
            <a:r>
              <a:rPr lang="en-US" sz="18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CupertinoDatePicker(</a:t>
            </a:r>
          </a:p>
          <a:p>
            <a:pPr algn="l">
              <a:lnSpc>
                <a:spcPts val="2618"/>
              </a:lnSpc>
            </a:pPr>
            <a:r>
              <a:rPr lang="en-US" sz="18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mode: CupertinoDatePickerMode.dateAndTime,</a:t>
            </a:r>
          </a:p>
          <a:p>
            <a:pPr algn="l">
              <a:lnSpc>
                <a:spcPts val="2618"/>
              </a:lnSpc>
            </a:pPr>
            <a:r>
              <a:rPr lang="en-US" sz="18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initialDateTime: DateTime.now(),</a:t>
            </a:r>
          </a:p>
          <a:p>
            <a:pPr algn="l">
              <a:lnSpc>
                <a:spcPts val="2618"/>
              </a:lnSpc>
            </a:pPr>
            <a:r>
              <a:rPr lang="en-US" sz="18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onDateTimeChanged: (DateTime newDate) {</a:t>
            </a:r>
          </a:p>
          <a:p>
            <a:pPr algn="l">
              <a:lnSpc>
                <a:spcPts val="2618"/>
              </a:lnSpc>
            </a:pPr>
            <a:r>
              <a:rPr lang="en-US" sz="18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  print(newDate);</a:t>
            </a:r>
          </a:p>
          <a:p>
            <a:pPr algn="l">
              <a:lnSpc>
                <a:spcPts val="2618"/>
              </a:lnSpc>
            </a:pPr>
            <a:r>
              <a:rPr lang="en-US" sz="18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  },</a:t>
            </a:r>
          </a:p>
          <a:p>
            <a:pPr algn="l">
              <a:lnSpc>
                <a:spcPts val="2618"/>
              </a:lnSpc>
            </a:pPr>
            <a:r>
              <a:rPr lang="en-US" sz="1875">
                <a:solidFill>
                  <a:srgbClr val="E7EDF5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31957" y="1944692"/>
            <a:ext cx="8867276" cy="2801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5034" lvl="1" indent="-327517" algn="l">
              <a:lnSpc>
                <a:spcPts val="4459"/>
              </a:lnSpc>
              <a:buFont typeface="Arial"/>
              <a:buChar char="•"/>
            </a:pPr>
            <a:r>
              <a:rPr lang="en-US" sz="3033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Thường đặt trong showModalBottomSheet hoặc showCupertinoModalPopup</a:t>
            </a:r>
          </a:p>
          <a:p>
            <a:pPr marL="655034" lvl="1" indent="-327517" algn="l">
              <a:lnSpc>
                <a:spcPts val="4459"/>
              </a:lnSpc>
              <a:buFont typeface="Arial"/>
              <a:buChar char="•"/>
            </a:pPr>
            <a:r>
              <a:rPr lang="en-US" sz="3033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Có 3 mode: date, time, dateAndTime</a:t>
            </a:r>
          </a:p>
          <a:p>
            <a:pPr marL="655034" lvl="1" indent="-327517" algn="l">
              <a:lnSpc>
                <a:spcPts val="4459"/>
              </a:lnSpc>
              <a:buFont typeface="Arial"/>
              <a:buChar char="•"/>
            </a:pPr>
            <a:r>
              <a:rPr lang="en-US" sz="3033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Phù hợp khi app hướng theo phong cách thiết kế iOS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0" y="9705975"/>
            <a:ext cx="18288000" cy="9525"/>
            <a:chOff x="0" y="0"/>
            <a:chExt cx="24384000" cy="127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384000" cy="12700"/>
            </a:xfrm>
            <a:custGeom>
              <a:avLst/>
              <a:gdLst/>
              <a:ahLst/>
              <a:cxnLst/>
              <a:rect l="l" t="t" r="r" b="b"/>
              <a:pathLst>
                <a:path w="24384000" h="127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57250" y="9934575"/>
            <a:ext cx="133350" cy="133350"/>
            <a:chOff x="0" y="0"/>
            <a:chExt cx="177800" cy="177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39700" y="0"/>
                  </a:lnTo>
                  <a:cubicBezTo>
                    <a:pt x="160782" y="0"/>
                    <a:pt x="177800" y="17018"/>
                    <a:pt x="177800" y="38100"/>
                  </a:cubicBezTo>
                  <a:lnTo>
                    <a:pt x="177800" y="139700"/>
                  </a:lnTo>
                  <a:cubicBezTo>
                    <a:pt x="177800" y="160782"/>
                    <a:pt x="160782" y="177800"/>
                    <a:pt x="139700" y="177800"/>
                  </a:cubicBezTo>
                  <a:lnTo>
                    <a:pt x="38100" y="177800"/>
                  </a:lnTo>
                  <a:cubicBezTo>
                    <a:pt x="17018" y="177800"/>
                    <a:pt x="0" y="160782"/>
                    <a:pt x="0" y="139700"/>
                  </a:cubicBezTo>
                  <a:close/>
                </a:path>
              </a:pathLst>
            </a:custGeom>
            <a:solidFill>
              <a:srgbClr val="F2B4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11253" y="9869491"/>
            <a:ext cx="4081920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3.2.3. Các loại Widget trong Flutter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475991" y="9869491"/>
            <a:ext cx="2127371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https://huit.edu.vn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64631"/>
            <a:ext cx="18288000" cy="1428750"/>
            <a:chOff x="0" y="0"/>
            <a:chExt cx="24384000" cy="190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05000"/>
            </a:xfrm>
            <a:custGeom>
              <a:avLst/>
              <a:gdLst/>
              <a:ahLst/>
              <a:cxnLst/>
              <a:rect l="l" t="t" r="r" b="b"/>
              <a:pathLst>
                <a:path w="24384000" h="1905000">
                  <a:moveTo>
                    <a:pt x="0" y="0"/>
                  </a:moveTo>
                  <a:lnTo>
                    <a:pt x="24384000" y="0"/>
                  </a:lnTo>
                  <a:lnTo>
                    <a:pt x="2438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F5F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838200" y="0"/>
                  </a:lnTo>
                  <a:cubicBezTo>
                    <a:pt x="908304" y="0"/>
                    <a:pt x="965200" y="56896"/>
                    <a:pt x="965200" y="127000"/>
                  </a:cubicBezTo>
                  <a:lnTo>
                    <a:pt x="965200" y="838200"/>
                  </a:lnTo>
                  <a:cubicBezTo>
                    <a:pt x="965200" y="908304"/>
                    <a:pt x="908304" y="965200"/>
                    <a:pt x="838200" y="965200"/>
                  </a:cubicBezTo>
                  <a:lnTo>
                    <a:pt x="127000" y="965200"/>
                  </a:lnTo>
                  <a:cubicBezTo>
                    <a:pt x="56896" y="965200"/>
                    <a:pt x="0" y="908304"/>
                    <a:pt x="0" y="8382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352425"/>
            <a:ext cx="723900" cy="723900"/>
            <a:chOff x="0" y="0"/>
            <a:chExt cx="965200" cy="9652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0"/>
                  </a:moveTo>
                  <a:lnTo>
                    <a:pt x="965200" y="0"/>
                  </a:lnTo>
                  <a:lnTo>
                    <a:pt x="9652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73253" y="320678"/>
            <a:ext cx="3481759" cy="27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144">
                <a:solidFill>
                  <a:srgbClr val="F2B400"/>
                </a:solidFill>
                <a:latin typeface="Arial Bold"/>
                <a:ea typeface="Arial Bold"/>
                <a:cs typeface="Arial Bold"/>
                <a:sym typeface="Arial Bold"/>
              </a:rPr>
              <a:t>3.2.3 · TỔNG KẾT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73253" y="635003"/>
            <a:ext cx="3481759" cy="492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Tổng kết chương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90600" y="1483181"/>
            <a:ext cx="16358406" cy="1615062"/>
            <a:chOff x="0" y="0"/>
            <a:chExt cx="9004376" cy="889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004377" cy="889000"/>
            </a:xfrm>
            <a:custGeom>
              <a:avLst/>
              <a:gdLst/>
              <a:ahLst/>
              <a:cxnLst/>
              <a:rect l="l" t="t" r="r" b="b"/>
              <a:pathLst>
                <a:path w="9004377" h="889000">
                  <a:moveTo>
                    <a:pt x="0" y="0"/>
                  </a:moveTo>
                  <a:lnTo>
                    <a:pt x="9004377" y="0"/>
                  </a:lnTo>
                  <a:lnTo>
                    <a:pt x="9004377" y="889000"/>
                  </a:lnTo>
                  <a:lnTo>
                    <a:pt x="0" y="889000"/>
                  </a:lnTo>
                  <a:close/>
                </a:path>
              </a:pathLst>
            </a:custGeom>
            <a:solidFill>
              <a:srgbClr val="1F5FA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16233" y="1772002"/>
            <a:ext cx="4940436" cy="1129709"/>
            <a:chOff x="0" y="0"/>
            <a:chExt cx="2719430" cy="62184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19429" cy="621841"/>
            </a:xfrm>
            <a:custGeom>
              <a:avLst/>
              <a:gdLst/>
              <a:ahLst/>
              <a:cxnLst/>
              <a:rect l="l" t="t" r="r" b="b"/>
              <a:pathLst>
                <a:path w="2719429" h="621841">
                  <a:moveTo>
                    <a:pt x="0" y="0"/>
                  </a:moveTo>
                  <a:lnTo>
                    <a:pt x="2719429" y="0"/>
                  </a:lnTo>
                  <a:lnTo>
                    <a:pt x="2719429" y="621841"/>
                  </a:lnTo>
                  <a:lnTo>
                    <a:pt x="0" y="621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317" r="-145414" b="-147925"/>
              </a:stretch>
            </a:blip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719430" cy="640891"/>
            </a:xfrm>
            <a:prstGeom prst="rect">
              <a:avLst/>
            </a:prstGeom>
          </p:spPr>
          <p:txBody>
            <a:bodyPr lIns="190500" tIns="190500" rIns="190500" bIns="19050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Widget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450895" y="1772002"/>
            <a:ext cx="10808405" cy="1129709"/>
            <a:chOff x="0" y="0"/>
            <a:chExt cx="5949415" cy="62184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949418" cy="621841"/>
            </a:xfrm>
            <a:custGeom>
              <a:avLst/>
              <a:gdLst/>
              <a:ahLst/>
              <a:cxnLst/>
              <a:rect l="l" t="t" r="r" b="b"/>
              <a:pathLst>
                <a:path w="5949418" h="621841">
                  <a:moveTo>
                    <a:pt x="0" y="0"/>
                  </a:moveTo>
                  <a:lnTo>
                    <a:pt x="5949418" y="0"/>
                  </a:lnTo>
                  <a:lnTo>
                    <a:pt x="5949418" y="621841"/>
                  </a:lnTo>
                  <a:lnTo>
                    <a:pt x="0" y="621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7072" r="-149904" b="-404680"/>
              </a:stretch>
            </a:blip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5949415" cy="678991"/>
            </a:xfrm>
            <a:prstGeom prst="rect">
              <a:avLst/>
            </a:prstGeom>
          </p:spPr>
          <p:txBody>
            <a:bodyPr lIns="190500" tIns="190500" rIns="190500" bIns="190500" rtlCol="0" anchor="ctr"/>
            <a:lstStyle/>
            <a:p>
              <a:pPr algn="just">
                <a:lnSpc>
                  <a:spcPts val="3149"/>
                </a:lnSpc>
              </a:pPr>
              <a:r>
                <a:rPr lang="en-US" sz="225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Công dụng chính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90600" y="4747913"/>
            <a:ext cx="16358406" cy="23072"/>
            <a:chOff x="0" y="0"/>
            <a:chExt cx="9004376" cy="127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004377" cy="12700"/>
            </a:xfrm>
            <a:custGeom>
              <a:avLst/>
              <a:gdLst/>
              <a:ahLst/>
              <a:cxnLst/>
              <a:rect l="l" t="t" r="r" b="b"/>
              <a:pathLst>
                <a:path w="9004377" h="12700">
                  <a:moveTo>
                    <a:pt x="0" y="0"/>
                  </a:moveTo>
                  <a:lnTo>
                    <a:pt x="9004377" y="0"/>
                  </a:lnTo>
                  <a:lnTo>
                    <a:pt x="9004377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16233" y="3415904"/>
            <a:ext cx="4940436" cy="1129709"/>
            <a:chOff x="0" y="0"/>
            <a:chExt cx="2719430" cy="62184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719429" cy="621842"/>
            </a:xfrm>
            <a:custGeom>
              <a:avLst/>
              <a:gdLst/>
              <a:ahLst/>
              <a:cxnLst/>
              <a:rect l="l" t="t" r="r" b="b"/>
              <a:pathLst>
                <a:path w="2719429" h="621842">
                  <a:moveTo>
                    <a:pt x="0" y="0"/>
                  </a:moveTo>
                  <a:lnTo>
                    <a:pt x="2719429" y="0"/>
                  </a:lnTo>
                  <a:lnTo>
                    <a:pt x="2719429" y="621842"/>
                  </a:lnTo>
                  <a:lnTo>
                    <a:pt x="0" y="6218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7764" r="-145414" b="-150478"/>
              </a:stretch>
            </a:blip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2719430" cy="640891"/>
            </a:xfrm>
            <a:prstGeom prst="rect">
              <a:avLst/>
            </a:prstGeom>
          </p:spPr>
          <p:txBody>
            <a:bodyPr lIns="190500" tIns="190500" rIns="190500" bIns="19050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123A6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Container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50895" y="3415904"/>
            <a:ext cx="10829786" cy="1129709"/>
            <a:chOff x="0" y="0"/>
            <a:chExt cx="5961185" cy="62184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961187" cy="621842"/>
            </a:xfrm>
            <a:custGeom>
              <a:avLst/>
              <a:gdLst/>
              <a:ahLst/>
              <a:cxnLst/>
              <a:rect l="l" t="t" r="r" b="b"/>
              <a:pathLst>
                <a:path w="5961187" h="621842">
                  <a:moveTo>
                    <a:pt x="0" y="0"/>
                  </a:moveTo>
                  <a:lnTo>
                    <a:pt x="5961187" y="0"/>
                  </a:lnTo>
                  <a:lnTo>
                    <a:pt x="5961187" y="621842"/>
                  </a:lnTo>
                  <a:lnTo>
                    <a:pt x="0" y="6218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4519" r="-149411" b="-407232"/>
              </a:stretch>
            </a:blip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5961185" cy="640891"/>
            </a:xfrm>
            <a:prstGeom prst="rect">
              <a:avLst/>
            </a:prstGeom>
          </p:spPr>
          <p:txBody>
            <a:bodyPr lIns="190500" tIns="190500" rIns="190500" bIns="19050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Trang trí, định kích thước, căn chỉnh widget đơn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90600" y="6432191"/>
            <a:ext cx="16358406" cy="23072"/>
            <a:chOff x="0" y="0"/>
            <a:chExt cx="9004376" cy="127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004377" cy="12700"/>
            </a:xfrm>
            <a:custGeom>
              <a:avLst/>
              <a:gdLst/>
              <a:ahLst/>
              <a:cxnLst/>
              <a:rect l="l" t="t" r="r" b="b"/>
              <a:pathLst>
                <a:path w="9004377" h="12700">
                  <a:moveTo>
                    <a:pt x="0" y="0"/>
                  </a:moveTo>
                  <a:lnTo>
                    <a:pt x="9004377" y="0"/>
                  </a:lnTo>
                  <a:lnTo>
                    <a:pt x="9004377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16233" y="5094414"/>
            <a:ext cx="4940436" cy="1129709"/>
            <a:chOff x="0" y="0"/>
            <a:chExt cx="2719430" cy="62184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719429" cy="621841"/>
            </a:xfrm>
            <a:custGeom>
              <a:avLst/>
              <a:gdLst/>
              <a:ahLst/>
              <a:cxnLst/>
              <a:rect l="l" t="t" r="r" b="b"/>
              <a:pathLst>
                <a:path w="2719429" h="621841">
                  <a:moveTo>
                    <a:pt x="0" y="0"/>
                  </a:moveTo>
                  <a:lnTo>
                    <a:pt x="2719429" y="0"/>
                  </a:lnTo>
                  <a:lnTo>
                    <a:pt x="2719429" y="621841"/>
                  </a:lnTo>
                  <a:lnTo>
                    <a:pt x="0" y="621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7254" r="-145414" b="-150989"/>
              </a:stretch>
            </a:blip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2719430" cy="640891"/>
            </a:xfrm>
            <a:prstGeom prst="rect">
              <a:avLst/>
            </a:prstGeom>
          </p:spPr>
          <p:txBody>
            <a:bodyPr lIns="190500" tIns="190500" rIns="190500" bIns="19050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123A6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Stack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450895" y="5094414"/>
            <a:ext cx="10829786" cy="1129709"/>
            <a:chOff x="0" y="0"/>
            <a:chExt cx="5961185" cy="62184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961187" cy="621841"/>
            </a:xfrm>
            <a:custGeom>
              <a:avLst/>
              <a:gdLst/>
              <a:ahLst/>
              <a:cxnLst/>
              <a:rect l="l" t="t" r="r" b="b"/>
              <a:pathLst>
                <a:path w="5961187" h="621841">
                  <a:moveTo>
                    <a:pt x="0" y="0"/>
                  </a:moveTo>
                  <a:lnTo>
                    <a:pt x="5961187" y="0"/>
                  </a:lnTo>
                  <a:lnTo>
                    <a:pt x="5961187" y="621841"/>
                  </a:lnTo>
                  <a:lnTo>
                    <a:pt x="0" y="621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4008" r="-149411" b="-407744"/>
              </a:stretch>
            </a:blip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5961185" cy="640891"/>
            </a:xfrm>
            <a:prstGeom prst="rect">
              <a:avLst/>
            </a:prstGeom>
          </p:spPr>
          <p:txBody>
            <a:bodyPr lIns="190500" tIns="190500" rIns="190500" bIns="19050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Xếp chồng nhiều widget theo trục Z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90600" y="8116470"/>
            <a:ext cx="16358406" cy="23072"/>
            <a:chOff x="0" y="0"/>
            <a:chExt cx="9004376" cy="127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004377" cy="12700"/>
            </a:xfrm>
            <a:custGeom>
              <a:avLst/>
              <a:gdLst/>
              <a:ahLst/>
              <a:cxnLst/>
              <a:rect l="l" t="t" r="r" b="b"/>
              <a:pathLst>
                <a:path w="9004377" h="12700">
                  <a:moveTo>
                    <a:pt x="0" y="0"/>
                  </a:moveTo>
                  <a:lnTo>
                    <a:pt x="9004377" y="0"/>
                  </a:lnTo>
                  <a:lnTo>
                    <a:pt x="9004377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16233" y="6778693"/>
            <a:ext cx="4940436" cy="1129709"/>
            <a:chOff x="0" y="0"/>
            <a:chExt cx="2719430" cy="621841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719429" cy="621841"/>
            </a:xfrm>
            <a:custGeom>
              <a:avLst/>
              <a:gdLst/>
              <a:ahLst/>
              <a:cxnLst/>
              <a:rect l="l" t="t" r="r" b="b"/>
              <a:pathLst>
                <a:path w="2719429" h="621841">
                  <a:moveTo>
                    <a:pt x="0" y="0"/>
                  </a:moveTo>
                  <a:lnTo>
                    <a:pt x="2719429" y="0"/>
                  </a:lnTo>
                  <a:lnTo>
                    <a:pt x="2719429" y="621841"/>
                  </a:lnTo>
                  <a:lnTo>
                    <a:pt x="0" y="621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7254" r="-145414" b="-150989"/>
              </a:stretch>
            </a:blip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19050"/>
              <a:ext cx="2719430" cy="640891"/>
            </a:xfrm>
            <a:prstGeom prst="rect">
              <a:avLst/>
            </a:prstGeom>
          </p:spPr>
          <p:txBody>
            <a:bodyPr lIns="190500" tIns="190500" rIns="190500" bIns="19050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123A6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Dialog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450895" y="6778693"/>
            <a:ext cx="10829786" cy="1129709"/>
            <a:chOff x="0" y="0"/>
            <a:chExt cx="5961185" cy="621841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961187" cy="621841"/>
            </a:xfrm>
            <a:custGeom>
              <a:avLst/>
              <a:gdLst/>
              <a:ahLst/>
              <a:cxnLst/>
              <a:rect l="l" t="t" r="r" b="b"/>
              <a:pathLst>
                <a:path w="5961187" h="621841">
                  <a:moveTo>
                    <a:pt x="0" y="0"/>
                  </a:moveTo>
                  <a:lnTo>
                    <a:pt x="5961187" y="0"/>
                  </a:lnTo>
                  <a:lnTo>
                    <a:pt x="5961187" y="621841"/>
                  </a:lnTo>
                  <a:lnTo>
                    <a:pt x="0" y="621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4008" r="-149411" b="-407744"/>
              </a:stretch>
            </a:blip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19050"/>
              <a:ext cx="5961185" cy="640891"/>
            </a:xfrm>
            <a:prstGeom prst="rect">
              <a:avLst/>
            </a:prstGeom>
          </p:spPr>
          <p:txBody>
            <a:bodyPr lIns="190500" tIns="190500" rIns="190500" bIns="19050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Hộp thoại tương tác, xác nhận, thông báo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216233" y="8457203"/>
            <a:ext cx="4940436" cy="1129709"/>
            <a:chOff x="0" y="0"/>
            <a:chExt cx="2719430" cy="621841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719429" cy="621842"/>
            </a:xfrm>
            <a:custGeom>
              <a:avLst/>
              <a:gdLst/>
              <a:ahLst/>
              <a:cxnLst/>
              <a:rect l="l" t="t" r="r" b="b"/>
              <a:pathLst>
                <a:path w="2719429" h="621842">
                  <a:moveTo>
                    <a:pt x="0" y="0"/>
                  </a:moveTo>
                  <a:lnTo>
                    <a:pt x="2719429" y="0"/>
                  </a:lnTo>
                  <a:lnTo>
                    <a:pt x="2719429" y="621842"/>
                  </a:lnTo>
                  <a:lnTo>
                    <a:pt x="0" y="6218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7764" r="-145414" b="-150478"/>
              </a:stretch>
            </a:blip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19050"/>
              <a:ext cx="2719430" cy="640891"/>
            </a:xfrm>
            <a:prstGeom prst="rect">
              <a:avLst/>
            </a:prstGeom>
          </p:spPr>
          <p:txBody>
            <a:bodyPr lIns="190500" tIns="190500" rIns="190500" bIns="19050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123A6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Date/Time Picker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450895" y="8457203"/>
            <a:ext cx="10808405" cy="1129709"/>
            <a:chOff x="0" y="0"/>
            <a:chExt cx="5949415" cy="621841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5949418" cy="621842"/>
            </a:xfrm>
            <a:custGeom>
              <a:avLst/>
              <a:gdLst/>
              <a:ahLst/>
              <a:cxnLst/>
              <a:rect l="l" t="t" r="r" b="b"/>
              <a:pathLst>
                <a:path w="5949418" h="621842">
                  <a:moveTo>
                    <a:pt x="0" y="0"/>
                  </a:moveTo>
                  <a:lnTo>
                    <a:pt x="5949418" y="0"/>
                  </a:lnTo>
                  <a:lnTo>
                    <a:pt x="5949418" y="621842"/>
                  </a:lnTo>
                  <a:lnTo>
                    <a:pt x="0" y="6218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4519" r="-149904" b="-407232"/>
              </a:stretch>
            </a:blip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19050"/>
              <a:ext cx="5949415" cy="640891"/>
            </a:xfrm>
            <a:prstGeom prst="rect">
              <a:avLst/>
            </a:prstGeom>
          </p:spPr>
          <p:txBody>
            <a:bodyPr lIns="190500" tIns="190500" rIns="190500" bIns="19050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3A4C58"/>
                  </a:solidFill>
                  <a:latin typeface="Arial"/>
                  <a:ea typeface="Arial"/>
                  <a:cs typeface="Arial"/>
                  <a:sym typeface="Arial"/>
                </a:rPr>
                <a:t>Chọn ngày giờ trực quan, theo chuẩn Material/Cupertino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0" y="9705975"/>
            <a:ext cx="18288000" cy="9525"/>
            <a:chOff x="0" y="0"/>
            <a:chExt cx="24384000" cy="127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4384000" cy="12700"/>
            </a:xfrm>
            <a:custGeom>
              <a:avLst/>
              <a:gdLst/>
              <a:ahLst/>
              <a:cxnLst/>
              <a:rect l="l" t="t" r="r" b="b"/>
              <a:pathLst>
                <a:path w="24384000" h="127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FE6E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57250" y="9934575"/>
            <a:ext cx="133350" cy="133350"/>
            <a:chOff x="0" y="0"/>
            <a:chExt cx="177800" cy="1778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39700" y="0"/>
                  </a:lnTo>
                  <a:cubicBezTo>
                    <a:pt x="160782" y="0"/>
                    <a:pt x="177800" y="17018"/>
                    <a:pt x="177800" y="38100"/>
                  </a:cubicBezTo>
                  <a:lnTo>
                    <a:pt x="177800" y="139700"/>
                  </a:lnTo>
                  <a:cubicBezTo>
                    <a:pt x="177800" y="160782"/>
                    <a:pt x="160782" y="177800"/>
                    <a:pt x="139700" y="177800"/>
                  </a:cubicBezTo>
                  <a:lnTo>
                    <a:pt x="38100" y="177800"/>
                  </a:lnTo>
                  <a:cubicBezTo>
                    <a:pt x="17018" y="177800"/>
                    <a:pt x="0" y="160782"/>
                    <a:pt x="0" y="139700"/>
                  </a:cubicBezTo>
                  <a:close/>
                </a:path>
              </a:pathLst>
            </a:custGeom>
            <a:solidFill>
              <a:srgbClr val="F2B4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111253" y="9869491"/>
            <a:ext cx="3532287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3.2.3. Các loại Widget trong Flutter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5475991" y="9869491"/>
            <a:ext cx="1804690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A4C58"/>
                </a:solidFill>
                <a:latin typeface="Arial"/>
                <a:ea typeface="Arial"/>
                <a:cs typeface="Arial"/>
                <a:sym typeface="Arial"/>
              </a:rPr>
              <a:t>https://huit.edu.vn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A6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783299-E38A-CA7A-DB6A-491AF59F0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858C2DA-0AEC-C25F-68B4-E545685DC4DA}"/>
              </a:ext>
            </a:extLst>
          </p:cNvPr>
          <p:cNvGrpSpPr/>
          <p:nvPr/>
        </p:nvGrpSpPr>
        <p:grpSpPr>
          <a:xfrm>
            <a:off x="857250" y="571500"/>
            <a:ext cx="571500" cy="571500"/>
            <a:chOff x="0" y="0"/>
            <a:chExt cx="762000" cy="762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F55D6F7-C661-7659-73DD-32DA10269E32}"/>
                </a:ext>
              </a:extLst>
            </p:cNvPr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60400" y="0"/>
                  </a:lnTo>
                  <a:cubicBezTo>
                    <a:pt x="716534" y="0"/>
                    <a:pt x="762000" y="45466"/>
                    <a:pt x="762000" y="101600"/>
                  </a:cubicBezTo>
                  <a:lnTo>
                    <a:pt x="762000" y="660400"/>
                  </a:lnTo>
                  <a:cubicBezTo>
                    <a:pt x="762000" y="716534"/>
                    <a:pt x="716534" y="762000"/>
                    <a:pt x="660400" y="762000"/>
                  </a:cubicBezTo>
                  <a:lnTo>
                    <a:pt x="101600" y="762000"/>
                  </a:lnTo>
                  <a:cubicBezTo>
                    <a:pt x="45466" y="762000"/>
                    <a:pt x="0" y="716534"/>
                    <a:pt x="0" y="6604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7CFE93EF-AB7C-CCB5-549B-55C831DA52A8}"/>
              </a:ext>
            </a:extLst>
          </p:cNvPr>
          <p:cNvGrpSpPr/>
          <p:nvPr/>
        </p:nvGrpSpPr>
        <p:grpSpPr>
          <a:xfrm>
            <a:off x="857250" y="571500"/>
            <a:ext cx="571500" cy="571500"/>
            <a:chOff x="0" y="0"/>
            <a:chExt cx="762000" cy="762000"/>
          </a:xfrm>
        </p:grpSpPr>
        <p:sp>
          <p:nvSpPr>
            <p:cNvPr id="5" name="Freeform 5" descr="preencoded.png">
              <a:extLst>
                <a:ext uri="{FF2B5EF4-FFF2-40B4-BE49-F238E27FC236}">
                  <a16:creationId xmlns:a16="http://schemas.microsoft.com/office/drawing/2014/main" id="{7E9F4585-6A84-9DFE-92FB-81B82CEE1FE4}"/>
                </a:ext>
              </a:extLst>
            </p:cNvPr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6DDDA851-E363-0E7B-35AB-AE38C8F1B8FA}"/>
              </a:ext>
            </a:extLst>
          </p:cNvPr>
          <p:cNvSpPr txBox="1"/>
          <p:nvPr/>
        </p:nvSpPr>
        <p:spPr>
          <a:xfrm>
            <a:off x="1606553" y="725491"/>
            <a:ext cx="5627351" cy="282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89">
                <a:solidFill>
                  <a:srgbClr val="CFE0F2"/>
                </a:solidFill>
                <a:latin typeface="Arial"/>
                <a:ea typeface="Arial"/>
                <a:cs typeface="Arial"/>
                <a:sym typeface="Arial"/>
              </a:rPr>
              <a:t>TRƯỜNG ĐẠI HỌC CÔNG THƯƠNG TP.HCM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29B59E3-B9A3-85F6-7883-D409E433601C}"/>
              </a:ext>
            </a:extLst>
          </p:cNvPr>
          <p:cNvSpPr txBox="1"/>
          <p:nvPr/>
        </p:nvSpPr>
        <p:spPr>
          <a:xfrm>
            <a:off x="1295400" y="4320262"/>
            <a:ext cx="14947897" cy="1646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03"/>
              </a:lnSpc>
            </a:pPr>
            <a:r>
              <a:rPr lang="vi-VN" sz="7200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Trân Thành Cảm Ơn Cô và Các Bạn Đã Lắng Nghe</a:t>
            </a:r>
            <a:endParaRPr lang="en-US" sz="7200" b="1" dirty="0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443E18D-C878-A120-B07E-A2757E9D0FE6}"/>
              </a:ext>
            </a:extLst>
          </p:cNvPr>
          <p:cNvGrpSpPr/>
          <p:nvPr/>
        </p:nvGrpSpPr>
        <p:grpSpPr>
          <a:xfrm>
            <a:off x="0" y="10153650"/>
            <a:ext cx="18288000" cy="133350"/>
            <a:chOff x="0" y="0"/>
            <a:chExt cx="24384000" cy="1778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89B4E5D4-BC21-61CF-571D-57CEF8CDAB7C}"/>
                </a:ext>
              </a:extLst>
            </p:cNvPr>
            <p:cNvSpPr/>
            <p:nvPr/>
          </p:nvSpPr>
          <p:spPr>
            <a:xfrm>
              <a:off x="0" y="0"/>
              <a:ext cx="24384000" cy="177800"/>
            </a:xfrm>
            <a:custGeom>
              <a:avLst/>
              <a:gdLst/>
              <a:ahLst/>
              <a:cxnLst/>
              <a:rect l="l" t="t" r="r" b="b"/>
              <a:pathLst>
                <a:path w="24384000" h="177800">
                  <a:moveTo>
                    <a:pt x="0" y="0"/>
                  </a:moveTo>
                  <a:lnTo>
                    <a:pt x="24384000" y="0"/>
                  </a:lnTo>
                  <a:lnTo>
                    <a:pt x="24384000" y="177800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F2B400"/>
            </a:solidFill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44936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4487</Words>
  <Application>Microsoft Office PowerPoint</Application>
  <PresentationFormat>Tùy chỉnh</PresentationFormat>
  <Paragraphs>689</Paragraphs>
  <Slides>43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4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43</vt:i4>
      </vt:variant>
    </vt:vector>
  </HeadingPairs>
  <TitlesOfParts>
    <vt:vector size="48" baseType="lpstr">
      <vt:lpstr>Arial Bold</vt:lpstr>
      <vt:lpstr>Arial</vt:lpstr>
      <vt:lpstr>Courier New</vt:lpstr>
      <vt:lpstr>Calibri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3.2.3. Các loại Widget trong Flutter</dc:title>
  <dc:creator>Shou</dc:creator>
  <cp:lastModifiedBy>Nguyễn Lê Anh Khoa</cp:lastModifiedBy>
  <cp:revision>5</cp:revision>
  <dcterms:created xsi:type="dcterms:W3CDTF">2006-08-16T00:00:00Z</dcterms:created>
  <dcterms:modified xsi:type="dcterms:W3CDTF">2026-09-04T00:59:58Z</dcterms:modified>
  <dc:identifier>DAHUKLjIi98</dc:identifier>
</cp:coreProperties>
</file>